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1: Research question</a:t>
            </a:r>
          </a:p>
          <a:p>
            <a:r>
              <a:t>Time: 40 seconds</a:t>
            </a:r>
          </a:p>
          <a:p/>
          <a:p>
            <a:r>
              <a:t>Our project estimates whether a hotel booking will eventually cancel. We want a probability that a hotel could use when planning demand. The question is whether booking characteristics improve that probability beyond simply using the historical cancellation rate. This is a preliminary proposal. We have verified the data source and merged schema. We have not yet completed exploratory analysis or trained the models. The distinction matters because every model result discussed today is a planned evaluation, not an observed finding.</a:t>
            </a:r>
          </a:p>
          <a:p/>
          <a:p>
            <a:r>
              <a:t>Sources: Project design and planned analysis.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2: Motivation and prior work</a:t>
            </a:r>
          </a:p>
          <a:p>
            <a:r>
              <a:t>Time: 50 seconds</a:t>
            </a:r>
          </a:p>
          <a:p/>
          <a:p>
            <a:r>
              <a:t>A reservation is a commitment of inventory, but it does not guarantee arrival. If the customer cancels late, the hotel may have less time to sell the room again. We chose this problem because the business use and the prediction target are easy to explain. Earlier research by Antonio and colleagues studied this classification problem in four resort hotels. That supports the relevance of the problem. We will not reuse their accuracy as our expected performance, because our feature restrictions and evaluation periods differ. Our scope is probability estimation. Any revenue gain or effect of reconfirmation would need a separate evaluation.</a:t>
            </a:r>
          </a:p>
          <a:p/>
          <a:p>
            <a:r>
              <a:t>Sources: https://doi.org/10.18089/tms.2017.13203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3: Target, inputs, and loss</a:t>
            </a:r>
          </a:p>
          <a:p>
            <a:r>
              <a:t>Time: 55 seconds</a:t>
            </a:r>
          </a:p>
          <a:p/>
          <a:p>
            <a:r>
              <a:t>One row represents one booking. The target is the supplied is_canceled label. We will check its relationship with the final statuses, including no-shows, before making a narrower business interpretation. The output is a probability between zero and one. Log Loss scores that probability: a confident wrong prediction receives a strong penalty. For example, calling a cancellation almost impossible is more costly under this metric than assigning it a moderate probability. We use this because probabilities can support aggregate planning. Logistic regression trains with logistic loss. Random forest uses tree impurity criteria, but we will evaluate and select both models using held-out Log Loss.</a:t>
            </a:r>
          </a:p>
          <a:p/>
          <a:p>
            <a:r>
              <a:t>Sources: https://github.com/rfordatascience/tidytuesday/tree/main/data/2020/2020-02-11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4: Data structure and source</a:t>
            </a:r>
          </a:p>
          <a:p>
            <a:r>
              <a:t>Time: 60 seconds</a:t>
            </a:r>
          </a:p>
          <a:p/>
          <a:p>
            <a:r>
              <a:t>The source article describes two hotel datasets, each with 31 variables. It reports 40,060 resort bookings and 79,330 city bookings. The merged file adds a hotel column, giving 32 columns in total, including the target. We directly checked those dimensions in the public TidyTuesday copy. This distinction avoids calling the original data 32 variables or calling all columns predictors. The rows cover intended arrivals between July 2015 and August 2017. The file mixes counts, numeric values, categorical booking attributes, and calendar fields. Agency and company identifiers are category codes. These are two properties, so differences between them do not establish differences between every city and resort hotel.</a:t>
            </a:r>
          </a:p>
          <a:p/>
          <a:p>
            <a:r>
              <a:t>Sources: https://doi.org/10.1016/j.dib.2018.11.126</a:t>
            </a:r>
          </a:p>
          <a:p>
            <a:r>
              <a:t>https://github.com/rfordatascience/tidytuesday/tree/main/data/2020/2020-02-11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5: Feature availability and leakage</a:t>
            </a:r>
          </a:p>
          <a:p>
            <a:r>
              <a:t>Time: 70 seconds</a:t>
            </a:r>
          </a:p>
          <a:p/>
          <a:p>
            <a:r>
              <a:t>The hardest issue is timing. The original article says that, when available, feature values came from change logs relative to the day before arrival. This does not establish what the hotel knew when the reservation first entered the system. We exclude final reservation status and its date because they reveal or follow the outcome. We also exclude room assignment, accumulated booking changes, and the other listed fields from the default early model. ADR is not guaranteed to be an initial quoted price, and recorded deposits or requests can reflect later events. The provisional core is more plausible at booking creation, but even planned arrival or stay details can change. We will audit that assumption rather than claim it is proven. History features require earlier outcomes that were actually known. Without initial snapshots, any experiment is an offline approximation.</a:t>
            </a:r>
          </a:p>
          <a:p/>
          <a:p>
            <a:r>
              <a:t>Sources: https://doi.org/10.1016/j.dib.2018.11.126</a:t>
            </a:r>
          </a:p>
          <a:p>
            <a:r>
              <a:t>https://github.com/rfordatascience/tidytuesday/tree/main/data/2020/2020-02-11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6: Data quality and planned EDA</a:t>
            </a:r>
          </a:p>
          <a:p>
            <a:r>
              <a:t>Time: 60 seconds</a:t>
            </a:r>
          </a:p>
          <a:p/>
          <a:p>
            <a:r>
              <a:t>Our completed check covers dimensions and provenance only. Next, we will inspect null encodings, column types, and plausibility. Missing agency or company information may indicate that no intermediary was involved, rather than an unknown number. We will treat identifiers as categories. Exact identical rows deserve inspection, but anonymous customers can place bookings with identical attributes, so automatic deduplication could remove real observations. The planned exploratory analysis will describe cancellation frequency by property and period and show lead-time and category distributions. We will learn imputation, encoding, and any other fitted preprocessing from training data only. The test data will not guide cleaning-rule selection or feature selection.</a:t>
            </a:r>
          </a:p>
          <a:p/>
          <a:p>
            <a:r>
              <a:t>Sources: https://github.com/rfordatascience/tidytuesday/tree/main/data/2020/2020-02-11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7: Baseline and model comparison</a:t>
            </a:r>
          </a:p>
          <a:p>
            <a:r>
              <a:t>Time: 65 seconds</a:t>
            </a:r>
          </a:p>
          <a:p/>
          <a:p>
            <a:r>
              <a:t>The primary baseline predicts the training cancellation rate for every booking. It is the best constant probability under training Log Loss. It must be estimated inside each training fold and frozen for the corresponding validation data. An always-not-canceled rule could look good on accuracy, but a literal probability of zero produces an extreme penalty when a booking cancels. Logistic regression provides a simple starting model whose coefficients describe additive effects on log-odds. We will standardize numeric fields and one-hot encode categories. Random forest can capture nonlinear relationships and interactions, with controlled depth and minimum leaf size. Both use the same feature policy and subsets. We initially keep the observed class distribution, because reweighting or oversampling can distort probabilities.</a:t>
            </a:r>
          </a:p>
          <a:p/>
          <a:p>
            <a:r>
              <a:t>Sources: Project design and planned analysis.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8: Temporal split and its limits</a:t>
            </a:r>
          </a:p>
          <a:p>
            <a:r>
              <a:t>Time: 70 seconds</a:t>
            </a:r>
          </a:p>
          <a:p/>
          <a:p>
            <a:r>
              <a:t>We propose training on arrivals through December 2016, validating on January through March 2017, and reserving April through August 2017 as the final test. Within training, expanding-window checks will assess stability. The final test is opened only after choices are fixed. This is more informative about later arrival cohorts than a random split, but it has important limits. A reservation for a late arrival may have been created long before an earlier arrival. We can inspect an approximate entry date by subtracting lead time, but this cannot recover initial feature values. Training outcomes may also have been unknown at a historical cutoff. Final status dates can support an audit without entering predictors. A genuine deployment test needs trustworthy creation snapshots and mature labels. We will also show a random-split diagnostic and acknowledge that the test only covers part of a year.</a:t>
            </a:r>
          </a:p>
          <a:p/>
          <a:p>
            <a:r>
              <a:t>Sources: Project design and planned analysis.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9: Metrics and decision criteria</a:t>
            </a:r>
          </a:p>
          <a:p>
            <a:r>
              <a:t>Time: 65 seconds</a:t>
            </a:r>
          </a:p>
          <a:p/>
          <a:p>
            <a:r>
              <a:t>Our primary comparison is whether each model has lower final-test Log Loss than the constant baseline. A model that ranks bookings well can still assign poor probabilities, so we will also report Brier score and a reliability plot. ROC-AUC describes ranking. Precision, recall, F1, and a confusion matrix describe the consequences of a threshold that we choose on validation data, never on test data. We will look separately at both properties and report sample sizes for period and lead-time groups. Paired bootstrap comparisons grouped by arrival week will help quantify uncertainty, although anonymous linked bookings may still violate independence assumptions. If calibration is needed, it will use training-period out-of-fold predictions and a validation-selected method. Weak or unstable improvement would also be a useful result.</a:t>
            </a:r>
          </a:p>
          <a:p/>
          <a:p>
            <a:r>
              <a:t>Sources: Project design and planned analysis.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10: Impact and next steps</a:t>
            </a:r>
          </a:p>
          <a:p>
            <a:r>
              <a:t>Time: 65 seconds</a:t>
            </a:r>
          </a:p>
          <a:p/>
          <a:p>
            <a:r>
              <a:t>For a collection of bookings, the sum of one minus each cancellation probability gives the expected number retained, if the probabilities are accurate. Turning that number into room occupancy requires room quantities and stay dates. We cannot infer a revenue gain from predictive performance alone. We also cannot infer that contacting a customer prevents cancellation. The next work is to complete the feature-timing and quality audit, run exploratory analysis, and then fit and compare the baseline, logistic regression, and random forest. The final presentation will include reproducible code and limitations. The central unresolved question is whether the public release can support the intended initial-booking setting. If it cannot, we will state that clearly and qualify what the offline experiment demonstrates.</a:t>
            </a:r>
          </a:p>
          <a:p/>
          <a:p>
            <a:r>
              <a:t>Sources: Project design and planned analysis.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Slide 11: References</a:t>
            </a:r>
          </a:p>
          <a:p>
            <a:r>
              <a:t>Time: 0 seconds</a:t>
            </a:r>
          </a:p>
          <a:p/>
          <a:p>
            <a:r>
              <a:t>Reference slide for questions. The original article supplies provenance and extraction timing. The 2017 study supplies related work. The TidyTuesday release supplies the reproducible merged file and data dictionary.</a:t>
            </a:r>
          </a:p>
          <a:p/>
          <a:p>
            <a:r>
              <a:t>Sources: https://doi.org/10.1016/j.dib.2018.11.126</a:t>
            </a:r>
          </a:p>
          <a:p>
            <a:r>
              <a:t>https://doi.org/10.18089/tms.2017.13203</a:t>
            </a:r>
          </a:p>
          <a:p>
            <a:r>
              <a:t>https://github.com/rfordatascience/tidytuesday/tree/main/data/2020/2020-02-11</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A46"/>
        </a:solidFill>
        <a:effectLst/>
      </p:bgPr>
    </p:bg>
    <p:spTree>
      <p:nvGrpSpPr>
        <p:cNvPr id="1" name=""/>
        <p:cNvGrpSpPr/>
        <p:nvPr/>
      </p:nvGrpSpPr>
      <p:grpSpPr/>
      <p:sp>
        <p:nvSpPr>
          <p:cNvPr id="5" name="Rectangle 4"/>
          <p:cNvSpPr>
            <a:spLocks noGrp="1"/>
          </p:cNvSpPr>
          <p:nvPr/>
        </p:nvSpPr>
        <p:spPr>
          <a:xfrm>
            <a:off x="685800" y="1066800"/>
            <a:ext cx="10668000" cy="1866900"/>
          </a:xfrm>
          <a:prstGeom prst="rect">
            <a:avLst/>
          </a:prstGeom>
          <a:noFill/>
          <a:ln w="0">
            <a:noFill/>
          </a:ln>
        </p:spPr>
        <p:txBody>
          <a:bodyPr wrap="square" lIns="0" tIns="0" rIns="0" bIns="0" anchor="t">
            <a:noAutofit/>
          </a:bodyPr>
          <a:lstStyle>
            <a:defPPr>
              <a:defRPr sz="4800" b="1">
                <a:solidFill>
                  <a:srgbClr val="FFFFFF"/>
                </a:solidFill>
                <a:latin typeface="Arial" panose="020B0604020202090204"/>
                <a:ea typeface="Arial" panose="020B0604020202090204"/>
                <a:cs typeface="Arial" panose="020B0604020202090204"/>
              </a:defRPr>
            </a:defPPr>
          </a:lstStyle>
          <a:p>
            <a:pPr>
              <a:defRPr sz="4800" b="1">
                <a:solidFill>
                  <a:srgbClr val="FFFFFF"/>
                </a:solidFill>
                <a:latin typeface="Arial" panose="020B0604020202090204"/>
                <a:ea typeface="Arial" panose="020B0604020202090204"/>
                <a:cs typeface="Arial" panose="020B0604020202090204"/>
              </a:defRPr>
            </a:pPr>
            <a:r>
              <a:rPr sz="4800" b="1">
                <a:solidFill>
                  <a:srgbClr val="FFFFFF"/>
                </a:solidFill>
                <a:latin typeface="Arial" panose="020B0604020202090204"/>
                <a:ea typeface="Arial" panose="020B0604020202090204"/>
                <a:cs typeface="Arial" panose="020B0604020202090204"/>
              </a:rPr>
              <a:t>Hotel Booking</a:t>
            </a:r>
            <a:endParaRPr sz="4800" b="1">
              <a:solidFill>
                <a:srgbClr val="FFFFFF"/>
              </a:solidFill>
              <a:latin typeface="Arial" panose="020B0604020202090204"/>
              <a:ea typeface="Arial" panose="020B0604020202090204"/>
              <a:cs typeface="Arial" panose="020B0604020202090204"/>
            </a:endParaRPr>
          </a:p>
          <a:p>
            <a:pPr>
              <a:defRPr sz="4800" b="1">
                <a:solidFill>
                  <a:srgbClr val="FFFFFF"/>
                </a:solidFill>
                <a:latin typeface="Arial" panose="020B0604020202090204"/>
                <a:ea typeface="Arial" panose="020B0604020202090204"/>
                <a:cs typeface="Arial" panose="020B0604020202090204"/>
              </a:defRPr>
            </a:pPr>
            <a:r>
              <a:rPr sz="4800" b="1">
                <a:solidFill>
                  <a:srgbClr val="FFFFFF"/>
                </a:solidFill>
                <a:latin typeface="Arial" panose="020B0604020202090204"/>
                <a:ea typeface="Arial" panose="020B0604020202090204"/>
                <a:cs typeface="Arial" panose="020B0604020202090204"/>
              </a:rPr>
              <a:t>Cancellation Prediction</a:t>
            </a:r>
            <a:endParaRPr sz="4800" b="1">
              <a:solidFill>
                <a:srgbClr val="FFFFFF"/>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723900" y="3324225"/>
            <a:ext cx="10382250" cy="628650"/>
          </a:xfrm>
          <a:prstGeom prst="rect">
            <a:avLst/>
          </a:prstGeom>
          <a:noFill/>
          <a:ln w="0">
            <a:noFill/>
          </a:ln>
        </p:spPr>
        <p:txBody>
          <a:bodyPr wrap="square" lIns="0" tIns="0" rIns="0" bIns="0" anchor="t">
            <a:noAutofit/>
          </a:bodyPr>
          <a:lstStyle>
            <a:defPPr>
              <a:defRPr sz="2850" b="0">
                <a:solidFill>
                  <a:srgbClr val="E4EDF6"/>
                </a:solidFill>
                <a:latin typeface="Arial" panose="020B0604020202090204"/>
                <a:ea typeface="Arial" panose="020B0604020202090204"/>
                <a:cs typeface="Arial" panose="020B0604020202090204"/>
              </a:defRPr>
            </a:defPPr>
          </a:lstStyle>
          <a:p>
            <a:pPr>
              <a:defRPr sz="2850" b="0">
                <a:solidFill>
                  <a:srgbClr val="E4EDF6"/>
                </a:solidFill>
                <a:latin typeface="Arial" panose="020B0604020202090204"/>
                <a:ea typeface="Arial" panose="020B0604020202090204"/>
                <a:cs typeface="Arial" panose="020B0604020202090204"/>
              </a:defRPr>
            </a:pPr>
            <a:r>
              <a:rPr sz="2850" b="0">
                <a:solidFill>
                  <a:srgbClr val="E4EDF6"/>
                </a:solidFill>
                <a:latin typeface="Arial" panose="020B0604020202090204"/>
                <a:ea typeface="Arial" panose="020B0604020202090204"/>
                <a:cs typeface="Arial" panose="020B0604020202090204"/>
              </a:rPr>
              <a:t>An Early Risk Assessment Approach</a:t>
            </a:r>
            <a:endParaRPr sz="2850" b="0">
              <a:solidFill>
                <a:srgbClr val="E4EDF6"/>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723900" y="4362450"/>
            <a:ext cx="10287000" cy="914400"/>
          </a:xfrm>
          <a:prstGeom prst="rect">
            <a:avLst/>
          </a:prstGeom>
          <a:noFill/>
          <a:ln w="0">
            <a:noFill/>
          </a:ln>
        </p:spPr>
        <p:txBody>
          <a:bodyPr wrap="square" lIns="0" tIns="0" rIns="0" bIns="0" anchor="t">
            <a:noAutofit/>
          </a:bodyPr>
          <a:lstStyle>
            <a:defPPr>
              <a:defRPr sz="2175" b="0">
                <a:solidFill>
                  <a:srgbClr val="FFFFFF"/>
                </a:solidFill>
                <a:latin typeface="Arial" panose="020B0604020202090204"/>
                <a:ea typeface="Arial" panose="020B0604020202090204"/>
                <a:cs typeface="Arial" panose="020B0604020202090204"/>
              </a:defRPr>
            </a:defPPr>
          </a:lstStyle>
          <a:p>
            <a:pPr>
              <a:defRPr sz="2175" b="0">
                <a:solidFill>
                  <a:srgbClr val="FFFFFF"/>
                </a:solidFill>
                <a:latin typeface="Arial" panose="020B0604020202090204"/>
                <a:ea typeface="Arial" panose="020B0604020202090204"/>
                <a:cs typeface="Arial" panose="020B0604020202090204"/>
              </a:defRPr>
            </a:pPr>
            <a:r>
              <a:rPr sz="2175" b="0">
                <a:solidFill>
                  <a:srgbClr val="FFFFFF"/>
                </a:solidFill>
                <a:latin typeface="Arial" panose="020B0604020202090204"/>
                <a:ea typeface="Arial" panose="020B0604020202090204"/>
                <a:cs typeface="Arial" panose="020B0604020202090204"/>
              </a:rPr>
              <a:t>Can booking information improve cancellation probabilities</a:t>
            </a:r>
            <a:endParaRPr sz="2175" b="0">
              <a:solidFill>
                <a:srgbClr val="FFFFFF"/>
              </a:solidFill>
              <a:latin typeface="Arial" panose="020B0604020202090204"/>
              <a:ea typeface="Arial" panose="020B0604020202090204"/>
              <a:cs typeface="Arial" panose="020B0604020202090204"/>
            </a:endParaRPr>
          </a:p>
          <a:p>
            <a:pPr>
              <a:defRPr sz="2175" b="0">
                <a:solidFill>
                  <a:srgbClr val="FFFFFF"/>
                </a:solidFill>
                <a:latin typeface="Arial" panose="020B0604020202090204"/>
                <a:ea typeface="Arial" panose="020B0604020202090204"/>
                <a:cs typeface="Arial" panose="020B0604020202090204"/>
              </a:defRPr>
            </a:pPr>
            <a:r>
              <a:rPr sz="2175" b="0">
                <a:solidFill>
                  <a:srgbClr val="FFFFFF"/>
                </a:solidFill>
                <a:latin typeface="Arial" panose="020B0604020202090204"/>
                <a:ea typeface="Arial" panose="020B0604020202090204"/>
                <a:cs typeface="Arial" panose="020B0604020202090204"/>
              </a:rPr>
              <a:t>beyond the historical cancellation rate?</a:t>
            </a:r>
            <a:endParaRPr sz="2175" b="0">
              <a:solidFill>
                <a:srgbClr val="FFFFFF"/>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723900" y="5505450"/>
            <a:ext cx="10287000" cy="990600"/>
          </a:xfrm>
          <a:prstGeom prst="rect">
            <a:avLst/>
          </a:prstGeom>
          <a:noFill/>
          <a:ln w="0">
            <a:noFill/>
          </a:ln>
        </p:spPr>
        <p:txBody>
          <a:bodyPr wrap="square" lIns="0" tIns="0" rIns="0" bIns="0" anchor="t">
            <a:noAutofit/>
          </a:bodyPr>
          <a:lstStyle>
            <a:defPPr>
              <a:defRPr sz="1500" b="0">
                <a:solidFill>
                  <a:srgbClr val="C9D5E4"/>
                </a:solidFill>
                <a:latin typeface="Arial" panose="020B0604020202090204"/>
                <a:ea typeface="Arial" panose="020B0604020202090204"/>
                <a:cs typeface="Arial" panose="020B0604020202090204"/>
              </a:defRPr>
            </a:defPPr>
          </a:lstStyle>
          <a:p>
            <a:pPr>
              <a:defRPr sz="1500" b="0">
                <a:solidFill>
                  <a:srgbClr val="C9D5E4"/>
                </a:solidFill>
                <a:latin typeface="Arial" panose="020B0604020202090204"/>
                <a:ea typeface="Arial" panose="020B0604020202090204"/>
                <a:cs typeface="Arial" panose="020B0604020202090204"/>
              </a:defRPr>
            </a:pPr>
            <a:r>
              <a:rPr sz="1500" b="0">
                <a:solidFill>
                  <a:srgbClr val="C9D5E4"/>
                </a:solidFill>
                <a:latin typeface="Arial" panose="020B0604020202090204"/>
                <a:ea typeface="Arial" panose="020B0604020202090204"/>
                <a:cs typeface="Arial" panose="020B0604020202090204"/>
              </a:rPr>
              <a:t>IS507  •  Group 16</a:t>
            </a:r>
            <a:endParaRPr sz="1500" b="0">
              <a:solidFill>
                <a:srgbClr val="C9D5E4"/>
              </a:solidFill>
              <a:latin typeface="Arial" panose="020B0604020202090204"/>
              <a:ea typeface="Arial" panose="020B0604020202090204"/>
              <a:cs typeface="Arial" panose="020B0604020202090204"/>
            </a:endParaRPr>
          </a:p>
          <a:p>
            <a:pPr>
              <a:defRPr sz="1500" b="0">
                <a:solidFill>
                  <a:srgbClr val="C9D5E4"/>
                </a:solidFill>
                <a:latin typeface="Arial" panose="020B0604020202090204"/>
                <a:ea typeface="Arial" panose="020B0604020202090204"/>
                <a:cs typeface="Arial" panose="020B0604020202090204"/>
              </a:defRPr>
            </a:pPr>
            <a:r>
              <a:rPr sz="1500" b="0">
                <a:solidFill>
                  <a:srgbClr val="C9D5E4"/>
                </a:solidFill>
                <a:latin typeface="Arial" panose="020B0604020202090204"/>
                <a:ea typeface="Arial" panose="020B0604020202090204"/>
                <a:cs typeface="Arial" panose="020B0604020202090204"/>
              </a:rPr>
              <a:t>Zhe Wang and Zhengxuan Du</a:t>
            </a:r>
            <a:endParaRPr sz="1500" b="0">
              <a:solidFill>
                <a:srgbClr val="C9D5E4"/>
              </a:solidFill>
              <a:latin typeface="Arial" panose="020B0604020202090204"/>
              <a:ea typeface="Arial" panose="020B0604020202090204"/>
              <a:cs typeface="Arial" panose="020B0604020202090204"/>
            </a:endParaRPr>
          </a:p>
          <a:p>
            <a:pPr>
              <a:defRPr sz="1500" b="0">
                <a:solidFill>
                  <a:srgbClr val="C9D5E4"/>
                </a:solidFill>
                <a:latin typeface="Arial" panose="020B0604020202090204"/>
                <a:ea typeface="Arial" panose="020B0604020202090204"/>
                <a:cs typeface="Arial" panose="020B0604020202090204"/>
              </a:defRPr>
            </a:pPr>
            <a:r>
              <a:rPr sz="1500" b="0">
                <a:solidFill>
                  <a:srgbClr val="C9D5E4"/>
                </a:solidFill>
                <a:latin typeface="Arial" panose="020B0604020202090204"/>
                <a:ea typeface="Arial" panose="020B0604020202090204"/>
                <a:cs typeface="Arial" panose="020B0604020202090204"/>
              </a:rPr>
              <a:t>Midterm proposal  •  October 12, 2026</a:t>
            </a:r>
            <a:endParaRPr sz="1500" b="0">
              <a:solidFill>
                <a:srgbClr val="C9D5E4"/>
              </a:solidFill>
              <a:latin typeface="Arial" panose="020B0604020202090204"/>
              <a:ea typeface="Arial" panose="020B0604020202090204"/>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10" name="Rectangle 9"/>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Why cancellation risk matters</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02</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60020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Business problem</a:t>
            </a:r>
            <a:endParaRPr sz="2025"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3829050" y="160020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A reserved room may return to inventory too late to resell.</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Cancellations make expected demand uncertain.</a:t>
            </a:r>
            <a:endParaRPr sz="2025"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300990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Potential use</a:t>
            </a:r>
            <a:endParaRPr sz="2025" b="1">
              <a:solidFill>
                <a:srgbClr val="255F8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3829050" y="300990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Estimate retained bookings and prioritize voluntary</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reconfirmation when staff time is limited.</a:t>
            </a:r>
            <a:endParaRPr sz="2025" b="0">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441960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Prior research</a:t>
            </a:r>
            <a:endParaRPr sz="2025" b="1">
              <a:solidFill>
                <a:srgbClr val="255F86"/>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3829050" y="441960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Antonio et al. (2017) studied cancellation classification</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using four resort hotels and discussed demand management.</a:t>
            </a:r>
            <a:endParaRPr sz="2025" b="0">
              <a:solidFill>
                <a:srgbClr val="152A46"/>
              </a:solidFill>
              <a:latin typeface="Arial" panose="020B0604020202090204"/>
              <a:ea typeface="Arial" panose="020B0604020202090204"/>
              <a:cs typeface="Arial" panose="020B0604020202090204"/>
            </a:endParaRPr>
          </a:p>
        </p:txBody>
      </p:sp>
      <p:sp>
        <p:nvSpPr>
          <p:cNvPr id="9" name="Rectangle 8"/>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[2] Antonio, de Almeida, and Nunes (2017). Their reported scores are not our benchmark.</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11" name="Rectangle 10"/>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The prediction task</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03</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6210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Y  •  Outcome</a:t>
            </a:r>
            <a:endParaRPr sz="2025"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3829050" y="156210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is_canceled: 1 for cancellation, 0 otherwise.</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Check how the label treats No-Show records.</a:t>
            </a:r>
            <a:endParaRPr sz="2025"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269557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X  •  Inputs</a:t>
            </a:r>
            <a:endParaRPr sz="2025" b="1">
              <a:solidFill>
                <a:srgbClr val="255F8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3829050" y="269557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Restricted booking characteristics, subject to a timing audit.</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Intended prediction time: initial booking creation.</a:t>
            </a:r>
            <a:endParaRPr sz="2025" b="0">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382905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p(X)  •  Output</a:t>
            </a:r>
            <a:endParaRPr sz="2025" b="1">
              <a:solidFill>
                <a:srgbClr val="255F86"/>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3829050" y="382905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Estimated probability of eventual cancellation.</a:t>
            </a:r>
            <a:endParaRPr sz="2025" b="0">
              <a:solidFill>
                <a:srgbClr val="152A46"/>
              </a:solidFill>
              <a:latin typeface="Arial" panose="020B0604020202090204"/>
              <a:ea typeface="Arial" panose="020B0604020202090204"/>
              <a:cs typeface="Arial" panose="020B0604020202090204"/>
            </a:endParaRPr>
          </a:p>
        </p:txBody>
      </p:sp>
      <p:sp>
        <p:nvSpPr>
          <p:cNvPr id="9" name="Rectangle 8"/>
          <p:cNvSpPr>
            <a:spLocks noGrp="1"/>
          </p:cNvSpPr>
          <p:nvPr/>
        </p:nvSpPr>
        <p:spPr>
          <a:xfrm>
            <a:off x="685800" y="4895850"/>
            <a:ext cx="10820400" cy="542925"/>
          </a:xfrm>
          <a:prstGeom prst="rect">
            <a:avLst/>
          </a:prstGeom>
          <a:noFill/>
          <a:ln w="0">
            <a:noFill/>
          </a:ln>
        </p:spPr>
        <p:txBody>
          <a:bodyPr wrap="square" lIns="0" tIns="0" rIns="0" bIns="0" anchor="t">
            <a:noAutofit/>
          </a:bodyPr>
          <a:lstStyle>
            <a:defPPr>
              <a:defRPr sz="2325" b="1">
                <a:solidFill>
                  <a:srgbClr val="255F86"/>
                </a:solidFill>
                <a:latin typeface="Arial" panose="020B0604020202090204"/>
                <a:ea typeface="Arial" panose="020B0604020202090204"/>
                <a:cs typeface="Arial" panose="020B0604020202090204"/>
              </a:defRPr>
            </a:defPPr>
          </a:lstStyle>
          <a:p>
            <a:pPr>
              <a:defRPr sz="2325" b="1">
                <a:solidFill>
                  <a:srgbClr val="255F86"/>
                </a:solidFill>
                <a:latin typeface="Arial" panose="020B0604020202090204"/>
                <a:ea typeface="Arial" panose="020B0604020202090204"/>
                <a:cs typeface="Arial" panose="020B0604020202090204"/>
              </a:defRPr>
            </a:pPr>
            <a:r>
              <a:rPr sz="2325" b="1">
                <a:solidFill>
                  <a:srgbClr val="255F86"/>
                </a:solidFill>
                <a:latin typeface="Arial" panose="020B0604020202090204"/>
                <a:ea typeface="Arial" panose="020B0604020202090204"/>
                <a:cs typeface="Arial" panose="020B0604020202090204"/>
              </a:rPr>
              <a:t>Log Loss = −mean [y ln(p) + (1 − y) ln(1 − p)]</a:t>
            </a:r>
            <a:endParaRPr sz="2325" b="1">
              <a:solidFill>
                <a:srgbClr val="255F86"/>
              </a:solidFill>
              <a:latin typeface="Arial" panose="020B0604020202090204"/>
              <a:ea typeface="Arial" panose="020B0604020202090204"/>
              <a:cs typeface="Arial" panose="020B0604020202090204"/>
            </a:endParaRPr>
          </a:p>
        </p:txBody>
      </p:sp>
      <p:sp>
        <p:nvSpPr>
          <p:cNvPr id="10" name="Rectangle 9"/>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Lower Log Loss is better. It penalizes confident mistakes and evaluates probability quality.</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8" name="Rectangle 7"/>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The public data and the merged format</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04</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04950"/>
            <a:ext cx="4857750" cy="952500"/>
          </a:xfrm>
          <a:prstGeom prst="rect">
            <a:avLst/>
          </a:prstGeom>
          <a:noFill/>
          <a:ln w="0">
            <a:noFill/>
          </a:ln>
        </p:spPr>
        <p:txBody>
          <a:bodyPr wrap="square" lIns="0" tIns="0" rIns="0" bIns="0" anchor="t">
            <a:noAutofit/>
          </a:bodyPr>
          <a:lstStyle>
            <a:defPPr>
              <a:defRPr sz="5775" b="1">
                <a:solidFill>
                  <a:srgbClr val="255F86"/>
                </a:solidFill>
                <a:latin typeface="Arial" panose="020B0604020202090204"/>
                <a:ea typeface="Arial" panose="020B0604020202090204"/>
                <a:cs typeface="Arial" panose="020B0604020202090204"/>
              </a:defRPr>
            </a:defPPr>
          </a:lstStyle>
          <a:p>
            <a:pPr>
              <a:defRPr sz="5775" b="1">
                <a:solidFill>
                  <a:srgbClr val="255F86"/>
                </a:solidFill>
                <a:latin typeface="Arial" panose="020B0604020202090204"/>
                <a:ea typeface="Arial" panose="020B0604020202090204"/>
                <a:cs typeface="Arial" panose="020B0604020202090204"/>
              </a:defRPr>
            </a:pPr>
            <a:r>
              <a:rPr sz="5775" b="1">
                <a:solidFill>
                  <a:srgbClr val="255F86"/>
                </a:solidFill>
                <a:latin typeface="Arial" panose="020B0604020202090204"/>
                <a:ea typeface="Arial" panose="020B0604020202090204"/>
                <a:cs typeface="Arial" panose="020B0604020202090204"/>
              </a:rPr>
              <a:t>119,390</a:t>
            </a:r>
            <a:endParaRPr sz="5775"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723900" y="2514600"/>
            <a:ext cx="10096500" cy="457200"/>
          </a:xfrm>
          <a:prstGeom prst="rect">
            <a:avLst/>
          </a:prstGeom>
          <a:noFill/>
          <a:ln w="0">
            <a:noFill/>
          </a:ln>
        </p:spPr>
        <p:txBody>
          <a:bodyPr wrap="square" lIns="0" tIns="0" rIns="0" bIns="0" anchor="t">
            <a:noAutofit/>
          </a:bodyPr>
          <a:lstStyle>
            <a:defPPr>
              <a:defRPr sz="2100" b="0">
                <a:solidFill>
                  <a:srgbClr val="46576D"/>
                </a:solidFill>
                <a:latin typeface="Arial" panose="020B0604020202090204"/>
                <a:ea typeface="Arial" panose="020B0604020202090204"/>
                <a:cs typeface="Arial" panose="020B0604020202090204"/>
              </a:defRPr>
            </a:defPPr>
          </a:lstStyle>
          <a:p>
            <a:pPr>
              <a:defRPr sz="2100" b="0">
                <a:solidFill>
                  <a:srgbClr val="46576D"/>
                </a:solidFill>
                <a:latin typeface="Arial" panose="020B0604020202090204"/>
                <a:ea typeface="Arial" panose="020B0604020202090204"/>
                <a:cs typeface="Arial" panose="020B0604020202090204"/>
              </a:defRPr>
            </a:pPr>
            <a:r>
              <a:rPr sz="2100" b="0">
                <a:solidFill>
                  <a:srgbClr val="46576D"/>
                </a:solidFill>
                <a:latin typeface="Arial" panose="020B0604020202090204"/>
                <a:ea typeface="Arial" panose="020B0604020202090204"/>
                <a:cs typeface="Arial" panose="020B0604020202090204"/>
              </a:rPr>
              <a:t>booking rows in the verified merged file</a:t>
            </a:r>
            <a:endParaRPr sz="2100" b="0">
              <a:solidFill>
                <a:srgbClr val="46576D"/>
              </a:solidFill>
              <a:latin typeface="Arial" panose="020B0604020202090204"/>
              <a:ea typeface="Arial" panose="020B0604020202090204"/>
              <a:cs typeface="Arial" panose="020B0604020202090204"/>
            </a:endParaRPr>
          </a:p>
        </p:txBody>
      </p:sp>
      <p:graphicFrame>
        <p:nvGraphicFramePr>
          <p:cNvPr id="5" name="Table 4"/>
          <p:cNvGraphicFramePr/>
          <p:nvPr/>
        </p:nvGraphicFramePr>
        <p:xfrm>
          <a:off x="685800" y="3238500"/>
          <a:ext cx="10820400" cy="1819275"/>
        </p:xfrm>
        <a:graphic>
          <a:graphicData uri="http://schemas.openxmlformats.org/drawingml/2006/table">
            <a:tbl>
              <a:tblPr/>
              <a:tblGrid>
                <a:gridCol w="5905500"/>
                <a:gridCol w="2381250"/>
                <a:gridCol w="2533650"/>
              </a:tblGrid>
              <a:tr h="606425">
                <a:tc>
                  <a:txBody>
                    <a:bodyPr/>
                    <a:lstStyle/>
                    <a:p>
                      <a:r>
                        <a:rPr sz="1950" b="1">
                          <a:solidFill>
                            <a:srgbClr val="152A46"/>
                          </a:solidFill>
                          <a:latin typeface="Arial" panose="020B0604020202090204"/>
                          <a:ea typeface="Arial" panose="020B0604020202090204"/>
                          <a:cs typeface="Arial" panose="020B0604020202090204"/>
                        </a:rPr>
                        <a:t>Source property</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c>
                  <a:txBody>
                    <a:bodyPr/>
                    <a:lstStyle/>
                    <a:p>
                      <a:r>
                        <a:rPr sz="1950" b="1">
                          <a:solidFill>
                            <a:srgbClr val="152A46"/>
                          </a:solidFill>
                          <a:latin typeface="Arial" panose="020B0604020202090204"/>
                          <a:ea typeface="Arial" panose="020B0604020202090204"/>
                          <a:cs typeface="Arial" panose="020B0604020202090204"/>
                        </a:rPr>
                        <a:t>Rows</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c>
                  <a:txBody>
                    <a:bodyPr/>
                    <a:lstStyle/>
                    <a:p>
                      <a:r>
                        <a:rPr sz="1950" b="1">
                          <a:solidFill>
                            <a:srgbClr val="152A46"/>
                          </a:solidFill>
                          <a:latin typeface="Arial" panose="020B0604020202090204"/>
                          <a:ea typeface="Arial" panose="020B0604020202090204"/>
                          <a:cs typeface="Arial" panose="020B0604020202090204"/>
                        </a:rPr>
                        <a:t>Original variables</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r>
              <a:tr h="606425">
                <a:tc>
                  <a:txBody>
                    <a:bodyPr/>
                    <a:lstStyle/>
                    <a:p>
                      <a:r>
                        <a:rPr sz="1950" b="0">
                          <a:solidFill>
                            <a:srgbClr val="152A46"/>
                          </a:solidFill>
                          <a:latin typeface="Arial" panose="020B0604020202090204"/>
                          <a:ea typeface="Arial" panose="020B0604020202090204"/>
                          <a:cs typeface="Arial" panose="020B0604020202090204"/>
                        </a:rPr>
                        <a:t>Resort hotel</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40,060</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31</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r h="606425">
                <a:tc>
                  <a:txBody>
                    <a:bodyPr/>
                    <a:lstStyle/>
                    <a:p>
                      <a:r>
                        <a:rPr sz="1950" b="0">
                          <a:solidFill>
                            <a:srgbClr val="152A46"/>
                          </a:solidFill>
                          <a:latin typeface="Arial" panose="020B0604020202090204"/>
                          <a:ea typeface="Arial" panose="020B0604020202090204"/>
                          <a:cs typeface="Arial" panose="020B0604020202090204"/>
                        </a:rPr>
                        <a:t>City hotel</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79,330</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31</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bl>
          </a:graphicData>
        </a:graphic>
      </p:graphicFrame>
      <p:sp>
        <p:nvSpPr>
          <p:cNvPr id="6" name="Rectangle 5"/>
          <p:cNvSpPr>
            <a:spLocks noGrp="1"/>
          </p:cNvSpPr>
          <p:nvPr/>
        </p:nvSpPr>
        <p:spPr>
          <a:xfrm>
            <a:off x="723900" y="5257800"/>
            <a:ext cx="10572750" cy="447675"/>
          </a:xfrm>
          <a:prstGeom prst="rect">
            <a:avLst/>
          </a:prstGeom>
          <a:noFill/>
          <a:ln w="0">
            <a:noFill/>
          </a:ln>
        </p:spPr>
        <p:txBody>
          <a:bodyPr wrap="square" lIns="0" tIns="0" rIns="0" bIns="0" anchor="t">
            <a:noAutofit/>
          </a:bodyPr>
          <a:lstStyle>
            <a:defPPr>
              <a:defRPr sz="2175" b="1">
                <a:solidFill>
                  <a:srgbClr val="152A46"/>
                </a:solidFill>
                <a:latin typeface="Arial" panose="020B0604020202090204"/>
                <a:ea typeface="Arial" panose="020B0604020202090204"/>
                <a:cs typeface="Arial" panose="020B0604020202090204"/>
              </a:defRPr>
            </a:defPPr>
          </a:lstStyle>
          <a:p>
            <a:pPr>
              <a:defRPr sz="2175" b="1">
                <a:solidFill>
                  <a:srgbClr val="152A46"/>
                </a:solidFill>
                <a:latin typeface="Arial" panose="020B0604020202090204"/>
                <a:ea typeface="Arial" panose="020B0604020202090204"/>
                <a:cs typeface="Arial" panose="020B0604020202090204"/>
              </a:defRPr>
            </a:pPr>
            <a:r>
              <a:rPr sz="2175" b="1">
                <a:solidFill>
                  <a:srgbClr val="152A46"/>
                </a:solidFill>
                <a:latin typeface="Arial" panose="020B0604020202090204"/>
                <a:ea typeface="Arial" panose="020B0604020202090204"/>
                <a:cs typeface="Arial" panose="020B0604020202090204"/>
              </a:rPr>
              <a:t>32 columns in the merged file = 31 original fields + hotel</a:t>
            </a:r>
            <a:endParaRPr sz="2175" b="1">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[1, 3] Intended arrivals: July 2015–August 2017. Two Portuguese properties. No EDA results yet.</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9" name="Rectangle 8"/>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The main risk is prediction timing</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05</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14475"/>
            <a:ext cx="10820400" cy="923925"/>
          </a:xfrm>
          <a:prstGeom prst="rect">
            <a:avLst/>
          </a:prstGeom>
          <a:noFill/>
          <a:ln w="0">
            <a:noFill/>
          </a:ln>
        </p:spPr>
        <p:txBody>
          <a:bodyPr wrap="square" lIns="0" tIns="0" rIns="0" bIns="0" anchor="t">
            <a:noAutofit/>
          </a:bodyPr>
          <a:lstStyle>
            <a:defPPr>
              <a:defRPr sz="2550" b="1">
                <a:solidFill>
                  <a:srgbClr val="C65B26"/>
                </a:solidFill>
                <a:latin typeface="Arial" panose="020B0604020202090204"/>
                <a:ea typeface="Arial" panose="020B0604020202090204"/>
                <a:cs typeface="Arial" panose="020B0604020202090204"/>
              </a:defRPr>
            </a:defPPr>
          </a:lstStyle>
          <a:p>
            <a:pPr>
              <a:defRPr sz="2550" b="1">
                <a:solidFill>
                  <a:srgbClr val="C65B26"/>
                </a:solidFill>
                <a:latin typeface="Arial" panose="020B0604020202090204"/>
                <a:ea typeface="Arial" panose="020B0604020202090204"/>
                <a:cs typeface="Arial" panose="020B0604020202090204"/>
              </a:defRPr>
            </a:pPr>
            <a:r>
              <a:rPr sz="2550" b="1">
                <a:solidFill>
                  <a:srgbClr val="C65B26"/>
                </a:solidFill>
                <a:latin typeface="Arial" panose="020B0604020202090204"/>
                <a:ea typeface="Arial" panose="020B0604020202090204"/>
                <a:cs typeface="Arial" panose="020B0604020202090204"/>
              </a:rPr>
              <a:t>The source uses some values from change logs</a:t>
            </a:r>
            <a:endParaRPr sz="2550" b="1">
              <a:solidFill>
                <a:srgbClr val="C65B26"/>
              </a:solidFill>
              <a:latin typeface="Arial" panose="020B0604020202090204"/>
              <a:ea typeface="Arial" panose="020B0604020202090204"/>
              <a:cs typeface="Arial" panose="020B0604020202090204"/>
            </a:endParaRPr>
          </a:p>
          <a:p>
            <a:pPr>
              <a:defRPr sz="2550" b="1">
                <a:solidFill>
                  <a:srgbClr val="C65B26"/>
                </a:solidFill>
                <a:latin typeface="Arial" panose="020B0604020202090204"/>
                <a:ea typeface="Arial" panose="020B0604020202090204"/>
                <a:cs typeface="Arial" panose="020B0604020202090204"/>
              </a:defRPr>
            </a:pPr>
            <a:r>
              <a:rPr sz="2550" b="1">
                <a:solidFill>
                  <a:srgbClr val="C65B26"/>
                </a:solidFill>
                <a:latin typeface="Arial" panose="020B0604020202090204"/>
                <a:ea typeface="Arial" panose="020B0604020202090204"/>
                <a:cs typeface="Arial" panose="020B0604020202090204"/>
              </a:rPr>
              <a:t>relative to the day before arrival.</a:t>
            </a:r>
            <a:endParaRPr sz="2550" b="1">
              <a:solidFill>
                <a:srgbClr val="C65B2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685800" y="288607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Provisional core</a:t>
            </a:r>
            <a:endParaRPr sz="2025" b="1">
              <a:solidFill>
                <a:srgbClr val="255F8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3829050" y="288607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Lead time, intended arrival season, planned stay, party size,</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reserved room and channel fields. Initial values still need checking.</a:t>
            </a:r>
            <a:endParaRPr sz="2025" b="0">
              <a:solidFill>
                <a:srgbClr val="152A4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685800" y="417195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Exclude from X</a:t>
            </a:r>
            <a:endParaRPr sz="2025" b="1">
              <a:solidFill>
                <a:srgbClr val="255F8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3829050" y="417195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reservation_status / date, assigned room, booking changes,</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waiting time, ADR, deposits, parking and special requests.</a:t>
            </a:r>
            <a:endParaRPr sz="2025" b="0">
              <a:solidFill>
                <a:srgbClr val="152A46"/>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[1, 3] History fields require prior known outcomes. Missing initial snapshots limit an early prediction claim.</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10" name="Rectangle 9"/>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The data audit comes before training</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06</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60972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Missing values</a:t>
            </a:r>
            <a:endParaRPr sz="2025"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3829050" y="160972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Separate unknown from not applicable.</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Missing agent/company may mean no intermediary.</a:t>
            </a:r>
            <a:endParaRPr sz="2025"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300037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Validity and repetition</a:t>
            </a:r>
            <a:endParaRPr sz="2025" b="1">
              <a:solidFill>
                <a:srgbClr val="255F8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3829050" y="300037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Check dates, stay lengths, party sizes and exact repeated rows.</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Identical anonymous records may be legitimate bookings.</a:t>
            </a:r>
            <a:endParaRPr sz="2025" b="0">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439102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Planned EDA</a:t>
            </a:r>
            <a:endParaRPr sz="2025" b="1">
              <a:solidFill>
                <a:srgbClr val="255F86"/>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3829050" y="439102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Cancellation frequency by hotel and period, lead-time</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distributions, missingness and category coverage.</a:t>
            </a:r>
            <a:endParaRPr sz="2025" b="0">
              <a:solidFill>
                <a:srgbClr val="152A46"/>
              </a:solidFill>
              <a:latin typeface="Arial" panose="020B0604020202090204"/>
              <a:ea typeface="Arial" panose="020B0604020202090204"/>
              <a:cs typeface="Arial" panose="020B0604020202090204"/>
            </a:endParaRPr>
          </a:p>
        </p:txBody>
      </p:sp>
      <p:sp>
        <p:nvSpPr>
          <p:cNvPr id="9" name="Rectangle 8"/>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No cancellation percentages, missing-value counts, charts or fitted-model scores are claimed in this proposal.</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6" name="Rectangle 5"/>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A probability baseline and two models</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07</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04950"/>
            <a:ext cx="10820400" cy="647700"/>
          </a:xfrm>
          <a:prstGeom prst="rect">
            <a:avLst/>
          </a:prstGeom>
          <a:noFill/>
          <a:ln w="0">
            <a:noFill/>
          </a:ln>
        </p:spPr>
        <p:txBody>
          <a:bodyPr wrap="square" lIns="0" tIns="0" rIns="0" bIns="0" anchor="t">
            <a:noAutofit/>
          </a:bodyPr>
          <a:lstStyle>
            <a:defPPr>
              <a:defRPr sz="2325" b="1">
                <a:solidFill>
                  <a:srgbClr val="255F86"/>
                </a:solidFill>
                <a:latin typeface="Arial" panose="020B0604020202090204"/>
                <a:ea typeface="Arial" panose="020B0604020202090204"/>
                <a:cs typeface="Arial" panose="020B0604020202090204"/>
              </a:defRPr>
            </a:defPPr>
          </a:lstStyle>
          <a:p>
            <a:pPr>
              <a:defRPr sz="2325" b="1">
                <a:solidFill>
                  <a:srgbClr val="255F86"/>
                </a:solidFill>
                <a:latin typeface="Arial" panose="020B0604020202090204"/>
                <a:ea typeface="Arial" panose="020B0604020202090204"/>
                <a:cs typeface="Arial" panose="020B0604020202090204"/>
              </a:defRPr>
            </a:pPr>
            <a:r>
              <a:rPr sz="2325" b="1">
                <a:solidFill>
                  <a:srgbClr val="255F86"/>
                </a:solidFill>
                <a:latin typeface="Arial" panose="020B0604020202090204"/>
                <a:ea typeface="Arial" panose="020B0604020202090204"/>
                <a:cs typeface="Arial" panose="020B0604020202090204"/>
              </a:rPr>
              <a:t>Baseline: p₀ = cancellations in training / bookings in training</a:t>
            </a:r>
            <a:endParaRPr sz="2325" b="1">
              <a:solidFill>
                <a:srgbClr val="255F86"/>
              </a:solidFill>
              <a:latin typeface="Arial" panose="020B0604020202090204"/>
              <a:ea typeface="Arial" panose="020B0604020202090204"/>
              <a:cs typeface="Arial" panose="020B0604020202090204"/>
            </a:endParaRPr>
          </a:p>
        </p:txBody>
      </p:sp>
      <p:graphicFrame>
        <p:nvGraphicFramePr>
          <p:cNvPr id="4" name="Table 3"/>
          <p:cNvGraphicFramePr/>
          <p:nvPr/>
        </p:nvGraphicFramePr>
        <p:xfrm>
          <a:off x="685800" y="2638425"/>
          <a:ext cx="10820400" cy="2447925"/>
        </p:xfrm>
        <a:graphic>
          <a:graphicData uri="http://schemas.openxmlformats.org/drawingml/2006/table">
            <a:tbl>
              <a:tblPr/>
              <a:tblGrid>
                <a:gridCol w="2952750"/>
                <a:gridCol w="4914900"/>
                <a:gridCol w="2952750"/>
              </a:tblGrid>
              <a:tr h="815975">
                <a:tc>
                  <a:txBody>
                    <a:bodyPr/>
                    <a:lstStyle/>
                    <a:p>
                      <a:r>
                        <a:rPr sz="1950" b="1">
                          <a:solidFill>
                            <a:srgbClr val="152A46"/>
                          </a:solidFill>
                          <a:latin typeface="Arial" panose="020B0604020202090204"/>
                          <a:ea typeface="Arial" panose="020B0604020202090204"/>
                          <a:cs typeface="Arial" panose="020B0604020202090204"/>
                        </a:rPr>
                        <a:t>Model</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c>
                  <a:txBody>
                    <a:bodyPr/>
                    <a:lstStyle/>
                    <a:p>
                      <a:r>
                        <a:rPr sz="1950" b="1">
                          <a:solidFill>
                            <a:srgbClr val="152A46"/>
                          </a:solidFill>
                          <a:latin typeface="Arial" panose="020B0604020202090204"/>
                          <a:ea typeface="Arial" panose="020B0604020202090204"/>
                          <a:cs typeface="Arial" panose="020B0604020202090204"/>
                        </a:rPr>
                        <a:t>Why include it</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c>
                  <a:txBody>
                    <a:bodyPr/>
                    <a:lstStyle/>
                    <a:p>
                      <a:r>
                        <a:rPr sz="1950" b="1">
                          <a:solidFill>
                            <a:srgbClr val="152A46"/>
                          </a:solidFill>
                          <a:latin typeface="Arial" panose="020B0604020202090204"/>
                          <a:ea typeface="Arial" panose="020B0604020202090204"/>
                          <a:cs typeface="Arial" panose="020B0604020202090204"/>
                        </a:rPr>
                        <a:t>Main tuning choice</a:t>
                      </a:r>
                      <a:endParaRPr sz="195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r>
              <a:tr h="815975">
                <a:tc>
                  <a:txBody>
                    <a:bodyPr/>
                    <a:lstStyle/>
                    <a:p>
                      <a:r>
                        <a:rPr sz="1950" b="0">
                          <a:solidFill>
                            <a:srgbClr val="152A46"/>
                          </a:solidFill>
                          <a:latin typeface="Arial" panose="020B0604020202090204"/>
                          <a:ea typeface="Arial" panose="020B0604020202090204"/>
                          <a:cs typeface="Arial" panose="020B0604020202090204"/>
                        </a:rPr>
                        <a:t>Logistic regression</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Interpretable additive</a:t>
                      </a:r>
                      <a:endParaRPr sz="1950" b="0">
                        <a:solidFill>
                          <a:srgbClr val="152A46"/>
                        </a:solidFill>
                        <a:latin typeface="Arial" panose="020B0604020202090204"/>
                        <a:ea typeface="Arial" panose="020B0604020202090204"/>
                        <a:cs typeface="Arial" panose="020B0604020202090204"/>
                      </a:endParaRPr>
                    </a:p>
                    <a:p>
                      <a:r>
                        <a:rPr sz="1950" b="0">
                          <a:solidFill>
                            <a:srgbClr val="152A46"/>
                          </a:solidFill>
                          <a:latin typeface="Arial" panose="020B0604020202090204"/>
                          <a:ea typeface="Arial" panose="020B0604020202090204"/>
                          <a:cs typeface="Arial" panose="020B0604020202090204"/>
                        </a:rPr>
                        <a:t>effects on log-odds</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L2 regularization</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r h="815975">
                <a:tc>
                  <a:txBody>
                    <a:bodyPr/>
                    <a:lstStyle/>
                    <a:p>
                      <a:r>
                        <a:rPr sz="1950" b="0">
                          <a:solidFill>
                            <a:srgbClr val="152A46"/>
                          </a:solidFill>
                          <a:latin typeface="Arial" panose="020B0604020202090204"/>
                          <a:ea typeface="Arial" panose="020B0604020202090204"/>
                          <a:cs typeface="Arial" panose="020B0604020202090204"/>
                        </a:rPr>
                        <a:t>Random forest</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Nonlinear effects</a:t>
                      </a:r>
                      <a:endParaRPr sz="1950" b="0">
                        <a:solidFill>
                          <a:srgbClr val="152A46"/>
                        </a:solidFill>
                        <a:latin typeface="Arial" panose="020B0604020202090204"/>
                        <a:ea typeface="Arial" panose="020B0604020202090204"/>
                        <a:cs typeface="Arial" panose="020B0604020202090204"/>
                      </a:endParaRPr>
                    </a:p>
                    <a:p>
                      <a:r>
                        <a:rPr sz="1950" b="0">
                          <a:solidFill>
                            <a:srgbClr val="152A46"/>
                          </a:solidFill>
                          <a:latin typeface="Arial" panose="020B0604020202090204"/>
                          <a:ea typeface="Arial" panose="020B0604020202090204"/>
                          <a:cs typeface="Arial" panose="020B0604020202090204"/>
                        </a:rPr>
                        <a:t>and interactions</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1950" b="0">
                          <a:solidFill>
                            <a:srgbClr val="152A46"/>
                          </a:solidFill>
                          <a:latin typeface="Arial" panose="020B0604020202090204"/>
                          <a:ea typeface="Arial" panose="020B0604020202090204"/>
                          <a:cs typeface="Arial" panose="020B0604020202090204"/>
                        </a:rPr>
                        <a:t>Depth and</a:t>
                      </a:r>
                      <a:endParaRPr sz="1950" b="0">
                        <a:solidFill>
                          <a:srgbClr val="152A46"/>
                        </a:solidFill>
                        <a:latin typeface="Arial" panose="020B0604020202090204"/>
                        <a:ea typeface="Arial" panose="020B0604020202090204"/>
                        <a:cs typeface="Arial" panose="020B0604020202090204"/>
                      </a:endParaRPr>
                    </a:p>
                    <a:p>
                      <a:r>
                        <a:rPr sz="1950" b="0">
                          <a:solidFill>
                            <a:srgbClr val="152A46"/>
                          </a:solidFill>
                          <a:latin typeface="Arial" panose="020B0604020202090204"/>
                          <a:ea typeface="Arial" panose="020B0604020202090204"/>
                          <a:cs typeface="Arial" panose="020B0604020202090204"/>
                        </a:rPr>
                        <a:t>minimum leaf size</a:t>
                      </a:r>
                      <a:endParaRPr sz="195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bl>
          </a:graphicData>
        </a:graphic>
      </p:graphicFrame>
      <p:sp>
        <p:nvSpPr>
          <p:cNvPr id="5" name="Rectangle 4"/>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Same eligible features and splits. Fit preprocessing within training. Select by validation Log Loss.</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7" name="Rectangle 6"/>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Later arrival cohorts provide the primary test</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08</a:t>
            </a:r>
            <a:endParaRPr sz="1275" b="0">
              <a:solidFill>
                <a:srgbClr val="46576D"/>
              </a:solidFill>
              <a:latin typeface="Arial" panose="020B0604020202090204"/>
              <a:ea typeface="Arial" panose="020B0604020202090204"/>
              <a:cs typeface="Arial" panose="020B0604020202090204"/>
            </a:endParaRPr>
          </a:p>
        </p:txBody>
      </p:sp>
      <p:graphicFrame>
        <p:nvGraphicFramePr>
          <p:cNvPr id="3" name="Table 2"/>
          <p:cNvGraphicFramePr/>
          <p:nvPr/>
        </p:nvGraphicFramePr>
        <p:xfrm>
          <a:off x="685800" y="1552575"/>
          <a:ext cx="10820400" cy="2409825"/>
        </p:xfrm>
        <a:graphic>
          <a:graphicData uri="http://schemas.openxmlformats.org/drawingml/2006/table">
            <a:tbl>
              <a:tblPr/>
              <a:tblGrid>
                <a:gridCol w="3238500"/>
                <a:gridCol w="7581900"/>
              </a:tblGrid>
              <a:tr h="602456">
                <a:tc>
                  <a:txBody>
                    <a:bodyPr/>
                    <a:lstStyle/>
                    <a:p>
                      <a:r>
                        <a:rPr sz="2100" b="1">
                          <a:solidFill>
                            <a:srgbClr val="152A46"/>
                          </a:solidFill>
                          <a:latin typeface="Arial" panose="020B0604020202090204"/>
                          <a:ea typeface="Arial" panose="020B0604020202090204"/>
                          <a:cs typeface="Arial" panose="020B0604020202090204"/>
                        </a:rPr>
                        <a:t>Subset</a:t>
                      </a:r>
                      <a:endParaRPr sz="210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c>
                  <a:txBody>
                    <a:bodyPr/>
                    <a:lstStyle/>
                    <a:p>
                      <a:r>
                        <a:rPr sz="2100" b="1">
                          <a:solidFill>
                            <a:srgbClr val="152A46"/>
                          </a:solidFill>
                          <a:latin typeface="Arial" panose="020B0604020202090204"/>
                          <a:ea typeface="Arial" panose="020B0604020202090204"/>
                          <a:cs typeface="Arial" panose="020B0604020202090204"/>
                        </a:rPr>
                        <a:t>Intended arrival dates</a:t>
                      </a:r>
                      <a:endParaRPr sz="2100" b="1">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E6EDF5"/>
                    </a:solidFill>
                  </a:tcPr>
                </a:tc>
              </a:tr>
              <a:tr h="602456">
                <a:tc>
                  <a:txBody>
                    <a:bodyPr/>
                    <a:lstStyle/>
                    <a:p>
                      <a:r>
                        <a:rPr sz="2100" b="0">
                          <a:solidFill>
                            <a:srgbClr val="152A46"/>
                          </a:solidFill>
                          <a:latin typeface="Arial" panose="020B0604020202090204"/>
                          <a:ea typeface="Arial" panose="020B0604020202090204"/>
                          <a:cs typeface="Arial" panose="020B0604020202090204"/>
                        </a:rPr>
                        <a:t>Training</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2100" b="0">
                          <a:solidFill>
                            <a:srgbClr val="152A46"/>
                          </a:solidFill>
                          <a:latin typeface="Arial" panose="020B0604020202090204"/>
                          <a:ea typeface="Arial" panose="020B0604020202090204"/>
                          <a:cs typeface="Arial" panose="020B0604020202090204"/>
                        </a:rPr>
                        <a:t>July 2015–December 2016</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r h="602456">
                <a:tc>
                  <a:txBody>
                    <a:bodyPr/>
                    <a:lstStyle/>
                    <a:p>
                      <a:r>
                        <a:rPr sz="2100" b="0">
                          <a:solidFill>
                            <a:srgbClr val="152A46"/>
                          </a:solidFill>
                          <a:latin typeface="Arial" panose="020B0604020202090204"/>
                          <a:ea typeface="Arial" panose="020B0604020202090204"/>
                          <a:cs typeface="Arial" panose="020B0604020202090204"/>
                        </a:rPr>
                        <a:t>Validation</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2100" b="0">
                          <a:solidFill>
                            <a:srgbClr val="152A46"/>
                          </a:solidFill>
                          <a:latin typeface="Arial" panose="020B0604020202090204"/>
                          <a:ea typeface="Arial" panose="020B0604020202090204"/>
                          <a:cs typeface="Arial" panose="020B0604020202090204"/>
                        </a:rPr>
                        <a:t>January–March 2017</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r h="602456">
                <a:tc>
                  <a:txBody>
                    <a:bodyPr/>
                    <a:lstStyle/>
                    <a:p>
                      <a:r>
                        <a:rPr sz="2100" b="0">
                          <a:solidFill>
                            <a:srgbClr val="152A46"/>
                          </a:solidFill>
                          <a:latin typeface="Arial" panose="020B0604020202090204"/>
                          <a:ea typeface="Arial" panose="020B0604020202090204"/>
                          <a:cs typeface="Arial" panose="020B0604020202090204"/>
                        </a:rPr>
                        <a:t>Final test</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c>
                  <a:txBody>
                    <a:bodyPr/>
                    <a:lstStyle/>
                    <a:p>
                      <a:r>
                        <a:rPr sz="2100" b="0">
                          <a:solidFill>
                            <a:srgbClr val="152A46"/>
                          </a:solidFill>
                          <a:latin typeface="Arial" panose="020B0604020202090204"/>
                          <a:ea typeface="Arial" panose="020B0604020202090204"/>
                          <a:cs typeface="Arial" panose="020B0604020202090204"/>
                        </a:rPr>
                        <a:t>April–August 2017</a:t>
                      </a:r>
                      <a:endParaRPr sz="2100" b="0">
                        <a:solidFill>
                          <a:srgbClr val="152A46"/>
                        </a:solidFill>
                        <a:latin typeface="Arial" panose="020B0604020202090204"/>
                        <a:ea typeface="Arial" panose="020B0604020202090204"/>
                        <a:cs typeface="Arial" panose="020B0604020202090204"/>
                      </a:endParaRPr>
                    </a:p>
                  </a:txBody>
                  <a:tcPr marL="133350" marR="133350" marT="114300" marB="95250" anchor="ctr">
                    <a:solidFill>
                      <a:srgbClr val="FAFBFD"/>
                    </a:solidFill>
                  </a:tcPr>
                </a:tc>
              </a:tr>
            </a:tbl>
          </a:graphicData>
        </a:graphic>
      </p:graphicFrame>
      <p:sp>
        <p:nvSpPr>
          <p:cNvPr id="4" name="Rectangle 3"/>
          <p:cNvSpPr>
            <a:spLocks noGrp="1"/>
          </p:cNvSpPr>
          <p:nvPr/>
        </p:nvSpPr>
        <p:spPr>
          <a:xfrm>
            <a:off x="685800" y="4314825"/>
            <a:ext cx="10820400" cy="523875"/>
          </a:xfrm>
          <a:prstGeom prst="rect">
            <a:avLst/>
          </a:prstGeom>
          <a:noFill/>
          <a:ln w="0">
            <a:noFill/>
          </a:ln>
        </p:spPr>
        <p:txBody>
          <a:bodyPr wrap="square" lIns="0" tIns="0" rIns="0" bIns="0" anchor="t">
            <a:noAutofit/>
          </a:bodyPr>
          <a:lstStyle>
            <a:defPPr>
              <a:defRPr sz="2400" b="1">
                <a:solidFill>
                  <a:srgbClr val="C65B26"/>
                </a:solidFill>
                <a:latin typeface="Arial" panose="020B0604020202090204"/>
                <a:ea typeface="Arial" panose="020B0604020202090204"/>
                <a:cs typeface="Arial" panose="020B0604020202090204"/>
              </a:defRPr>
            </a:defPPr>
          </a:lstStyle>
          <a:p>
            <a:pPr>
              <a:defRPr sz="2400" b="1">
                <a:solidFill>
                  <a:srgbClr val="C65B26"/>
                </a:solidFill>
                <a:latin typeface="Arial" panose="020B0604020202090204"/>
                <a:ea typeface="Arial" panose="020B0604020202090204"/>
                <a:cs typeface="Arial" panose="020B0604020202090204"/>
              </a:defRPr>
            </a:pPr>
            <a:r>
              <a:rPr sz="2400" b="1">
                <a:solidFill>
                  <a:srgbClr val="C65B26"/>
                </a:solidFill>
                <a:latin typeface="Arial" panose="020B0604020202090204"/>
                <a:ea typeface="Arial" panose="020B0604020202090204"/>
                <a:cs typeface="Arial" panose="020B0604020202090204"/>
              </a:rPr>
              <a:t>Arrival order does not guarantee booking-creation order.</a:t>
            </a:r>
            <a:endParaRPr sz="2400" b="1">
              <a:solidFill>
                <a:srgbClr val="C65B2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5000625"/>
            <a:ext cx="10820400" cy="857250"/>
          </a:xfrm>
          <a:prstGeom prst="rect">
            <a:avLst/>
          </a:prstGeom>
          <a:noFill/>
          <a:ln w="0">
            <a:noFill/>
          </a:ln>
        </p:spPr>
        <p:txBody>
          <a:bodyPr wrap="square" lIns="0" tIns="0" rIns="0" bIns="0" anchor="t">
            <a:noAutofit/>
          </a:bodyPr>
          <a:lstStyle>
            <a:defPPr>
              <a:defRPr sz="2100" b="0">
                <a:solidFill>
                  <a:srgbClr val="152A46"/>
                </a:solidFill>
                <a:latin typeface="Arial" panose="020B0604020202090204"/>
                <a:ea typeface="Arial" panose="020B0604020202090204"/>
                <a:cs typeface="Arial" panose="020B0604020202090204"/>
              </a:defRPr>
            </a:defPPr>
          </a:lstStyle>
          <a:p>
            <a:pPr>
              <a:defRPr sz="2100" b="0">
                <a:solidFill>
                  <a:srgbClr val="152A46"/>
                </a:solidFill>
                <a:latin typeface="Arial" panose="020B0604020202090204"/>
                <a:ea typeface="Arial" panose="020B0604020202090204"/>
                <a:cs typeface="Arial" panose="020B0604020202090204"/>
              </a:defRPr>
            </a:pPr>
            <a:r>
              <a:rPr sz="2100" b="0">
                <a:solidFill>
                  <a:srgbClr val="152A46"/>
                </a:solidFill>
                <a:latin typeface="Arial" panose="020B0604020202090204"/>
                <a:ea typeface="Arial" panose="020B0604020202090204"/>
                <a:cs typeface="Arial" panose="020B0604020202090204"/>
              </a:rPr>
              <a:t>Check overlap using arrival date minus lead_time.</a:t>
            </a:r>
            <a:endParaRPr sz="2100" b="0">
              <a:solidFill>
                <a:srgbClr val="152A46"/>
              </a:solidFill>
              <a:latin typeface="Arial" panose="020B0604020202090204"/>
              <a:ea typeface="Arial" panose="020B0604020202090204"/>
              <a:cs typeface="Arial" panose="020B0604020202090204"/>
            </a:endParaRPr>
          </a:p>
          <a:p>
            <a:pPr>
              <a:defRPr sz="2100" b="0">
                <a:solidFill>
                  <a:srgbClr val="152A46"/>
                </a:solidFill>
                <a:latin typeface="Arial" panose="020B0604020202090204"/>
                <a:ea typeface="Arial" panose="020B0604020202090204"/>
                <a:cs typeface="Arial" panose="020B0604020202090204"/>
              </a:defRPr>
            </a:pPr>
            <a:r>
              <a:rPr sz="2100" b="0">
                <a:solidFill>
                  <a:srgbClr val="152A46"/>
                </a:solidFill>
                <a:latin typeface="Arial" panose="020B0604020202090204"/>
                <a:ea typeface="Arial" panose="020B0604020202090204"/>
                <a:cs typeface="Arial" panose="020B0604020202090204"/>
              </a:rPr>
              <a:t>Check whether training outcomes were known at the cutoff.</a:t>
            </a:r>
            <a:endParaRPr sz="2100" b="0">
              <a:solidFill>
                <a:srgbClr val="152A4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This tests later arrival cohorts. Initial snapshots and label maturity remain deployment limitations.</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10" name="Rectangle 9"/>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Evaluation focuses on probability quality</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09</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6210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Primary comparison</a:t>
            </a:r>
            <a:endParaRPr sz="2025"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3829050" y="156210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Test Log Loss versus the constant-probability baseline.</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Report overall results and each property separately.</a:t>
            </a:r>
            <a:endParaRPr sz="2025"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296227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Supporting metrics</a:t>
            </a:r>
            <a:endParaRPr sz="2025" b="1">
              <a:solidFill>
                <a:srgbClr val="255F8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3829050" y="296227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Brier score and reliability plot for calibration.</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ROC-AUC for ranking. Precision/recall at a fixed threshold.</a:t>
            </a:r>
            <a:endParaRPr sz="2025" b="0">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4371975"/>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Robustness</a:t>
            </a:r>
            <a:endParaRPr sz="2025" b="1">
              <a:solidFill>
                <a:srgbClr val="255F86"/>
              </a:solidFill>
              <a:latin typeface="Arial" panose="020B0604020202090204"/>
              <a:ea typeface="Arial" panose="020B0604020202090204"/>
              <a:cs typeface="Arial" panose="020B0604020202090204"/>
            </a:endParaRPr>
          </a:p>
        </p:txBody>
      </p:sp>
      <p:sp>
        <p:nvSpPr>
          <p:cNvPr id="8" name="Rectangle 7"/>
          <p:cNvSpPr>
            <a:spLocks noGrp="1"/>
          </p:cNvSpPr>
          <p:nvPr/>
        </p:nvSpPr>
        <p:spPr>
          <a:xfrm>
            <a:off x="3829050" y="4371975"/>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Inspect periods and lead-time groups.</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Estimate paired uncertainty by resampling arrival weeks.</a:t>
            </a:r>
            <a:endParaRPr sz="2025" b="0">
              <a:solidFill>
                <a:srgbClr val="152A46"/>
              </a:solidFill>
              <a:latin typeface="Arial" panose="020B0604020202090204"/>
              <a:ea typeface="Arial" panose="020B0604020202090204"/>
              <a:cs typeface="Arial" panose="020B0604020202090204"/>
            </a:endParaRPr>
          </a:p>
        </p:txBody>
      </p:sp>
      <p:sp>
        <p:nvSpPr>
          <p:cNvPr id="9" name="Rectangle 8"/>
          <p:cNvSpPr>
            <a:spLocks noGrp="1"/>
          </p:cNvSpPr>
          <p:nvPr/>
        </p:nvSpPr>
        <p:spPr>
          <a:xfrm>
            <a:off x="685800" y="6029325"/>
            <a:ext cx="10048875" cy="447675"/>
          </a:xfrm>
          <a:prstGeom prst="rect">
            <a:avLst/>
          </a:prstGeom>
          <a:noFill/>
          <a:ln w="0">
            <a:noFill/>
          </a:ln>
        </p:spPr>
        <p:txBody>
          <a:bodyPr wrap="square" lIns="0" tIns="0" rIns="0" bIns="0" anchor="t">
            <a:noAutofit/>
          </a:bodyPr>
          <a:lstStyle>
            <a:defPPr>
              <a:defRPr sz="1200" b="0">
                <a:solidFill>
                  <a:srgbClr val="46576D"/>
                </a:solidFill>
                <a:latin typeface="Arial" panose="020B0604020202090204"/>
                <a:ea typeface="Arial" panose="020B0604020202090204"/>
                <a:cs typeface="Arial" panose="020B0604020202090204"/>
              </a:defRPr>
            </a:defPPr>
          </a:lstStyle>
          <a:p>
            <a:pPr>
              <a:defRPr sz="1200" b="0">
                <a:solidFill>
                  <a:srgbClr val="46576D"/>
                </a:solidFill>
                <a:latin typeface="Arial" panose="020B0604020202090204"/>
                <a:ea typeface="Arial" panose="020B0604020202090204"/>
                <a:cs typeface="Arial" panose="020B0604020202090204"/>
              </a:defRPr>
            </a:pPr>
            <a:r>
              <a:rPr sz="1200" b="0">
                <a:solidFill>
                  <a:srgbClr val="46576D"/>
                </a:solidFill>
                <a:latin typeface="Arial" panose="020B0604020202090204"/>
                <a:ea typeface="Arial" panose="020B0604020202090204"/>
                <a:cs typeface="Arial" panose="020B0604020202090204"/>
              </a:rPr>
              <a:t>Choose thresholds and calibration before opening the test. No numeric performance target is claimed.</a:t>
            </a:r>
            <a:endParaRPr sz="1200" b="0">
              <a:solidFill>
                <a:srgbClr val="46576D"/>
              </a:solidFill>
              <a:latin typeface="Arial" panose="020B0604020202090204"/>
              <a:ea typeface="Arial" panose="020B0604020202090204"/>
              <a:cs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8" name="Rectangle 7"/>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Expected use and the next work</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10</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33525"/>
            <a:ext cx="10820400" cy="666750"/>
          </a:xfrm>
          <a:prstGeom prst="rect">
            <a:avLst/>
          </a:prstGeom>
          <a:noFill/>
          <a:ln w="0">
            <a:noFill/>
          </a:ln>
        </p:spPr>
        <p:txBody>
          <a:bodyPr wrap="square" lIns="0" tIns="0" rIns="0" bIns="0" anchor="t">
            <a:noAutofit/>
          </a:bodyPr>
          <a:lstStyle>
            <a:defPPr>
              <a:defRPr sz="3150" b="1">
                <a:solidFill>
                  <a:srgbClr val="255F86"/>
                </a:solidFill>
                <a:latin typeface="Arial" panose="020B0604020202090204"/>
                <a:ea typeface="Arial" panose="020B0604020202090204"/>
                <a:cs typeface="Arial" panose="020B0604020202090204"/>
              </a:defRPr>
            </a:defPPr>
          </a:lstStyle>
          <a:p>
            <a:pPr>
              <a:defRPr sz="3150" b="1">
                <a:solidFill>
                  <a:srgbClr val="255F86"/>
                </a:solidFill>
                <a:latin typeface="Arial" panose="020B0604020202090204"/>
                <a:ea typeface="Arial" panose="020B0604020202090204"/>
                <a:cs typeface="Arial" panose="020B0604020202090204"/>
              </a:defRPr>
            </a:pPr>
            <a:r>
              <a:rPr sz="3150" b="1">
                <a:solidFill>
                  <a:srgbClr val="255F86"/>
                </a:solidFill>
                <a:latin typeface="Arial" panose="020B0604020202090204"/>
                <a:ea typeface="Arial" panose="020B0604020202090204"/>
                <a:cs typeface="Arial" panose="020B0604020202090204"/>
              </a:rPr>
              <a:t>Expected retained bookings = Σ(1 − pᵢ)</a:t>
            </a:r>
            <a:endParaRPr sz="3150" b="1">
              <a:solidFill>
                <a:srgbClr val="255F8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685800" y="2466975"/>
            <a:ext cx="10820400" cy="942975"/>
          </a:xfrm>
          <a:prstGeom prst="rect">
            <a:avLst/>
          </a:prstGeom>
          <a:noFill/>
          <a:ln w="0">
            <a:noFill/>
          </a:ln>
        </p:spPr>
        <p:txBody>
          <a:bodyPr wrap="square" lIns="0" tIns="0" rIns="0" bIns="0" anchor="t">
            <a:noAutofit/>
          </a:bodyPr>
          <a:lstStyle>
            <a:defPPr>
              <a:defRPr sz="2250" b="0">
                <a:solidFill>
                  <a:srgbClr val="152A46"/>
                </a:solidFill>
                <a:latin typeface="Arial" panose="020B0604020202090204"/>
                <a:ea typeface="Arial" panose="020B0604020202090204"/>
                <a:cs typeface="Arial" panose="020B0604020202090204"/>
              </a:defRPr>
            </a:defPPr>
          </a:lstStyle>
          <a:p>
            <a:pPr>
              <a:defRPr sz="2250" b="0">
                <a:solidFill>
                  <a:srgbClr val="152A46"/>
                </a:solidFill>
                <a:latin typeface="Arial" panose="020B0604020202090204"/>
                <a:ea typeface="Arial" panose="020B0604020202090204"/>
                <a:cs typeface="Arial" panose="020B0604020202090204"/>
              </a:defRPr>
            </a:pPr>
            <a:r>
              <a:rPr sz="2250" b="0">
                <a:solidFill>
                  <a:srgbClr val="152A46"/>
                </a:solidFill>
                <a:latin typeface="Arial" panose="020B0604020202090204"/>
                <a:ea typeface="Arial" panose="020B0604020202090204"/>
                <a:cs typeface="Arial" panose="020B0604020202090204"/>
              </a:rPr>
              <a:t>Accurate probabilities could improve demand planning.</a:t>
            </a:r>
            <a:endParaRPr sz="2250" b="0">
              <a:solidFill>
                <a:srgbClr val="152A46"/>
              </a:solidFill>
              <a:latin typeface="Arial" panose="020B0604020202090204"/>
              <a:ea typeface="Arial" panose="020B0604020202090204"/>
              <a:cs typeface="Arial" panose="020B0604020202090204"/>
            </a:endParaRPr>
          </a:p>
          <a:p>
            <a:pPr>
              <a:defRPr sz="2250" b="0">
                <a:solidFill>
                  <a:srgbClr val="152A46"/>
                </a:solidFill>
                <a:latin typeface="Arial" panose="020B0604020202090204"/>
                <a:ea typeface="Arial" panose="020B0604020202090204"/>
                <a:cs typeface="Arial" panose="020B0604020202090204"/>
              </a:defRPr>
            </a:pPr>
            <a:r>
              <a:rPr sz="2250" b="0">
                <a:solidFill>
                  <a:srgbClr val="152A46"/>
                </a:solidFill>
                <a:latin typeface="Arial" panose="020B0604020202090204"/>
                <a:ea typeface="Arial" panose="020B0604020202090204"/>
                <a:cs typeface="Arial" panose="020B0604020202090204"/>
              </a:rPr>
              <a:t>Occupancy forecasts also need stay dates and room quantities.</a:t>
            </a:r>
            <a:endParaRPr sz="2250"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3829050"/>
            <a:ext cx="2952750" cy="619125"/>
          </a:xfrm>
          <a:prstGeom prst="rect">
            <a:avLst/>
          </a:prstGeom>
          <a:noFill/>
          <a:ln w="0">
            <a:noFill/>
          </a:ln>
        </p:spPr>
        <p:txBody>
          <a:bodyPr wrap="square" lIns="0" tIns="0" rIns="0" bIns="0" anchor="t">
            <a:noAutofit/>
          </a:bodyPr>
          <a:lstStyle>
            <a:defPPr>
              <a:defRPr sz="2025" b="1">
                <a:solidFill>
                  <a:srgbClr val="255F86"/>
                </a:solidFill>
                <a:latin typeface="Arial" panose="020B0604020202090204"/>
                <a:ea typeface="Arial" panose="020B0604020202090204"/>
                <a:cs typeface="Arial" panose="020B0604020202090204"/>
              </a:defRPr>
            </a:defPPr>
          </a:lstStyle>
          <a:p>
            <a:pPr>
              <a:defRPr sz="2025" b="1">
                <a:solidFill>
                  <a:srgbClr val="255F86"/>
                </a:solidFill>
                <a:latin typeface="Arial" panose="020B0604020202090204"/>
                <a:ea typeface="Arial" panose="020B0604020202090204"/>
                <a:cs typeface="Arial" panose="020B0604020202090204"/>
              </a:defRPr>
            </a:pPr>
            <a:r>
              <a:rPr sz="2025" b="1">
                <a:solidFill>
                  <a:srgbClr val="255F86"/>
                </a:solidFill>
                <a:latin typeface="Arial" panose="020B0604020202090204"/>
                <a:ea typeface="Arial" panose="020B0604020202090204"/>
                <a:cs typeface="Arial" panose="020B0604020202090204"/>
              </a:rPr>
              <a:t>Next work</a:t>
            </a:r>
            <a:endParaRPr sz="2025" b="1">
              <a:solidFill>
                <a:srgbClr val="255F86"/>
              </a:solidFill>
              <a:latin typeface="Arial" panose="020B0604020202090204"/>
              <a:ea typeface="Arial" panose="020B0604020202090204"/>
              <a:cs typeface="Arial" panose="020B0604020202090204"/>
            </a:endParaRPr>
          </a:p>
        </p:txBody>
      </p:sp>
      <p:sp>
        <p:nvSpPr>
          <p:cNvPr id="6" name="Rectangle 5"/>
          <p:cNvSpPr>
            <a:spLocks noGrp="1"/>
          </p:cNvSpPr>
          <p:nvPr/>
        </p:nvSpPr>
        <p:spPr>
          <a:xfrm>
            <a:off x="3829050" y="3829050"/>
            <a:ext cx="7677150" cy="876300"/>
          </a:xfrm>
          <a:prstGeom prst="rect">
            <a:avLst/>
          </a:prstGeom>
          <a:noFill/>
          <a:ln w="0">
            <a:noFill/>
          </a:ln>
        </p:spPr>
        <p:txBody>
          <a:bodyPr wrap="square" lIns="0" tIns="0" rIns="0" bIns="0" anchor="t">
            <a:noAutofit/>
          </a:bodyPr>
          <a:lstStyle>
            <a:defPPr>
              <a:defRPr sz="2025" b="0">
                <a:solidFill>
                  <a:srgbClr val="152A46"/>
                </a:solidFill>
                <a:latin typeface="Arial" panose="020B0604020202090204"/>
                <a:ea typeface="Arial" panose="020B0604020202090204"/>
                <a:cs typeface="Arial" panose="020B0604020202090204"/>
              </a:defRPr>
            </a:defPPr>
          </a:lstStyle>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Audit feature timing and quality, then run EDA.</a:t>
            </a:r>
            <a:endParaRPr sz="2025" b="0">
              <a:solidFill>
                <a:srgbClr val="152A46"/>
              </a:solidFill>
              <a:latin typeface="Arial" panose="020B0604020202090204"/>
              <a:ea typeface="Arial" panose="020B0604020202090204"/>
              <a:cs typeface="Arial" panose="020B0604020202090204"/>
            </a:endParaRPr>
          </a:p>
          <a:p>
            <a:pPr>
              <a:defRPr sz="2025" b="0">
                <a:solidFill>
                  <a:srgbClr val="152A46"/>
                </a:solidFill>
                <a:latin typeface="Arial" panose="020B0604020202090204"/>
                <a:ea typeface="Arial" panose="020B0604020202090204"/>
                <a:cs typeface="Arial" panose="020B0604020202090204"/>
              </a:defRPr>
            </a:pPr>
            <a:r>
              <a:rPr sz="2025" b="0">
                <a:solidFill>
                  <a:srgbClr val="152A46"/>
                </a:solidFill>
                <a:latin typeface="Arial" panose="020B0604020202090204"/>
                <a:ea typeface="Arial" panose="020B0604020202090204"/>
                <a:cs typeface="Arial" panose="020B0604020202090204"/>
              </a:rPr>
              <a:t>Fit the baseline and LR/RF pipelines and compare splits.</a:t>
            </a:r>
            <a:endParaRPr sz="2025" b="0">
              <a:solidFill>
                <a:srgbClr val="152A46"/>
              </a:solidFill>
              <a:latin typeface="Arial" panose="020B0604020202090204"/>
              <a:ea typeface="Arial" panose="020B0604020202090204"/>
              <a:cs typeface="Arial" panose="020B0604020202090204"/>
            </a:endParaRPr>
          </a:p>
        </p:txBody>
      </p:sp>
      <p:sp>
        <p:nvSpPr>
          <p:cNvPr id="7" name="Rectangle 6"/>
          <p:cNvSpPr>
            <a:spLocks noGrp="1"/>
          </p:cNvSpPr>
          <p:nvPr/>
        </p:nvSpPr>
        <p:spPr>
          <a:xfrm>
            <a:off x="685800" y="5057775"/>
            <a:ext cx="10820400" cy="904875"/>
          </a:xfrm>
          <a:prstGeom prst="rect">
            <a:avLst/>
          </a:prstGeom>
          <a:noFill/>
          <a:ln w="0">
            <a:noFill/>
          </a:ln>
        </p:spPr>
        <p:txBody>
          <a:bodyPr wrap="square" lIns="0" tIns="0" rIns="0" bIns="0" anchor="t">
            <a:noAutofit/>
          </a:bodyPr>
          <a:lstStyle>
            <a:defPPr>
              <a:defRPr sz="2250" b="1">
                <a:solidFill>
                  <a:srgbClr val="C65B26"/>
                </a:solidFill>
                <a:latin typeface="Arial" panose="020B0604020202090204"/>
                <a:ea typeface="Arial" panose="020B0604020202090204"/>
                <a:cs typeface="Arial" panose="020B0604020202090204"/>
              </a:defRPr>
            </a:defPPr>
          </a:lstStyle>
          <a:p>
            <a:pPr>
              <a:defRPr sz="2250" b="1">
                <a:solidFill>
                  <a:srgbClr val="C65B26"/>
                </a:solidFill>
                <a:latin typeface="Arial" panose="020B0604020202090204"/>
                <a:ea typeface="Arial" panose="020B0604020202090204"/>
                <a:cs typeface="Arial" panose="020B0604020202090204"/>
              </a:defRPr>
            </a:pPr>
            <a:r>
              <a:rPr sz="2250" b="1">
                <a:solidFill>
                  <a:srgbClr val="C65B26"/>
                </a:solidFill>
                <a:latin typeface="Arial" panose="020B0604020202090204"/>
                <a:ea typeface="Arial" panose="020B0604020202090204"/>
                <a:cs typeface="Arial" panose="020B0604020202090204"/>
              </a:rPr>
              <a:t>The key unresolved question is whether the public data</a:t>
            </a:r>
            <a:endParaRPr sz="2250" b="1">
              <a:solidFill>
                <a:srgbClr val="C65B26"/>
              </a:solidFill>
              <a:latin typeface="Arial" panose="020B0604020202090204"/>
              <a:ea typeface="Arial" panose="020B0604020202090204"/>
              <a:cs typeface="Arial" panose="020B0604020202090204"/>
            </a:endParaRPr>
          </a:p>
          <a:p>
            <a:pPr>
              <a:defRPr sz="2250" b="1">
                <a:solidFill>
                  <a:srgbClr val="C65B26"/>
                </a:solidFill>
                <a:latin typeface="Arial" panose="020B0604020202090204"/>
                <a:ea typeface="Arial" panose="020B0604020202090204"/>
                <a:cs typeface="Arial" panose="020B0604020202090204"/>
              </a:defRPr>
            </a:pPr>
            <a:r>
              <a:rPr sz="2250" b="1">
                <a:solidFill>
                  <a:srgbClr val="C65B26"/>
                </a:solidFill>
                <a:latin typeface="Arial" panose="020B0604020202090204"/>
                <a:ea typeface="Arial" panose="020B0604020202090204"/>
                <a:cs typeface="Arial" panose="020B0604020202090204"/>
              </a:rPr>
              <a:t>supports prediction at initial booking creation.</a:t>
            </a:r>
            <a:endParaRPr sz="2250" b="1">
              <a:solidFill>
                <a:srgbClr val="C65B26"/>
              </a:solidFill>
              <a:latin typeface="Arial" panose="020B0604020202090204"/>
              <a:ea typeface="Arial" panose="020B0604020202090204"/>
              <a:cs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p:sp>
        <p:nvSpPr>
          <p:cNvPr id="6" name="Rectangle 5"/>
          <p:cNvSpPr>
            <a:spLocks noGrp="1"/>
          </p:cNvSpPr>
          <p:nvPr/>
        </p:nvSpPr>
        <p:spPr>
          <a:xfrm>
            <a:off x="685800" y="457200"/>
            <a:ext cx="10820400" cy="952500"/>
          </a:xfrm>
          <a:prstGeom prst="rect">
            <a:avLst/>
          </a:prstGeom>
          <a:noFill/>
          <a:ln w="0">
            <a:noFill/>
          </a:ln>
        </p:spPr>
        <p:txBody>
          <a:bodyPr wrap="square" lIns="0" tIns="0" rIns="0" bIns="0" anchor="t">
            <a:noAutofit/>
          </a:bodyPr>
          <a:lstStyle>
            <a:defPPr>
              <a:defRPr sz="3150" b="1">
                <a:solidFill>
                  <a:srgbClr val="152A46"/>
                </a:solidFill>
                <a:latin typeface="Arial" panose="020B0604020202090204"/>
                <a:ea typeface="Arial" panose="020B0604020202090204"/>
                <a:cs typeface="Arial" panose="020B0604020202090204"/>
              </a:defRPr>
            </a:defPPr>
          </a:lstStyle>
          <a:p>
            <a:pPr>
              <a:defRPr sz="3150" b="1">
                <a:solidFill>
                  <a:srgbClr val="152A46"/>
                </a:solidFill>
                <a:latin typeface="Arial" panose="020B0604020202090204"/>
                <a:ea typeface="Arial" panose="020B0604020202090204"/>
                <a:cs typeface="Arial" panose="020B0604020202090204"/>
              </a:defRPr>
            </a:pPr>
            <a:r>
              <a:rPr sz="3150" b="1">
                <a:solidFill>
                  <a:srgbClr val="152A46"/>
                </a:solidFill>
                <a:latin typeface="Arial" panose="020B0604020202090204"/>
                <a:ea typeface="Arial" panose="020B0604020202090204"/>
                <a:cs typeface="Arial" panose="020B0604020202090204"/>
              </a:rPr>
              <a:t>References</a:t>
            </a:r>
            <a:endParaRPr sz="3150" b="1">
              <a:solidFill>
                <a:srgbClr val="152A46"/>
              </a:solidFill>
              <a:latin typeface="Arial" panose="020B0604020202090204"/>
              <a:ea typeface="Arial" panose="020B0604020202090204"/>
              <a:cs typeface="Arial" panose="020B0604020202090204"/>
            </a:endParaRPr>
          </a:p>
        </p:txBody>
      </p:sp>
      <p:sp>
        <p:nvSpPr>
          <p:cNvPr id="2" name="Rectangle 1"/>
          <p:cNvSpPr>
            <a:spLocks noGrp="1"/>
          </p:cNvSpPr>
          <p:nvPr/>
        </p:nvSpPr>
        <p:spPr>
          <a:xfrm>
            <a:off x="11049000" y="6372225"/>
            <a:ext cx="457200" cy="238125"/>
          </a:xfrm>
          <a:prstGeom prst="rect">
            <a:avLst/>
          </a:prstGeom>
          <a:noFill/>
          <a:ln w="0">
            <a:noFill/>
          </a:ln>
        </p:spPr>
        <p:txBody>
          <a:bodyPr wrap="square" lIns="0" tIns="0" rIns="0" bIns="0" anchor="t">
            <a:noAutofit/>
          </a:bodyPr>
          <a:lstStyle>
            <a:defPPr>
              <a:defRPr sz="1275" b="0">
                <a:solidFill>
                  <a:srgbClr val="46576D"/>
                </a:solidFill>
                <a:latin typeface="Arial" panose="020B0604020202090204"/>
                <a:ea typeface="Arial" panose="020B0604020202090204"/>
                <a:cs typeface="Arial" panose="020B0604020202090204"/>
              </a:defRPr>
            </a:defPPr>
          </a:lstStyle>
          <a:p>
            <a:pPr>
              <a:defRPr sz="1275" b="0">
                <a:solidFill>
                  <a:srgbClr val="46576D"/>
                </a:solidFill>
                <a:latin typeface="Arial" panose="020B0604020202090204"/>
                <a:ea typeface="Arial" panose="020B0604020202090204"/>
                <a:cs typeface="Arial" panose="020B0604020202090204"/>
              </a:defRPr>
            </a:pPr>
            <a:r>
              <a:rPr sz="1275" b="0">
                <a:solidFill>
                  <a:srgbClr val="46576D"/>
                </a:solidFill>
                <a:latin typeface="Arial" panose="020B0604020202090204"/>
                <a:ea typeface="Arial" panose="020B0604020202090204"/>
                <a:cs typeface="Arial" panose="020B0604020202090204"/>
              </a:rPr>
              <a:t>11</a:t>
            </a:r>
            <a:endParaRPr sz="1275" b="0">
              <a:solidFill>
                <a:srgbClr val="46576D"/>
              </a:solidFill>
              <a:latin typeface="Arial" panose="020B0604020202090204"/>
              <a:ea typeface="Arial" panose="020B0604020202090204"/>
              <a:cs typeface="Arial" panose="020B0604020202090204"/>
            </a:endParaRPr>
          </a:p>
        </p:txBody>
      </p:sp>
      <p:sp>
        <p:nvSpPr>
          <p:cNvPr id="3" name="Rectangle 2"/>
          <p:cNvSpPr>
            <a:spLocks noGrp="1"/>
          </p:cNvSpPr>
          <p:nvPr/>
        </p:nvSpPr>
        <p:spPr>
          <a:xfrm>
            <a:off x="685800" y="1562100"/>
            <a:ext cx="10820400" cy="1190625"/>
          </a:xfrm>
          <a:prstGeom prst="rect">
            <a:avLst/>
          </a:prstGeom>
          <a:noFill/>
          <a:ln w="0">
            <a:noFill/>
          </a:ln>
        </p:spPr>
        <p:txBody>
          <a:bodyPr wrap="square" lIns="0" tIns="0" rIns="0" bIns="0" anchor="t">
            <a:noAutofit/>
          </a:bodyPr>
          <a:lstStyle>
            <a:defPPr>
              <a:defRPr sz="1950" b="0">
                <a:solidFill>
                  <a:srgbClr val="152A46"/>
                </a:solidFill>
                <a:latin typeface="Arial" panose="020B0604020202090204"/>
                <a:ea typeface="Arial" panose="020B0604020202090204"/>
                <a:cs typeface="Arial" panose="020B0604020202090204"/>
              </a:defRPr>
            </a:defPPr>
          </a:lstStyle>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[1] Antonio, N., de Almeida, A., &amp; Nunes, L. (2019).</a:t>
            </a:r>
            <a:endParaRPr sz="1950" b="0">
              <a:solidFill>
                <a:srgbClr val="152A46"/>
              </a:solidFill>
              <a:latin typeface="Arial" panose="020B0604020202090204"/>
              <a:ea typeface="Arial" panose="020B0604020202090204"/>
              <a:cs typeface="Arial" panose="020B0604020202090204"/>
            </a:endParaRPr>
          </a:p>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Hotel booking demand datasets. Data in Brief, 22, 41–49.</a:t>
            </a:r>
            <a:endParaRPr sz="1950" b="0">
              <a:solidFill>
                <a:srgbClr val="152A46"/>
              </a:solidFill>
              <a:latin typeface="Arial" panose="020B0604020202090204"/>
              <a:ea typeface="Arial" panose="020B0604020202090204"/>
              <a:cs typeface="Arial" panose="020B0604020202090204"/>
            </a:endParaRPr>
          </a:p>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https://doi.org/10.1016/j.dib.2018.11.126</a:t>
            </a:r>
            <a:endParaRPr sz="1950" b="0">
              <a:solidFill>
                <a:srgbClr val="152A46"/>
              </a:solidFill>
              <a:latin typeface="Arial" panose="020B0604020202090204"/>
              <a:ea typeface="Arial" panose="020B0604020202090204"/>
              <a:cs typeface="Arial" panose="020B0604020202090204"/>
            </a:endParaRPr>
          </a:p>
        </p:txBody>
      </p:sp>
      <p:sp>
        <p:nvSpPr>
          <p:cNvPr id="4" name="Rectangle 3"/>
          <p:cNvSpPr>
            <a:spLocks noGrp="1"/>
          </p:cNvSpPr>
          <p:nvPr/>
        </p:nvSpPr>
        <p:spPr>
          <a:xfrm>
            <a:off x="685800" y="3095625"/>
            <a:ext cx="10820400" cy="1504950"/>
          </a:xfrm>
          <a:prstGeom prst="rect">
            <a:avLst/>
          </a:prstGeom>
          <a:noFill/>
          <a:ln w="0">
            <a:noFill/>
          </a:ln>
        </p:spPr>
        <p:txBody>
          <a:bodyPr wrap="square" lIns="0" tIns="0" rIns="0" bIns="0" anchor="t">
            <a:noAutofit/>
          </a:bodyPr>
          <a:lstStyle>
            <a:defPPr>
              <a:defRPr sz="1950" b="0">
                <a:solidFill>
                  <a:srgbClr val="152A46"/>
                </a:solidFill>
                <a:latin typeface="Arial" panose="020B0604020202090204"/>
                <a:ea typeface="Arial" panose="020B0604020202090204"/>
                <a:cs typeface="Arial" panose="020B0604020202090204"/>
              </a:defRPr>
            </a:defPPr>
          </a:lstStyle>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[2] Antonio, N., de Almeida, A., &amp; Nunes, L. (2017).</a:t>
            </a:r>
            <a:endParaRPr sz="1950" b="0">
              <a:solidFill>
                <a:srgbClr val="152A46"/>
              </a:solidFill>
              <a:latin typeface="Arial" panose="020B0604020202090204"/>
              <a:ea typeface="Arial" panose="020B0604020202090204"/>
              <a:cs typeface="Arial" panose="020B0604020202090204"/>
            </a:endParaRPr>
          </a:p>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Predicting hotel booking cancellations to decrease uncertainty</a:t>
            </a:r>
            <a:endParaRPr sz="1950" b="0">
              <a:solidFill>
                <a:srgbClr val="152A46"/>
              </a:solidFill>
              <a:latin typeface="Arial" panose="020B0604020202090204"/>
              <a:ea typeface="Arial" panose="020B0604020202090204"/>
              <a:cs typeface="Arial" panose="020B0604020202090204"/>
            </a:endParaRPr>
          </a:p>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and increase revenue. Tourism &amp; Management Studies, 13(2), 25–39.</a:t>
            </a:r>
            <a:endParaRPr sz="1950" b="0">
              <a:solidFill>
                <a:srgbClr val="152A46"/>
              </a:solidFill>
              <a:latin typeface="Arial" panose="020B0604020202090204"/>
              <a:ea typeface="Arial" panose="020B0604020202090204"/>
              <a:cs typeface="Arial" panose="020B0604020202090204"/>
            </a:endParaRPr>
          </a:p>
          <a:p>
            <a:pPr>
              <a:defRPr sz="1950" b="0">
                <a:solidFill>
                  <a:srgbClr val="152A46"/>
                </a:solidFill>
                <a:latin typeface="Arial" panose="020B0604020202090204"/>
                <a:ea typeface="Arial" panose="020B0604020202090204"/>
                <a:cs typeface="Arial" panose="020B0604020202090204"/>
              </a:defRPr>
            </a:pPr>
            <a:r>
              <a:rPr sz="1950" b="0">
                <a:solidFill>
                  <a:srgbClr val="152A46"/>
                </a:solidFill>
                <a:latin typeface="Arial" panose="020B0604020202090204"/>
                <a:ea typeface="Arial" panose="020B0604020202090204"/>
                <a:cs typeface="Arial" panose="020B0604020202090204"/>
              </a:rPr>
              <a:t>https://doi.org/10.18089/tms.2017.13203</a:t>
            </a:r>
            <a:endParaRPr sz="1950" b="0">
              <a:solidFill>
                <a:srgbClr val="152A46"/>
              </a:solidFill>
              <a:latin typeface="Arial" panose="020B0604020202090204"/>
              <a:ea typeface="Arial" panose="020B0604020202090204"/>
              <a:cs typeface="Arial" panose="020B0604020202090204"/>
            </a:endParaRPr>
          </a:p>
        </p:txBody>
      </p:sp>
      <p:sp>
        <p:nvSpPr>
          <p:cNvPr id="5" name="Rectangle 4"/>
          <p:cNvSpPr>
            <a:spLocks noGrp="1"/>
          </p:cNvSpPr>
          <p:nvPr/>
        </p:nvSpPr>
        <p:spPr>
          <a:xfrm>
            <a:off x="685800" y="4943475"/>
            <a:ext cx="10820400" cy="1095375"/>
          </a:xfrm>
          <a:prstGeom prst="rect">
            <a:avLst/>
          </a:prstGeom>
          <a:noFill/>
          <a:ln w="0">
            <a:noFill/>
          </a:ln>
        </p:spPr>
        <p:txBody>
          <a:bodyPr wrap="square" lIns="0" tIns="0" rIns="0" bIns="0" anchor="t">
            <a:noAutofit/>
          </a:bodyPr>
          <a:lstStyle>
            <a:defPPr>
              <a:defRPr sz="1800" b="0">
                <a:solidFill>
                  <a:srgbClr val="152A46"/>
                </a:solidFill>
                <a:latin typeface="Arial" panose="020B0604020202090204"/>
                <a:ea typeface="Arial" panose="020B0604020202090204"/>
                <a:cs typeface="Arial" panose="020B0604020202090204"/>
              </a:defRPr>
            </a:defPPr>
          </a:lstStyle>
          <a:p>
            <a:pPr>
              <a:defRPr sz="1800" b="0">
                <a:solidFill>
                  <a:srgbClr val="152A46"/>
                </a:solidFill>
                <a:latin typeface="Arial" panose="020B0604020202090204"/>
                <a:ea typeface="Arial" panose="020B0604020202090204"/>
                <a:cs typeface="Arial" panose="020B0604020202090204"/>
              </a:defRPr>
            </a:pPr>
            <a:r>
              <a:rPr sz="1800" b="0">
                <a:solidFill>
                  <a:srgbClr val="152A46"/>
                </a:solidFill>
                <a:latin typeface="Arial" panose="020B0604020202090204"/>
                <a:ea typeface="Arial" panose="020B0604020202090204"/>
                <a:cs typeface="Arial" panose="020B0604020202090204"/>
              </a:rPr>
              <a:t>[3] TidyTuesday (2020, February 11). Hotels.</a:t>
            </a:r>
            <a:endParaRPr sz="1800" b="0">
              <a:solidFill>
                <a:srgbClr val="152A46"/>
              </a:solidFill>
              <a:latin typeface="Arial" panose="020B0604020202090204"/>
              <a:ea typeface="Arial" panose="020B0604020202090204"/>
              <a:cs typeface="Arial" panose="020B0604020202090204"/>
            </a:endParaRPr>
          </a:p>
          <a:p>
            <a:pPr>
              <a:defRPr sz="1800" b="0">
                <a:solidFill>
                  <a:srgbClr val="152A46"/>
                </a:solidFill>
                <a:latin typeface="Arial" panose="020B0604020202090204"/>
                <a:ea typeface="Arial" panose="020B0604020202090204"/>
                <a:cs typeface="Arial" panose="020B0604020202090204"/>
              </a:defRPr>
            </a:pPr>
            <a:r>
              <a:rPr sz="1800" b="0">
                <a:solidFill>
                  <a:srgbClr val="152A46"/>
                </a:solidFill>
                <a:latin typeface="Arial" panose="020B0604020202090204"/>
                <a:ea typeface="Arial" panose="020B0604020202090204"/>
                <a:cs typeface="Arial" panose="020B0604020202090204"/>
              </a:rPr>
              <a:t>Data dictionary, merge script, and hotels.csv. Accessed October 8, 2026.</a:t>
            </a:r>
            <a:endParaRPr sz="1800" b="0">
              <a:solidFill>
                <a:srgbClr val="152A46"/>
              </a:solidFill>
              <a:latin typeface="Arial" panose="020B0604020202090204"/>
              <a:ea typeface="Arial" panose="020B0604020202090204"/>
              <a:cs typeface="Arial" panose="020B0604020202090204"/>
            </a:endParaRPr>
          </a:p>
          <a:p>
            <a:pPr>
              <a:defRPr sz="1800" b="0">
                <a:solidFill>
                  <a:srgbClr val="152A46"/>
                </a:solidFill>
                <a:latin typeface="Arial" panose="020B0604020202090204"/>
                <a:ea typeface="Arial" panose="020B0604020202090204"/>
                <a:cs typeface="Arial" panose="020B0604020202090204"/>
              </a:defRPr>
            </a:pPr>
            <a:r>
              <a:rPr sz="1800" b="0">
                <a:solidFill>
                  <a:srgbClr val="152A46"/>
                </a:solidFill>
                <a:latin typeface="Arial" panose="020B0604020202090204"/>
                <a:ea typeface="Arial" panose="020B0604020202090204"/>
                <a:cs typeface="Arial" panose="020B0604020202090204"/>
              </a:rPr>
              <a:t>github.com/rfordatascience/tidytuesday/tree/main/data/2020/2020-02-11</a:t>
            </a:r>
            <a:endParaRPr sz="1800" b="0">
              <a:solidFill>
                <a:srgbClr val="152A46"/>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4753</Words>
  <Application>WPS Docs</Application>
  <PresentationFormat>Converted Presentation</PresentationFormat>
  <Paragraphs>236</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Arial</vt:lpstr>
      <vt:lpstr>Microsoft YaHei</vt:lpstr>
      <vt:lpstr>方正雅意黑 GB18030L2</vt:lpstr>
      <vt:lpstr>Arial Unicode MS</vt:lpstr>
      <vt:lpstr>Aptos</vt:lpstr>
      <vt:lpstr>Helvetica Neue</vt:lpstr>
      <vt:lpstr>Calibri</vt:lpstr>
      <vt:lpstr>汉仪书宋二KW</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wz</cp:lastModifiedBy>
  <cp:revision>1</cp:revision>
  <dcterms:created xsi:type="dcterms:W3CDTF">2026-10-09T03:26:00Z</dcterms:created>
  <dcterms:modified xsi:type="dcterms:W3CDTF">2026-10-09T03:26:00Z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ACA697FBE9F50DBCC85EC86AE264B93A_43</vt:lpwstr>
  </property>
  <property fmtid="{D5CDD505-2E9C-101B-9397-08002B2CF9AE}" pid="3" name="KSOProductBuildVer">
    <vt:lpwstr>1033-12.1.28496.28496</vt:lpwstr>
  </property>
</Properties>
</file>