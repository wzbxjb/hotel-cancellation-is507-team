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7ba7411aa7f1471c" Type="http://schemas.openxmlformats.org/officeDocument/2006/relationships/officeDocument" Target="ppt/presentation.xml"/><Relationship Id="R9e0491542f4a45fb" Type="http://schemas.openxmlformats.org/officeDocument/2006/relationships/extended-properties" Target="docProps/app.xml"/><Relationship Id="R9ee56ce8a63b42e5"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2d592ca7a0084116"/>
  </p:sldMasterIdLst>
  <p:notesMasterIdLst>
    <p:notesMasterId xmlns:r="http://schemas.openxmlformats.org/officeDocument/2006/relationships" r:id="R3e06a6d0173e45df"/>
  </p:notesMasterIdLst>
  <p:sldIdLst>
    <p:sldId xmlns:r="http://schemas.openxmlformats.org/officeDocument/2006/relationships" id="256" r:id="Reeadac75b7ef416b"/>
    <p:sldId xmlns:r="http://schemas.openxmlformats.org/officeDocument/2006/relationships" id="257" r:id="R88e92a55cc724c0f"/>
    <p:sldId xmlns:r="http://schemas.openxmlformats.org/officeDocument/2006/relationships" id="258" r:id="Rd85fc3c93b214e2d"/>
    <p:sldId xmlns:r="http://schemas.openxmlformats.org/officeDocument/2006/relationships" id="259" r:id="R4ef590eb6d784c5e"/>
    <p:sldId xmlns:r="http://schemas.openxmlformats.org/officeDocument/2006/relationships" id="260" r:id="R7b633ba087c1407b"/>
    <p:sldId xmlns:r="http://schemas.openxmlformats.org/officeDocument/2006/relationships" id="261" r:id="R75aacc55842d475e"/>
    <p:sldId xmlns:r="http://schemas.openxmlformats.org/officeDocument/2006/relationships" id="262" r:id="Rf661b3b6074343ed"/>
    <p:sldId xmlns:r="http://schemas.openxmlformats.org/officeDocument/2006/relationships" id="263" r:id="Rb0b6b3d9c9fd4d74"/>
    <p:sldId xmlns:r="http://schemas.openxmlformats.org/officeDocument/2006/relationships" id="264" r:id="R6dba3eba14194e08"/>
    <p:sldId xmlns:r="http://schemas.openxmlformats.org/officeDocument/2006/relationships" id="265" r:id="R58bd510c55ca4b5b"/>
    <p:sldId xmlns:r="http://schemas.openxmlformats.org/officeDocument/2006/relationships" id="266" r:id="R1629fd1a0b8842d8"/>
    <p:sldId xmlns:r="http://schemas.openxmlformats.org/officeDocument/2006/relationships" id="267" r:id="Ra2c0e648dcf44c86"/>
    <p:sldId xmlns:r="http://schemas.openxmlformats.org/officeDocument/2006/relationships" id="268" r:id="R03790e2268c247fa"/>
    <p:sldId xmlns:r="http://schemas.openxmlformats.org/officeDocument/2006/relationships" id="269" r:id="R2d5eddc15be54ac1"/>
    <p:sldId xmlns:r="http://schemas.openxmlformats.org/officeDocument/2006/relationships" id="270" r:id="Rc4ca4716e3754b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790e2268c247fa" Type="http://schemas.openxmlformats.org/officeDocument/2006/relationships/slide" Target="slides/slide13.xml"/><Relationship Id="R1629fd1a0b8842d8" Type="http://schemas.openxmlformats.org/officeDocument/2006/relationships/slide" Target="slides/slide11.xml"/><Relationship Id="R19c891b0545e41d3" Type="http://schemas.openxmlformats.org/officeDocument/2006/relationships/tableStyles" Target="tableStyles.xml"/><Relationship Id="R2d592ca7a0084116" Type="http://schemas.openxmlformats.org/officeDocument/2006/relationships/slideMaster" Target="slideMasters/slideMaster1.xml"/><Relationship Id="R2d5eddc15be54ac1" Type="http://schemas.openxmlformats.org/officeDocument/2006/relationships/slide" Target="slides/slide14.xml"/><Relationship Id="R3e06a6d0173e45df" Type="http://schemas.openxmlformats.org/officeDocument/2006/relationships/notesMaster" Target="notesMasters/notesMaster1.xml"/><Relationship Id="R4ef590eb6d784c5e" Type="http://schemas.openxmlformats.org/officeDocument/2006/relationships/slide" Target="slides/slide4.xml"/><Relationship Id="R58bd510c55ca4b5b" Type="http://schemas.openxmlformats.org/officeDocument/2006/relationships/slide" Target="slides/slide10.xml"/><Relationship Id="R6dba3eba14194e08" Type="http://schemas.openxmlformats.org/officeDocument/2006/relationships/slide" Target="slides/slide9.xml"/><Relationship Id="R75aacc55842d475e" Type="http://schemas.openxmlformats.org/officeDocument/2006/relationships/slide" Target="slides/slide6.xml"/><Relationship Id="R7b633ba087c1407b" Type="http://schemas.openxmlformats.org/officeDocument/2006/relationships/slide" Target="slides/slide5.xml"/><Relationship Id="R88e92a55cc724c0f" Type="http://schemas.openxmlformats.org/officeDocument/2006/relationships/slide" Target="slides/slide2.xml"/><Relationship Id="Ra2c0e648dcf44c86" Type="http://schemas.openxmlformats.org/officeDocument/2006/relationships/slide" Target="slides/slide12.xml"/><Relationship Id="Rb0b6b3d9c9fd4d74" Type="http://schemas.openxmlformats.org/officeDocument/2006/relationships/slide" Target="slides/slide8.xml"/><Relationship Id="Rb810e3c776e04c67" Type="http://schemas.openxmlformats.org/officeDocument/2006/relationships/theme" Target="theme/theme1.xml"/><Relationship Id="Rc4ca4716e3754b52" Type="http://schemas.openxmlformats.org/officeDocument/2006/relationships/slide" Target="slides/slide15.xml"/><Relationship Id="Rd85fc3c93b214e2d" Type="http://schemas.openxmlformats.org/officeDocument/2006/relationships/slide" Target="slides/slide3.xml"/><Relationship Id="Reeadac75b7ef416b" Type="http://schemas.openxmlformats.org/officeDocument/2006/relationships/slide" Target="slides/slide1.xml"/><Relationship Id="Rf661b3b6074343ed" Type="http://schemas.openxmlformats.org/officeDocument/2006/relationships/slide" Target="slides/slide7.xml"/><Relationship Id="Rf8e872608e19485c"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8a71432bdc9042de"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606e80eac6ad4046" Type="http://schemas.openxmlformats.org/officeDocument/2006/relationships/slide" Target="../slides/slide1.xml"/><Relationship Id="R6a11f68daa3e456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a94b05b904a24166" Type="http://schemas.openxmlformats.org/officeDocument/2006/relationships/slide" Target="../slides/slide2.xml"/><Relationship Id="Rb47bc344afe044d3"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2f0bfd8ce44a4314" Type="http://schemas.openxmlformats.org/officeDocument/2006/relationships/notesMaster" Target="../notesMasters/notesMaster1.xml"/><Relationship Id="Rd7939a9214394839"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7ab052bdfd4e4dcc" Type="http://schemas.openxmlformats.org/officeDocument/2006/relationships/notesMaster" Target="../notesMasters/notesMaster1.xml"/><Relationship Id="Ra1a324222e4e4417"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146a7c7c881e4fa7" Type="http://schemas.openxmlformats.org/officeDocument/2006/relationships/notesMaster" Target="../notesMasters/notesMaster1.xml"/><Relationship Id="Red0d922505704c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bcab0e327abf4c83" Type="http://schemas.openxmlformats.org/officeDocument/2006/relationships/slide" Target="../slides/slide6.xml"/><Relationship Id="Rc56430eaa1154d3e"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91e54c9cc78f46fd" Type="http://schemas.openxmlformats.org/officeDocument/2006/relationships/notesMaster" Target="../notesMasters/notesMaster1.xml"/><Relationship Id="Rf8c2501ee12d417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449f649060a442b2" Type="http://schemas.openxmlformats.org/officeDocument/2006/relationships/slide" Target="../slides/slide8.xml"/><Relationship Id="R61f798f2c6e34ee3"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a4900dbe2da6473e" Type="http://schemas.openxmlformats.org/officeDocument/2006/relationships/notesMaster" Target="../notesMasters/notesMaster1.xml"/><Relationship Id="Rbdd382bb020544b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0e55ee90f1a94110" Type="http://schemas.openxmlformats.org/officeDocument/2006/relationships/slide" Target="../slides/slide10.xml"/><Relationship Id="Rc4f0ce6041fb4e4b"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479c8dda51af44e3" Type="http://schemas.openxmlformats.org/officeDocument/2006/relationships/notesMaster" Target="../notesMasters/notesMaster1.xml"/><Relationship Id="R9639786570d14139"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3606d051eabc4a3f" Type="http://schemas.openxmlformats.org/officeDocument/2006/relationships/notesMaster" Target="../notesMasters/notesMaster1.xml"/><Relationship Id="R5ff782c5c0074ca5"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826a19c2aca44144" Type="http://schemas.openxmlformats.org/officeDocument/2006/relationships/slide" Target="../slides/slide13.xml"/><Relationship Id="R9568c46d4b2e4ee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f6ff07d1d94845b7" Type="http://schemas.openxmlformats.org/officeDocument/2006/relationships/notesMaster" Target="../notesMasters/notesMaster1.xml"/><Relationship Id="Rf8a4f76f6e164d2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76d4db1c89554fb1" Type="http://schemas.openxmlformats.org/officeDocument/2006/relationships/slide" Target="../slides/slide15.xml"/><Relationship Id="R8c3ad657b5464d0f"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target: 15 seconds</a:t>
            </a:r>
          </a:p>
          <a:p xmlns:a="http://schemas.openxmlformats.org/drawingml/2006/main">
            <a:r>
              <a:t/>
            </a:r>
          </a:p>
          <a:p xmlns:a="http://schemas.openxmlformats.org/drawingml/2006/main">
            <a:r>
              <a:t>We are Group 16, Zhe Wang and Zhengxuan Du. Our midterm question is whether recorded hotel booking details can help identify cancellations and no-shows. We focus on initial analysis and what the evidence can support.</a:t>
            </a:r>
          </a:p>
          <a:p xmlns:a="http://schemas.openxmlformats.org/drawingml/2006/main">
            <a:r>
              <a:t/>
            </a:r>
          </a:p>
          <a:p xmlns:a="http://schemas.openxmlformats.org/drawingml/2006/main">
            <a:r>
              <a:t>Evidence / sources: Project analysis: frozen specification; source-linked results in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target: 50 seconds</a:t>
            </a:r>
          </a:p>
          <a:p xmlns:a="http://schemas.openxmlformats.org/drawingml/2006/main"/>
          <a:p xmlns:a="http://schemas.openxmlformats.org/drawingml/2006/main">
            <a:r>
              <a:t>A booking reserves a room for a future stay. A cancellation calls off the reservation. A no-show means the guest does not arrive. We call both outcomes noncompletion. For example, a Friday reservation that cancels leaves the hotel less certain about occupancy. We chose this applied prediction question to connect customer behavior with service planning. A score might help prioritize booking reviews. Related work supports feasibility: Antonio and colleagues showed cancellation prediction works on resort hotel data, though with a different scope; it is not our benchmark. Our study measures prediction quality, without measuring money saved or cancellations prevented.</a:t>
            </a:r>
          </a:p>
          <a:p xmlns:a="http://schemas.openxmlformats.org/drawingml/2006/main"/>
          <a:p xmlns:a="http://schemas.openxmlformats.org/drawingml/2006/main">
            <a:r>
              <a:t>Evidence / sources: Project analysis: frozen specification; source-linked results in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target: 40 seconds</a:t>
            </a:r>
          </a:p>
          <a:p xmlns:a="http://schemas.openxmlformats.org/drawingml/2006/main">
            <a:r>
              <a:t/>
            </a:r>
          </a:p>
          <a:p xmlns:a="http://schemas.openxmlformats.org/drawingml/2006/main">
            <a:r>
              <a:t>The original paper describes operational records from two Portuguese hotels, extracted from property management systems and booking change logs. We use the TidyTuesday combined file: 119,390 bookings and 32 columns. Arrivals span July 2015 to August 2017. One row is a booking, not a unique person. A guest or group can generate multiple records. These two hotels do not represent the entire hotel industry.</a:t>
            </a:r>
          </a:p>
          <a:p xmlns:a="http://schemas.openxmlformats.org/drawingml/2006/main">
            <a:r>
              <a:t/>
            </a:r>
          </a:p>
          <a:p xmlns:a="http://schemas.openxmlformats.org/drawingml/2006/main">
            <a:r>
              <a:t>Evidence / sources: Original paper: https://doi.org/10.1016/j.dib.2018.11.126; combined CSV: https://github.com/rfordatascience/tidytuesday/tree/main/data/2020/2020-02-11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target: 45 seconds</a:t>
            </a:r>
          </a:p>
          <a:p xmlns:a="http://schemas.openxmlformats.org/drawingml/2006/main">
            <a:r>
              <a:t/>
            </a:r>
          </a:p>
          <a:p xmlns:a="http://schemas.openxmlformats.org/drawingml/2006/main">
            <a:r>
              <a:t>Y is the eventual recorded outcome. One includes cancellation or no-show; zero means a completed stay recorded as Check-Out. Lead time means days between booking and arrival. X includes the hotel, lead time, planned stay, guest counts and booking choices. Logistic regression returns a probability. A value of 0.8 would mean an estimated 80 percent risk. This example explains the output. Our primary loss is log loss, which checks probabilities against outcomes and penalizes confident mistakes. Lower is better. We do not predict a fixed 30-day outcome.</a:t>
            </a:r>
          </a:p>
          <a:p xmlns:a="http://schemas.openxmlformats.org/drawingml/2006/main">
            <a:r>
              <a:t/>
            </a:r>
          </a:p>
          <a:p xmlns:a="http://schemas.openxmlformats.org/drawingml/2006/main">
            <a:r>
              <a:t>Evidence / sources: Project analysis: frozen specification; source-linked results in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target: 50 seconds</a:t>
            </a:r>
          </a:p>
          <a:p xmlns:a="http://schemas.openxmlformats.org/drawingml/2006/main">
            <a:r>
              <a:t/>
            </a:r>
          </a:p>
          <a:p xmlns:a="http://schemas.openxmlformats.org/drawingml/2006/main">
            <a:r>
              <a:t>Ideally we would predict at reservation creation. At that time, the final status is unknown, so using it would reveal the answer. This is data leakage. We also exclude later room assignments, accumulated changes and transaction-derived fields. However, the source supplies attributes extracted relative to the day before arrival. Even retained room or stay information might have changed. Removing obvious leakage cannot recover initial values. Our actual experiment evaluates recorded past bookings. Performance at original booking creation remains unverified.</a:t>
            </a:r>
          </a:p>
          <a:p xmlns:a="http://schemas.openxmlformats.org/drawingml/2006/main">
            <a:r>
              <a:t/>
            </a:r>
          </a:p>
          <a:p xmlns:a="http://schemas.openxmlformats.org/drawingml/2006/main">
            <a:r>
              <a:t>Evidence / sources: Source extraction methods and dictionary: https://doi.org/10.1016/j.dib.2018.11.126; tables/prediction_time_leakage_audit.csv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target: 55 seconds</a:t>
            </a:r>
          </a:p>
          <a:p xmlns:a="http://schemas.openxmlformats.org/drawingml/2006/main"/>
          <a:p xmlns:a="http://schemas.openxmlformats.org/drawingml/2006/main">
            <a:r>
              <a:t>We derive an estimated booking date by subtracting lead time from arrival. Training uses July 2015 through June 2016. Validation uses July through December 2016. Both final status and planned departure must precede each cutoff. A December cancellation for a February stay has a known outcome but fails our departure rule. The rule limits preferential admission of early cancellations for future stays, while defining a selected population. It excludes about 47 percent of validation candidates. Neither rule guarantees an unbiased sample. The existing later test has already been scored; details are in the backup.</a:t>
            </a:r>
          </a:p>
          <a:p xmlns:a="http://schemas.openxmlformats.org/drawingml/2006/main"/>
          <a:p xmlns:a="http://schemas.openxmlformats.org/drawingml/2006/main">
            <a:r>
              <a:t>Evidence / sources: src/utils.py assign_partition; tables/maturity_rule_audit.csv; docs/FINAL_EVALUATION_PROTOCOL.md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target: 50 seconds</a:t>
            </a:r>
          </a:p>
          <a:p xmlns:a="http://schemas.openxmlformats.org/drawingml/2006/main">
            <a:r>
              <a:t/>
            </a:r>
          </a:p>
          <a:p xmlns:a="http://schemas.openxmlformats.org/drawingml/2006/main">
            <a:r>
              <a:t>All learned preparation comes from training. We fill four missing children counts with the training median, encode categories and scale numeric inputs. Different group bookings can look identical, so we keep repeated rows and examine alternatives. Training lead time has median 38 days and a middle half from 8 to 94 days. The city hotel has a 35.05 percent noncompletion fraction, versus 22.35 percent at the resort. These are associations in two selected establishments, not a causal hotel-type effect. Missing guest and group IDs prevent verifying independence.</a:t>
            </a:r>
          </a:p>
          <a:p xmlns:a="http://schemas.openxmlformats.org/drawingml/2006/main">
            <a:r>
              <a:t/>
            </a:r>
          </a:p>
          <a:p xmlns:a="http://schemas.openxmlformats.org/drawingml/2006/main">
            <a:r>
              <a:t>Evidence / sources: tables/train_distributions.csv; tables/eda_hotel.csv; tables/raw_missing_tokens.csv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target: 50 seconds</a:t>
            </a:r>
          </a:p>
          <a:p xmlns:a="http://schemas.openxmlformats.org/drawingml/2006/main">
            <a:r>
              <a:t/>
            </a:r>
          </a:p>
          <a:p xmlns:a="http://schemas.openxmlformats.org/drawingml/2006/main">
            <a:r>
              <a:t>Our baseline assigns every booking the training positive fraction, 30.75 percent. It uses no individual details and no validation outcomes. Logistic regression combines booking inputs into log-odds, then converts them to a probability. Regularization discourages extreme coefficients. We fit once on training, with fixed settings and no parameter search. Both models face exactly the same validation rows. We evaluate probabilities with log loss and ordering with AUC. AUC asks how often a positive receives a higher score than a negative. A constant baseline has AUC 0.5.</a:t>
            </a:r>
          </a:p>
          <a:p xmlns:a="http://schemas.openxmlformats.org/drawingml/2006/main">
            <a:r>
              <a:t/>
            </a:r>
          </a:p>
          <a:p xmlns:a="http://schemas.openxmlformats.org/drawingml/2006/main">
            <a:r>
              <a:t>Evidence / sources: Project analysis: frozen specification; source-linked results in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target: 60 seconds</a:t>
            </a:r>
          </a:p>
          <a:p xmlns:a="http://schemas.openxmlformats.org/drawingml/2006/main">
            <a:r>
              <a:t/>
            </a:r>
          </a:p>
          <a:p xmlns:a="http://schemas.openxmlformats.org/drawingml/2006/main">
            <a:r>
              <a:t>On 14,088 validation bookings, logistic log loss is 0.5517 versus 0.5800 for the baseline, a 4.88 percent relative reduction. AUC improves from 0.5 to 0.6584, suggesting some ranking information. The default rule flags probabilities at or above 50 percent. It detects only 11 of 3,689 actual cases. Accuracy is around 74 percent, even though nearly every cancellation or no-show is missed. The baseline achieves similar accuracy by alerting nobody. These results separate useful probability or ranking information from a useful alert system.</a:t>
            </a:r>
          </a:p>
          <a:p xmlns:a="http://schemas.openxmlformats.org/drawingml/2006/main">
            <a:r>
              <a:t/>
            </a:r>
          </a:p>
          <a:p xmlns:a="http://schemas.openxmlformats.org/drawingml/2006/main">
            <a:r>
              <a:t>Evidence / sources: tables/validation_metrics.csv; data/processed/validation_predictions.csv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Speaking target: 90 seconds</a:t>
            </a:r>
          </a:p>
          <a:p xmlns:a="http://schemas.openxmlformats.org/drawingml/2006/main"/>
          <a:p xmlns:a="http://schemas.openxmlformats.org/drawingml/2006/main">
            <a:r>
              <a:t>A probability becomes an alert only after choosing a rule. At a 50 percent threshold we detect 11 cases and raise 24 false alerts. At 30 percent we detect 1,058 cases, but raise 1,398 false alerts. At 20 percent recall reaches about 74 percent with 5,353 false alerts. These development checks do not select a business policy: the acceptable cost and review capacity are unknown. Separately, the highest-scored ten percent contains 679 cases among 1,409 bookings, about 48 percent compared with 26 percent overall. It still finds only 18 percent of all cases. The error audit shows that the few default alerts tend to have longer lead times. Those small groups suggest where to investigate, without explaining guest motives.</a:t>
            </a:r>
          </a:p>
          <a:p xmlns:a="http://schemas.openxmlformats.org/drawingml/2006/main"/>
          <a:p xmlns:a="http://schemas.openxmlformats.org/drawingml/2006/main">
            <a:r>
              <a:t>Evidence / sources: tables/threshold_diagnostics.csv; tables/ranking_capacity.csv; tables/error_summary.csv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target: 50 seconds</a:t>
            </a:r>
          </a:p>
          <a:p xmlns:a="http://schemas.openxmlformats.org/drawingml/2006/main"/>
          <a:p xmlns:a="http://schemas.openxmlformats.org/drawingml/2006/main">
            <a:r>
              <a:t>Our initial analysis finds limited retrospective ranking and probability improvement. The default alert rule performs poorly, and lower thresholds require explicit choices about false alerts. Original booking-time inputs and a more representative cohort remain unresolved. Our next steps are to examine cohort and error patterns on development data, collect original timestamped inputs and define review capacity before evaluating a practical rule on new bookings. Both members participate in every stage. Zhe places greater emphasis on coding and Zhengxuan on slides, while both understand and explain the full analysis. We are not proposing deployment based on these results. Models under consideration include a random forest comparison with the same restricted features, judged by held-out log loss.</a:t>
            </a:r>
          </a:p>
          <a:p xmlns:a="http://schemas.openxmlformats.org/drawingml/2006/main"/>
          <a:p xmlns:a="http://schemas.openxmlformats.org/drawingml/2006/main">
            <a:r>
              <a:t>Evidence / sources: Project analysis: frozen specification; source-linked results in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a:t>
            </a:r>
          </a:p>
          <a:p xmlns:a="http://schemas.openxmlformats.org/drawingml/2006/main">
            <a:r>
              <a:t/>
            </a:r>
          </a:p>
          <a:p xmlns:a="http://schemas.openxmlformats.org/drawingml/2006/main">
            <a:r>
              <a:t>L2 logistic regression uses C=1, lbfgs, max_iter=3000 and seed 507. It has 39 encoded columns and converges in 46 iterations. The inputs are lead time, weekday/weekend nights, adults, children, babies, cyclic month, hotel, meal, market segment, channel and reserved room. The same validation rows compare primary, deduplicated-training and minimal-feature models. Unique validation evaluation changes the population, so its Brier improvement alone cannot show a better model.</a:t>
            </a:r>
          </a:p>
          <a:p xmlns:a="http://schemas.openxmlformats.org/drawingml/2006/main">
            <a:r>
              <a:t/>
            </a:r>
          </a:p>
          <a:p xmlns:a="http://schemas.openxmlformats.org/drawingml/2006/main">
            <a:r>
              <a:t>Evidence / sources: src/utils.py; tables/model_specification.csv; tables/validation_metrics.csv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a:t>
            </a:r>
          </a:p>
          <a:p xmlns:a="http://schemas.openxmlformats.org/drawingml/2006/main">
            <a:r>
              <a:t/>
            </a:r>
          </a:p>
          <a:p xmlns:a="http://schemas.openxmlformats.org/drawingml/2006/main">
            <a:r>
              <a:t>On October 8 the frozen protocol evaluated January-May 2017 bookings. There are 22,541 included rows. We retain the unchanged train-only model and disclose all results. The test has already been inspected and cannot become a fresh unknown test after tuning. Of the original 26,565 holdout rows, 3,696 later proxy dates are unused and 328 window candidates are ineligible. This supports another selected-period comparison rather than original booking-time deployment.</a:t>
            </a:r>
          </a:p>
          <a:p xmlns:a="http://schemas.openxmlformats.org/drawingml/2006/main">
            <a:r>
              <a:t/>
            </a:r>
          </a:p>
          <a:p xmlns:a="http://schemas.openxmlformats.org/drawingml/2006/main">
            <a:r>
              <a:t>Evidence / sources: docs/FINAL_EVALUATION_PROTOCOL.md; tables/final_test_results.json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a:t>
            </a:r>
          </a:p>
          <a:p xmlns:a="http://schemas.openxmlformats.org/drawingml/2006/main">
            <a:r>
              <a:t/>
            </a:r>
          </a:p>
          <a:p xmlns:a="http://schemas.openxmlformats.org/drawingml/2006/main">
            <a:r>
              <a:t>We resample 27 booking-week clusters 400 times with the fitted model fixed. A week resample preserves some within-week dependence, unlike independently drawing every row. It cannot identify repeated guests across weeks. The AUC range is conditional on the fitted model and exchangeable weeks. It does not include training uncertainty, unknown guest dependence, source timing or cohort selection bias. No population coverage guarantee is made. Train deduplication changes learning weights, while unique validation changes the evaluated population.</a:t>
            </a:r>
          </a:p>
          <a:p xmlns:a="http://schemas.openxmlformats.org/drawingml/2006/main">
            <a:r>
              <a:t/>
            </a:r>
          </a:p>
          <a:p xmlns:a="http://schemas.openxmlformats.org/drawingml/2006/main">
            <a:r>
              <a:t>Evidence / sources: src/analysis.py errors; tables/week_cluster_bootstrap.csv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a:t>
            </a:r>
          </a:p>
          <a:p xmlns:a="http://schemas.openxmlformats.org/drawingml/2006/main">
            <a:r>
              <a:t/>
            </a:r>
          </a:p>
          <a:p xmlns:a="http://schemas.openxmlformats.org/drawingml/2006/main">
            <a:r>
              <a:t>Both members participate in every stage, including question formulation, data review, preprocessing, model evaluation, interpretation, report writing and presentation preparation. Zhe Wang places greater emphasis on coding, while Zhengxuan Du places greater emphasis on slides. Both check claims against outputs and understand the complete workflow. The team submits one report and both members join the correct Project Teams group. The code requires an accessible GitHub link.</a:t>
            </a:r>
          </a:p>
          <a:p xmlns:a="http://schemas.openxmlformats.org/drawingml/2006/main">
            <a:r>
              <a:t/>
            </a:r>
          </a:p>
          <a:p xmlns:a="http://schemas.openxmlformats.org/drawingml/2006/main">
            <a:r>
              <a:t>Evidence / sources: User-confirmed roles; original paper https://doi.org/10.1016/j.dib.2018.11.126; TidyTuesday https://github.com/rfordatascience/tidytuesday/tree/main/data/2020/2020-02-11; user-supplied Lecture 9 pp.75-80 and midterm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816099bed0c14a10"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754cef3a242c46de"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57654559e9c0439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a4e6218f45b64b76"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53bd9792eb4d467c"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9182c7d818744029"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913882-5CD7-48B5-B263-F6C7953455F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7B6760-BC93-472F-8635-C1F9CCF1C2D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38E016-E76C-4A61-9E00-AF3AABD64B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F83A8A-535A-4277-8C70-E7EB917EB7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4F797B4-1A33-4A8C-8DF2-EBBFCB340BF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57B0DD3-7B3C-40C6-A917-803A060180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783A2A-C3F6-4606-ABCF-CB98C763D5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325726F-94F0-4AC8-9546-4061A17C467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FD3090-3E27-447D-8B76-53D4EBBE3F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C002A8-4E4C-474C-A3B1-D2D472A2F4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56e02e0454e48e7" Type="http://schemas.openxmlformats.org/officeDocument/2006/relationships/slideLayout" Target="../slideLayouts/slideLayout2.xml"/><Relationship Id="R168d0f4adb3d4c8e" Type="http://schemas.openxmlformats.org/officeDocument/2006/relationships/slideLayout" Target="../slideLayouts/slideLayout5.xml"/><Relationship Id="R19113e1cea044d96" Type="http://schemas.openxmlformats.org/officeDocument/2006/relationships/slideLayout" Target="../slideLayouts/slideLayout3.xml"/><Relationship Id="R7efede0aa30841e5" Type="http://schemas.openxmlformats.org/officeDocument/2006/relationships/slideLayout" Target="../slideLayouts/slideLayout4.xml"/><Relationship Id="Rd4c769fcb6ae4748" Type="http://schemas.openxmlformats.org/officeDocument/2006/relationships/slideLayout" Target="../slideLayouts/slideLayout6.xml"/><Relationship Id="Re0791f59deb24276" Type="http://schemas.openxmlformats.org/officeDocument/2006/relationships/slideLayout" Target="../slideLayouts/slideLayout1.xml"/><Relationship Id="Rfd9240214d4e47d6"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791f59deb24276"/>
    <p:sldLayoutId xmlns:r="http://schemas.openxmlformats.org/officeDocument/2006/relationships" id="2147483650" r:id="R156e02e0454e48e7"/>
    <p:sldLayoutId xmlns:r="http://schemas.openxmlformats.org/officeDocument/2006/relationships" id="2147483651" r:id="R19113e1cea044d96"/>
    <p:sldLayoutId xmlns:r="http://schemas.openxmlformats.org/officeDocument/2006/relationships" id="2147483652" r:id="R7efede0aa30841e5"/>
    <p:sldLayoutId xmlns:r="http://schemas.openxmlformats.org/officeDocument/2006/relationships" id="2147483653" r:id="R168d0f4adb3d4c8e"/>
    <p:sldLayoutId xmlns:r="http://schemas.openxmlformats.org/officeDocument/2006/relationships" id="2147483654" r:id="Rd4c769fcb6ae47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8c083451054943a3" Type="http://schemas.openxmlformats.org/officeDocument/2006/relationships/notesSlide" Target="../notesSlides/notesSlide1.xml"/><Relationship Id="Ref3efc7127a24f09"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692d478030914300" Type="http://schemas.openxmlformats.org/officeDocument/2006/relationships/slideLayout" Target="../slideLayouts/slideLayout6.xml"/><Relationship Id="Rf71c121860f24bf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253b6731e26b4b9f" Type="http://schemas.openxmlformats.org/officeDocument/2006/relationships/slideLayout" Target="../slideLayouts/slideLayout6.xml"/><Relationship Id="R8d5a21b5057b4562" Type="http://schemas.openxmlformats.org/officeDocument/2006/relationships/chart" Target="charts/chart1.xml"/><Relationship Id="Rd229a2e8a22d4fdd"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96753b6351bc4f12" Type="http://schemas.openxmlformats.org/officeDocument/2006/relationships/notesSlide" Target="../notesSlides/notesSlide4.xml"/><Relationship Id="Ra48390e520a64f72"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a0a1115c8193404d" Type="http://schemas.openxmlformats.org/officeDocument/2006/relationships/notesSlide" Target="../notesSlides/notesSlide5.xml"/><Relationship Id="Rde85a9398f1d43e4"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1a88223eece54bd8" Type="http://schemas.openxmlformats.org/officeDocument/2006/relationships/notesSlide" Target="../notesSlides/notesSlide6.xml"/><Relationship Id="R76e0069d71ab477b"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0e897722e3a04904" Type="http://schemas.openxmlformats.org/officeDocument/2006/relationships/slideLayout" Target="../slideLayouts/slideLayout6.xml"/><Relationship Id="Re928f27c45c34ae8" Type="http://schemas.openxmlformats.org/officeDocument/2006/relationships/notesSlide" Target="../notesSlides/notesSlide7.xml"/><Relationship Id="Rfd189b4c27394576" Type="http://schemas.openxmlformats.org/officeDocument/2006/relationships/chart" Target="charts/chart2.xml"/></Relationships>
</file>

<file path=ppt/slides/_rels/slide8.xml.rels><?xml version='1.0' encoding='UTF-8' standalone='yes'?>
<Relationships xmlns="http://schemas.openxmlformats.org/package/2006/relationships"><Relationship Id="R1544e4bf12d146aa" Type="http://schemas.openxmlformats.org/officeDocument/2006/relationships/notesSlide" Target="../notesSlides/notesSlide8.xml"/><Relationship Id="R19287dfbc04d4d7d"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746c910265994313" Type="http://schemas.openxmlformats.org/officeDocument/2006/relationships/notesSlide" Target="../notesSlides/notesSlide9.xml"/><Relationship Id="Rbbbd2c558d5b48ee"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b8f9f44fb5e94cd0" Type="http://schemas.openxmlformats.org/officeDocument/2006/relationships/slideLayout" Target="../slideLayouts/slideLayout6.xml"/><Relationship Id="Rcbc7899604784f8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123082245e2c4671" Type="http://schemas.openxmlformats.org/officeDocument/2006/relationships/slideLayout" Target="../slideLayouts/slideLayout6.xml"/><Relationship Id="R73f20a6d482f4a0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574928ba032d4d9f" Type="http://schemas.openxmlformats.org/officeDocument/2006/relationships/notesSlide" Target="../notesSlides/notesSlide12.xml"/><Relationship Id="Rd0e9cd6c4f0a4c3b"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17259019f0364e91" Type="http://schemas.openxmlformats.org/officeDocument/2006/relationships/slideLayout" Target="../slideLayouts/slideLayout6.xml"/><Relationship Id="Rcd52216bd698440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7a014b2e6a67451b" Type="http://schemas.openxmlformats.org/officeDocument/2006/relationships/notesSlide" Target="../notesSlides/notesSlide14.xml"/><Relationship Id="R98a59b3983da48cb"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30d15bb0db444fba" Type="http://schemas.openxmlformats.org/officeDocument/2006/relationships/notesSlide" Target="../notesSlides/notesSlide15.xml"/><Relationship Id="R49252f22848846e6" Type="http://schemas.openxmlformats.org/officeDocument/2006/relationships/slideLayout" Target="../slideLayouts/slideLayout6.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Bookings</c:v>
          </c:tx>
          <c:spPr>
            <a:solidFill xmlns:a="http://schemas.openxmlformats.org/drawingml/2006/main">
              <a:srgbClr val="246A73"/>
            </a:solidFill>
          </c:spPr>
          <c:cat>
            <c:strRef>
              <c:f>'Chart Data'!$A$2:$A$3</c:f>
              <c:strCache>
                <c:ptCount val="2"/>
                <c:pt idx="0">
                  <c:v>Resort Hotel</c:v>
                </c:pt>
                <c:pt idx="1">
                  <c:v>City Hotel</c:v>
                </c:pt>
              </c:strCache>
            </c:strRef>
          </c:cat>
          <c:val>
            <c:numRef>
              <c:f>'Chart Data'!$B$2:$B$3</c:f>
              <c:numCache>
                <c:formatCode>#,##0</c:formatCode>
                <c:ptCount val="2"/>
                <c:pt idx="0">
                  <c:v>40060</c:v>
                </c:pt>
                <c:pt idx="1">
                  <c:v>79330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b="1">
                  <a:solidFill>
                    <a:srgbClr val="16333B"/>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6333B"/>
                </a:solidFill>
                <a:latin typeface="Arial"/>
                <a:ea typeface="Arial"/>
                <a:cs typeface="Arial"/>
              </a:defRPr>
            </a:pPr>
          </a:p>
        </c:txPr>
        <c:crossAx val="48672768"/>
      </c:catAx>
      <c:valAx>
        <c:axId val="48672768"/>
        <c:scaling>
          <c:orientation val="minMax"/>
          <c:max val="90000"/>
          <c:min val="0"/>
        </c:scaling>
        <c:delete val="0"/>
        <c:axPos val="l"/>
        <c:majorGridlines>
          <c:spPr>
            <a:ln xmlns:a="http://schemas.openxmlformats.org/drawingml/2006/main" w="9525">
              <a:solidFill>
                <a:srgbClr val="D9E0D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96F75"/>
                </a:solidFill>
                <a:latin typeface="Arial"/>
                <a:ea typeface="Arial"/>
                <a:cs typeface="Arial"/>
              </a:defRPr>
            </a:pPr>
          </a:p>
        </c:txPr>
        <c:crossAx val="48650112"/>
        <c:crossBetween val="between"/>
        <c:majorUnit val="30000"/>
      </c:valAx>
      <c:spPr>
        <a:solidFill xmlns:a="http://schemas.openxmlformats.org/drawingml/2006/main">
          <a:srgbClr val="F7F4EE"/>
        </a:solidFill>
      </c:spPr>
    </c:plotArea>
    <c:plotVisOnly val="1"/>
  </c:chart>
  <c:spPr>
    <a:solidFill xmlns:a="http://schemas.openxmlformats.org/drawingml/2006/main">
      <a:srgbClr val="F7F4EE"/>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6333B"/>
                </a:solidFill>
                <a:latin typeface="Arial"/>
                <a:ea typeface="Arial"/>
                <a:cs typeface="Arial"/>
              </a:rPr>
              <a:t>Training noncompletion fraction</a:t>
            </a:r>
          </a:p>
        </c:rich>
      </c:tx>
      <c:overlay val="0"/>
      <c:txPr>
        <a:bodyPr xmlns:a="http://schemas.openxmlformats.org/drawingml/2006/main" anchorCtr="1"/>
        <a:lstStyle xmlns:a="http://schemas.openxmlformats.org/drawingml/2006/main"/>
        <a:p xmlns:a="http://schemas.openxmlformats.org/drawingml/2006/main">
          <a:pPr>
            <a:defRPr sz="1800" b="1">
              <a:solidFill>
                <a:srgbClr val="16333B"/>
              </a:solidFill>
              <a:latin typeface="Arial"/>
              <a:ea typeface="Arial"/>
              <a:cs typeface="Arial"/>
            </a:defRPr>
          </a:pPr>
        </a:p>
      </c:txPr>
    </c:title>
    <c:plotArea>
      <c:barChart>
        <c:barDir val="col"/>
        <c:varyColors val="0"/>
        <c:ser>
          <c:idx val="0"/>
          <c:order val="0"/>
          <c:tx>
            <c:v>Noncompletion</c:v>
          </c:tx>
          <c:spPr>
            <a:solidFill xmlns:a="http://schemas.openxmlformats.org/drawingml/2006/main">
              <a:srgbClr val="246A73"/>
            </a:solidFill>
          </c:spPr>
          <c:cat>
            <c:strRef>
              <c:f>'Chart Data'!$A$2:$A$3</c:f>
              <c:strCache>
                <c:ptCount val="2"/>
                <c:pt idx="0">
                  <c:v>City Hotel</c:v>
                </c:pt>
                <c:pt idx="1">
                  <c:v>Resort Hotel</c:v>
                </c:pt>
              </c:strCache>
            </c:strRef>
          </c:cat>
          <c:val>
            <c:numRef>
              <c:f>'Chart Data'!$B$2:$B$3</c:f>
              <c:numCache>
                <c:formatCode>0%</c:formatCode>
                <c:ptCount val="2"/>
                <c:pt idx="0">
                  <c:v>0.35053307</c:v>
                </c:pt>
                <c:pt idx="1">
                  <c:v>0.22349719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6333B"/>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6333B"/>
                </a:solidFill>
                <a:latin typeface="Arial"/>
                <a:ea typeface="Arial"/>
                <a:cs typeface="Arial"/>
              </a:defRPr>
            </a:pPr>
          </a:p>
        </c:txPr>
        <c:crossAx val="48672768"/>
      </c:catAx>
      <c:valAx>
        <c:axId val="48672768"/>
        <c:scaling>
          <c:orientation val="minMax"/>
          <c:max val="0.45"/>
          <c:min val="0"/>
        </c:scaling>
        <c:delete val="0"/>
        <c:axPos val="l"/>
        <c:majorGridlines>
          <c:spPr>
            <a:ln xmlns:a="http://schemas.openxmlformats.org/drawingml/2006/main" w="9525">
              <a:solidFill>
                <a:srgbClr val="D9E0D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96F75"/>
                </a:solidFill>
                <a:latin typeface="Arial"/>
                <a:ea typeface="Arial"/>
                <a:cs typeface="Arial"/>
              </a:defRPr>
            </a:pPr>
          </a:p>
        </c:txPr>
        <c:crossAx val="48650112"/>
        <c:crossBetween val="between"/>
        <c:majorUnit val="0.15"/>
      </c:valAx>
      <c:spPr>
        <a:solidFill xmlns:a="http://schemas.openxmlformats.org/drawingml/2006/main">
          <a:srgbClr val="F7F4EE"/>
        </a:solidFill>
      </c:spPr>
    </c:plotArea>
    <c:plotVisOnly val="1"/>
  </c:chart>
  <c:spPr>
    <a:solidFill xmlns:a="http://schemas.openxmlformats.org/drawingml/2006/main">
      <a:srgbClr val="F7F4E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333B"/>
        </a:solidFill>
      </p:bgPr>
    </p:bg>
    <p:spTree>
      <p:nvGrpSpPr>
        <p:cNvPr id="1" name=""/>
        <p:cNvGrpSpPr/>
        <p:nvPr/>
      </p:nvGrpSpPr>
      <p:grpSpPr>
        <a:xfrm xmlns:a="http://schemas.openxmlformats.org/drawingml/2006/main"/>
      </p:grpSpPr>
      <p:sp>
        <p:nvSpPr>
          <p:cNvPr id="6" name="IS 507 Midterm  ·  1/11">
            <a:extLst xmlns:a="http://schemas.openxmlformats.org/drawingml/2006/main">
              <a:ext uri="{FF2B5EF4-FFF2-40B4-BE49-F238E27FC236}">
                <a16:creationId xmlns:a16="http://schemas.microsoft.com/office/drawing/2014/main" id="{D8E63203-FF31-4573-9127-A31EFAA8B7DF}"/>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BDD0CF"/>
                </a:solidFill>
                <a:latin typeface="Arial"/>
                <a:ea typeface="Arial"/>
                <a:cs typeface="Arial"/>
              </a:defRPr>
            </a:defPPr>
          </a:lstStyle>
          <a:p xmlns:a="http://schemas.openxmlformats.org/drawingml/2006/main">
            <a:r>
              <a:t>IS 507 Midterm  ·  1/10</a:t>
            </a:r>
          </a:p>
        </p:txBody>
      </p:sp>
      <p:sp>
        <p:nvSpPr>
          <p:cNvPr id="2" name="Hotel Cancellation&#10;Prediction">
            <a:extLst xmlns:a="http://schemas.openxmlformats.org/drawingml/2006/main">
              <a:ext uri="{FF2B5EF4-FFF2-40B4-BE49-F238E27FC236}">
                <a16:creationId xmlns:a16="http://schemas.microsoft.com/office/drawing/2014/main" id="{8229A619-9A62-40E1-A87C-EF31902EC1A7}"/>
              </a:ext>
            </a:extLst>
          </p:cNvPr>
          <p:cNvSpPr>
            <a:spLocks xmlns:a="http://schemas.openxmlformats.org/drawingml/2006/main" noGrp="1"/>
          </p:cNvSpPr>
          <p:nvPr/>
        </p:nvSpPr>
        <p:spPr>
          <a:xfrm xmlns:a="http://schemas.openxmlformats.org/drawingml/2006/main">
            <a:off x="628650" y="138112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FFFFFF"/>
                </a:solidFill>
                <a:latin typeface="Arial"/>
                <a:ea typeface="Arial"/>
                <a:cs typeface="Arial"/>
              </a:defRPr>
            </a:def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Hotel Cancellation</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Prediction</a:t>
            </a:r>
          </a:p>
        </p:txBody>
      </p:sp>
      <p:sp>
        <p:nvSpPr>
          <p:cNvPr id="3" name="Midterm: what can recorded booking details">
            <a:extLst xmlns:a="http://schemas.openxmlformats.org/drawingml/2006/main">
              <a:ext uri="{FF2B5EF4-FFF2-40B4-BE49-F238E27FC236}">
                <a16:creationId xmlns:a16="http://schemas.microsoft.com/office/drawing/2014/main" id="{5607BE1B-8BD6-4160-AFB7-17F28C2E2CBF}"/>
              </a:ext>
            </a:extLst>
          </p:cNvPr>
          <p:cNvSpPr>
            <a:spLocks xmlns:a="http://schemas.openxmlformats.org/drawingml/2006/main" noGrp="1"/>
          </p:cNvSpPr>
          <p:nvPr/>
        </p:nvSpPr>
        <p:spPr>
          <a:xfrm xmlns:a="http://schemas.openxmlformats.org/drawingml/2006/main">
            <a:off x="628650" y="37052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BDD0CF"/>
                </a:solidFill>
                <a:latin typeface="Arial"/>
                <a:ea typeface="Arial"/>
                <a:cs typeface="Arial"/>
              </a:defRPr>
            </a:defPPr>
          </a:lstStyle>
          <a:p xmlns:a="http://schemas.openxmlformats.org/drawingml/2006/main">
            <a:pPr>
              <a:defRPr sz="2400" b="0">
                <a:solidFill>
                  <a:srgbClr val="BDD0CF"/>
                </a:solidFill>
                <a:latin typeface="Arial"/>
                <a:ea typeface="Arial"/>
                <a:cs typeface="Arial"/>
              </a:defRPr>
            </a:pPr>
            <a:r>
              <a:rPr sz="2400" b="0">
                <a:solidFill>
                  <a:srgbClr val="BDD0CF"/>
                </a:solidFill>
                <a:latin typeface="Arial"/>
                <a:ea typeface="Arial"/>
                <a:cs typeface="Arial"/>
              </a:rPr>
              <a:t>Midterm: what can recorded booking details tell us?</a:t>
            </a:r>
          </a:p>
        </p:txBody>
      </p:sp>
      <p:sp>
        <p:nvSpPr>
          <p:cNvPr id="4" name="Group 16: Zhe Wang and Zhengxuan Du">
            <a:extLst xmlns:a="http://schemas.openxmlformats.org/drawingml/2006/main">
              <a:ext uri="{FF2B5EF4-FFF2-40B4-BE49-F238E27FC236}">
                <a16:creationId xmlns:a16="http://schemas.microsoft.com/office/drawing/2014/main" id="{08382FA5-ABA6-48D2-A2AA-97A7BB04B3DA}"/>
              </a:ext>
            </a:extLst>
          </p:cNvPr>
          <p:cNvSpPr>
            <a:spLocks xmlns:a="http://schemas.openxmlformats.org/drawingml/2006/main" noGrp="1"/>
          </p:cNvSpPr>
          <p:nvPr/>
        </p:nvSpPr>
        <p:spPr>
          <a:xfrm xmlns:a="http://schemas.openxmlformats.org/drawingml/2006/main">
            <a:off x="628650" y="5010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DD0CF"/>
                </a:solidFill>
                <a:latin typeface="Arial"/>
                <a:ea typeface="Arial"/>
                <a:cs typeface="Arial"/>
              </a:defRPr>
            </a:defPPr>
          </a:lstStyle>
          <a:p xmlns:a="http://schemas.openxmlformats.org/drawingml/2006/main">
            <a:pPr>
              <a:defRPr sz="2100" b="0">
                <a:solidFill>
                  <a:srgbClr val="BDD0CF"/>
                </a:solidFill>
                <a:latin typeface="Arial"/>
                <a:ea typeface="Arial"/>
                <a:cs typeface="Arial"/>
              </a:defRPr>
            </a:pPr>
            <a:r>
              <a:rPr sz="2100" b="0">
                <a:solidFill>
                  <a:srgbClr val="BDD0CF"/>
                </a:solidFill>
                <a:latin typeface="Arial"/>
                <a:ea typeface="Arial"/>
                <a:cs typeface="Arial"/>
              </a:rPr>
              <a:t>Group 16: Zhe Wang and Zhengxuan Du</a:t>
            </a:r>
          </a:p>
        </p:txBody>
      </p:sp>
      <p:sp>
        <p:nvSpPr>
          <p:cNvPr id="5" name="IS 507, Fall 2026">
            <a:extLst xmlns:a="http://schemas.openxmlformats.org/drawingml/2006/main">
              <a:ext uri="{FF2B5EF4-FFF2-40B4-BE49-F238E27FC236}">
                <a16:creationId xmlns:a16="http://schemas.microsoft.com/office/drawing/2014/main" id="{03460739-8041-4FF4-8141-A838E647F0B3}"/>
              </a:ext>
            </a:extLst>
          </p:cNvPr>
          <p:cNvSpPr>
            <a:spLocks xmlns:a="http://schemas.openxmlformats.org/drawingml/2006/main" noGrp="1"/>
          </p:cNvSpPr>
          <p:nvPr/>
        </p:nvSpPr>
        <p:spPr>
          <a:xfrm xmlns:a="http://schemas.openxmlformats.org/drawingml/2006/main">
            <a:off x="628650" y="55626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DD0CF"/>
                </a:solidFill>
                <a:latin typeface="Arial"/>
                <a:ea typeface="Arial"/>
                <a:cs typeface="Arial"/>
              </a:defRPr>
            </a:defPPr>
          </a:lstStyle>
          <a:p xmlns:a="http://schemas.openxmlformats.org/drawingml/2006/main">
            <a:pPr>
              <a:defRPr sz="1800" b="0">
                <a:solidFill>
                  <a:srgbClr val="BDD0CF"/>
                </a:solidFill>
                <a:latin typeface="Arial"/>
                <a:ea typeface="Arial"/>
                <a:cs typeface="Arial"/>
              </a:defRPr>
            </a:pPr>
            <a:r>
              <a:rPr sz="1800" b="0">
                <a:solidFill>
                  <a:srgbClr val="BDD0CF"/>
                </a:solidFill>
                <a:latin typeface="Arial"/>
                <a:ea typeface="Arial"/>
                <a:cs typeface="Arial"/>
              </a:rPr>
              <a:t>IS 507, Fall 2026</a:t>
            </a:r>
          </a:p>
        </p:txBody>
      </p:sp>
    </p:spTree>
    <p:extLst>
      <p:ext uri="{BB962C8B-B14F-4D97-AF65-F5344CB8AC3E}">
        <p14:creationId xmlns:p14="http://schemas.microsoft.com/office/powerpoint/2010/main" val="35853616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Why this question? Booking outcomes affect">
            <a:extLst xmlns:a="http://schemas.openxmlformats.org/drawingml/2006/main">
              <a:ext uri="{FF2B5EF4-FFF2-40B4-BE49-F238E27FC236}">
                <a16:creationId xmlns:a16="http://schemas.microsoft.com/office/drawing/2014/main" id="{293B4384-50CB-4F9B-8BC6-CDBA0EF28F9A}"/>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33B"/>
                </a:solidFill>
                <a:latin typeface="Arial"/>
                <a:ea typeface="Arial"/>
                <a:cs typeface="Arial"/>
              </a:defRPr>
            </a:defPPr>
          </a:lstStyle>
          <a:p xmlns:a="http://schemas.openxmlformats.org/drawingml/2006/main">
            <a:pPr>
              <a:defRPr sz="3300" b="1">
                <a:solidFill>
                  <a:srgbClr val="16333B"/>
                </a:solidFill>
                <a:latin typeface="Arial"/>
                <a:ea typeface="Arial"/>
                <a:cs typeface="Arial"/>
              </a:defRPr>
            </a:pPr>
            <a:r>
              <a:rPr sz="3300" b="1">
                <a:solidFill>
                  <a:srgbClr val="16333B"/>
                </a:solidFill>
                <a:latin typeface="Arial"/>
                <a:ea typeface="Arial"/>
                <a:cs typeface="Arial"/>
              </a:rPr>
              <a:t>Why this question? Booking outcomes affect planning</a:t>
            </a:r>
          </a:p>
        </p:txBody>
      </p:sp>
      <p:sp>
        <p:nvSpPr>
          <p:cNvPr id="2" name="IS 507 Midterm  ·  2/11">
            <a:extLst xmlns:a="http://schemas.openxmlformats.org/drawingml/2006/main">
              <a:ext uri="{FF2B5EF4-FFF2-40B4-BE49-F238E27FC236}">
                <a16:creationId xmlns:a16="http://schemas.microsoft.com/office/drawing/2014/main" id="{E391D0DE-3F2B-4DE9-AC5F-F090BD806582}"/>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96F75"/>
                </a:solidFill>
                <a:latin typeface="Arial"/>
                <a:ea typeface="Arial"/>
                <a:cs typeface="Arial"/>
              </a:defRPr>
            </a:defPPr>
          </a:lstStyle>
          <a:p xmlns:a="http://schemas.openxmlformats.org/drawingml/2006/main">
            <a:r>
              <a:t>IS 507 Midterm  ·  2/10</a:t>
            </a:r>
          </a:p>
        </p:txBody>
      </p:sp>
      <p:graphicFrame>
        <p:nvGraphicFramePr>
          <p:cNvPr id="3" name="">
            <a:extLst xmlns:a="http://schemas.openxmlformats.org/drawingml/2006/main">
              <a:ext uri="{FF2B5EF4-FFF2-40B4-BE49-F238E27FC236}">
                <a16:creationId xmlns:a16="http://schemas.microsoft.com/office/drawing/2014/main" id="{B2AA6BD3-D5D5-479C-A313-FB960D0DADA1}"/>
              </a:ext>
            </a:extLst>
          </p:cNvPr>
          <p:cNvGraphicFramePr/>
          <p:nvPr/>
        </p:nvGraphicFramePr>
        <p:xfrm>
          <a:off xmlns:a="http://schemas.openxmlformats.org/drawingml/2006/main" x="628650" y="1771650"/>
          <a:ext xmlns:a="http://schemas.openxmlformats.org/drawingml/2006/main" cx="10934700" cy="2667000"/>
        </p:xfrm>
        <a:graphic xmlns:a="http://schemas.openxmlformats.org/drawingml/2006/main">
          <a:graphicData uri="http://schemas.openxmlformats.org/drawingml/2006/table">
            <a:tbl>
              <a:tblPr/>
              <a:tblGrid>
                <a:gridCol w="3048000"/>
                <a:gridCol w="7886700"/>
              </a:tblGrid>
              <a:tr h="666750">
                <a:tc>
                  <a:txBody>
                    <a:bodyPr>
                      <a:noAutofit/>
                    </a:bodyPr>
                    <a:lstStyle/>
                    <a:p>
                      <a:r>
                        <a:rPr sz="2175" b="1">
                          <a:solidFill>
                            <a:srgbClr val="FFFFFF"/>
                          </a:solidFill>
                          <a:latin typeface="Arial"/>
                          <a:ea typeface="Arial"/>
                          <a:cs typeface="Arial"/>
                        </a:rPr>
                        <a:t>Term</a:t>
                      </a:r>
                    </a:p>
                  </a:txBody>
                  <a:tcPr marL="133350" marR="133350" marT="114300" marB="114300" anchor="ctr">
                    <a:solidFill>
                      <a:srgbClr val="16333B"/>
                    </a:solidFill>
                  </a:tcPr>
                </a:tc>
                <a:tc>
                  <a:txBody>
                    <a:bodyPr>
                      <a:noAutofit/>
                    </a:bodyPr>
                    <a:lstStyle/>
                    <a:p>
                      <a:r>
                        <a:rPr sz="2175" b="1">
                          <a:solidFill>
                            <a:srgbClr val="FFFFFF"/>
                          </a:solidFill>
                          <a:latin typeface="Arial"/>
                          <a:ea typeface="Arial"/>
                          <a:cs typeface="Arial"/>
                        </a:rPr>
                        <a:t>Meaning</a:t>
                      </a:r>
                    </a:p>
                  </a:txBody>
                  <a:tcPr marL="133350" marR="133350" marT="114300" marB="114300" anchor="ctr">
                    <a:solidFill>
                      <a:srgbClr val="16333B"/>
                    </a:solidFill>
                  </a:tcPr>
                </a:tc>
              </a:tr>
              <a:tr h="666750">
                <a:tc>
                  <a:txBody>
                    <a:bodyPr>
                      <a:noAutofit/>
                    </a:bodyPr>
                    <a:lstStyle/>
                    <a:p>
                      <a:r>
                        <a:rPr sz="2175" b="0">
                          <a:solidFill>
                            <a:srgbClr val="16333B"/>
                          </a:solidFill>
                          <a:latin typeface="Arial"/>
                          <a:ea typeface="Arial"/>
                          <a:cs typeface="Arial"/>
                        </a:rPr>
                        <a:t>Booking</a:t>
                      </a:r>
                    </a:p>
                  </a:txBody>
                  <a:tcPr marL="133350" marR="133350" marT="114300" marB="114300" anchor="ctr">
                    <a:solidFill>
                      <a:srgbClr val="FFFFFF"/>
                    </a:solidFill>
                  </a:tcPr>
                </a:tc>
                <a:tc>
                  <a:txBody>
                    <a:bodyPr>
                      <a:noAutofit/>
                    </a:bodyPr>
                    <a:lstStyle/>
                    <a:p>
                      <a:r>
                        <a:rPr sz="2175" b="0">
                          <a:solidFill>
                            <a:srgbClr val="16333B"/>
                          </a:solidFill>
                          <a:latin typeface="Arial"/>
                          <a:ea typeface="Arial"/>
                          <a:cs typeface="Arial"/>
                        </a:rPr>
                        <a:t>A reservation for a future stay</a:t>
                      </a:r>
                    </a:p>
                  </a:txBody>
                  <a:tcPr marL="133350" marR="133350" marT="114300" marB="114300" anchor="ctr">
                    <a:solidFill>
                      <a:srgbClr val="FFFFFF"/>
                    </a:solidFill>
                  </a:tcPr>
                </a:tc>
              </a:tr>
              <a:tr h="666750">
                <a:tc>
                  <a:txBody>
                    <a:bodyPr>
                      <a:noAutofit/>
                    </a:bodyPr>
                    <a:lstStyle/>
                    <a:p>
                      <a:r>
                        <a:rPr sz="2175" b="0">
                          <a:solidFill>
                            <a:srgbClr val="16333B"/>
                          </a:solidFill>
                          <a:latin typeface="Arial"/>
                          <a:ea typeface="Arial"/>
                          <a:cs typeface="Arial"/>
                        </a:rPr>
                        <a:t>Cancellation</a:t>
                      </a:r>
                    </a:p>
                  </a:txBody>
                  <a:tcPr marL="133350" marR="133350" marT="114300" marB="114300" anchor="ctr">
                    <a:solidFill>
                      <a:srgbClr val="EAF0ED"/>
                    </a:solidFill>
                  </a:tcPr>
                </a:tc>
                <a:tc>
                  <a:txBody>
                    <a:bodyPr>
                      <a:noAutofit/>
                    </a:bodyPr>
                    <a:lstStyle/>
                    <a:p>
                      <a:r>
                        <a:rPr sz="2175" b="0">
                          <a:solidFill>
                            <a:srgbClr val="16333B"/>
                          </a:solidFill>
                          <a:latin typeface="Arial"/>
                          <a:ea typeface="Arial"/>
                          <a:cs typeface="Arial"/>
                        </a:rPr>
                        <a:t>The reservation is called off</a:t>
                      </a:r>
                    </a:p>
                  </a:txBody>
                  <a:tcPr marL="133350" marR="133350" marT="114300" marB="114300" anchor="ctr">
                    <a:solidFill>
                      <a:srgbClr val="EAF0ED"/>
                    </a:solidFill>
                  </a:tcPr>
                </a:tc>
              </a:tr>
              <a:tr h="666750">
                <a:tc>
                  <a:txBody>
                    <a:bodyPr>
                      <a:noAutofit/>
                    </a:bodyPr>
                    <a:lstStyle/>
                    <a:p>
                      <a:r>
                        <a:rPr sz="2175" b="0">
                          <a:solidFill>
                            <a:srgbClr val="16333B"/>
                          </a:solidFill>
                          <a:latin typeface="Arial"/>
                          <a:ea typeface="Arial"/>
                          <a:cs typeface="Arial"/>
                        </a:rPr>
                        <a:t>No-show</a:t>
                      </a:r>
                    </a:p>
                  </a:txBody>
                  <a:tcPr marL="133350" marR="133350" marT="114300" marB="114300" anchor="ctr">
                    <a:solidFill>
                      <a:srgbClr val="FFFFFF"/>
                    </a:solidFill>
                  </a:tcPr>
                </a:tc>
                <a:tc>
                  <a:txBody>
                    <a:bodyPr>
                      <a:noAutofit/>
                    </a:bodyPr>
                    <a:lstStyle/>
                    <a:p>
                      <a:r>
                        <a:rPr sz="2175" b="0">
                          <a:solidFill>
                            <a:srgbClr val="16333B"/>
                          </a:solidFill>
                          <a:latin typeface="Arial"/>
                          <a:ea typeface="Arial"/>
                          <a:cs typeface="Arial"/>
                        </a:rPr>
                        <a:t>The guest does not arrive</a:t>
                      </a:r>
                    </a:p>
                  </a:txBody>
                  <a:tcPr marL="133350" marR="133350" marT="114300" marB="114300" anchor="ctr">
                    <a:solidFill>
                      <a:srgbClr val="FFFFFF"/>
                    </a:solidFill>
                  </a:tcPr>
                </a:tc>
              </a:tr>
            </a:tbl>
          </a:graphicData>
        </a:graphic>
      </p:graphicFrame>
      <p:sp>
        <p:nvSpPr>
          <p:cNvPr id="4" name="Question: can booking details help identif">
            <a:extLst xmlns:a="http://schemas.openxmlformats.org/drawingml/2006/main">
              <a:ext uri="{FF2B5EF4-FFF2-40B4-BE49-F238E27FC236}">
                <a16:creationId xmlns:a16="http://schemas.microsoft.com/office/drawing/2014/main" id="{314493E7-85E7-4C41-A535-AC3015CE742F}"/>
              </a:ext>
            </a:extLst>
          </p:cNvPr>
          <p:cNvSpPr>
            <a:spLocks xmlns:a="http://schemas.openxmlformats.org/drawingml/2006/main" noGrp="1"/>
          </p:cNvSpPr>
          <p:nvPr/>
        </p:nvSpPr>
        <p:spPr>
          <a:xfrm xmlns:a="http://schemas.openxmlformats.org/drawingml/2006/main">
            <a:off x="628650" y="48958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6A73"/>
                </a:solidFill>
                <a:latin typeface="Arial"/>
                <a:ea typeface="Arial"/>
                <a:cs typeface="Arial"/>
              </a:defRPr>
            </a:defPPr>
          </a:lstStyle>
          <a:p xmlns:a="http://schemas.openxmlformats.org/drawingml/2006/main">
            <a:pPr>
              <a:defRPr sz="2400" b="1">
                <a:solidFill>
                  <a:srgbClr val="246A73"/>
                </a:solidFill>
                <a:latin typeface="Arial"/>
                <a:ea typeface="Arial"/>
                <a:cs typeface="Arial"/>
              </a:defRPr>
            </a:pPr>
            <a:r>
              <a:rPr sz="2400" b="1">
                <a:solidFill>
                  <a:srgbClr val="246A73"/>
                </a:solidFill>
                <a:latin typeface="Arial"/>
                <a:ea typeface="Arial"/>
                <a:cs typeface="Arial"/>
              </a:rPr>
              <a:t>Question: can booking details help identify noncompletion?</a:t>
            </a:r>
          </a:p>
        </p:txBody>
      </p:sp>
      <p:sp>
        <p:nvSpPr>
          <p:cNvPr id="5" name="Illustrative motivation: greater certainty">
            <a:extLst xmlns:a="http://schemas.openxmlformats.org/drawingml/2006/main">
              <a:ext uri="{FF2B5EF4-FFF2-40B4-BE49-F238E27FC236}">
                <a16:creationId xmlns:a16="http://schemas.microsoft.com/office/drawing/2014/main" id="{D07A34F4-885B-4496-8785-4EFBA8ABDA68}"/>
              </a:ext>
            </a:extLst>
          </p:cNvPr>
          <p:cNvSpPr>
            <a:spLocks xmlns:a="http://schemas.openxmlformats.org/drawingml/2006/main" noGrp="1"/>
          </p:cNvSpPr>
          <p:nvPr/>
        </p:nvSpPr>
        <p:spPr>
          <a:xfrm xmlns:a="http://schemas.openxmlformats.org/drawingml/2006/main">
            <a:off x="628650" y="5762625"/>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F75"/>
                </a:solidFill>
                <a:latin typeface="Arial"/>
                <a:ea typeface="Arial"/>
                <a:cs typeface="Arial"/>
              </a:defRPr>
            </a:defPPr>
          </a:lstStyle>
          <a:p xmlns:a="http://schemas.openxmlformats.org/drawingml/2006/main">
            <a:pPr>
              <a:defRPr sz="1500" b="0">
                <a:solidFill>
                  <a:srgbClr val="596F75"/>
                </a:solidFill>
                <a:latin typeface="Arial"/>
                <a:ea typeface="Arial"/>
                <a:cs typeface="Arial"/>
              </a:defRPr>
            </a:pPr>
            <a:r>
              <a:rPr sz="1500" b="0">
                <a:solidFill>
                  <a:srgbClr val="596F75"/>
                </a:solidFill>
                <a:latin typeface="Arial"/>
                <a:ea typeface="Arial"/>
                <a:cs typeface="Arial"/>
              </a:rPr>
              <a:t>Illustrative motivation: greater certainty about expected occupied rooms</a:t>
            </a:r>
          </a:p>
        </p:txBody>
      </p:sp>
      <p:sp xmlns:a="http://schemas.openxmlformats.org/drawingml/2006/main">
        <p:nvSpPr>
          <p:cNvPr id="7" name="TextBox 6"/>
          <p:cNvSpPr txBox="1"/>
          <p:nvPr/>
        </p:nvSpPr>
        <p:spPr>
          <a:xfrm>
            <a:off x="630936" y="4498848"/>
            <a:ext cx="10936224" cy="320040"/>
          </a:xfrm>
          <a:prstGeom prst="rect">
            <a:avLst/>
          </a:prstGeom>
          <a:noFill/>
        </p:spPr>
        <p:txBody>
          <a:bodyPr wrap="square">
            <a:spAutoFit/>
          </a:bodyPr>
          <a:lstStyle/>
          <a:p>
            <a:pPr>
              <a:defRPr sz="1200" i="1">
                <a:solidFill>
                  <a:srgbClr val="555555"/>
                </a:solidFill>
              </a:defRPr>
            </a:pPr>
            <a:r>
              <a:t>Related work: Antonio et al. (2017) showed hotel cancellation prediction is feasible on resort-hotel data; different scope, not our benchmark.</a:t>
            </a:r>
          </a:p>
        </p:txBody>
      </p:sp>
    </p:spTree>
    <p:extLst>
      <p:ext uri="{BB962C8B-B14F-4D97-AF65-F5344CB8AC3E}">
        <p14:creationId xmlns:p14="http://schemas.microsoft.com/office/powerpoint/2010/main" val="658288498"/>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What data? One row is one reservation">
            <a:extLst xmlns:a="http://schemas.openxmlformats.org/drawingml/2006/main">
              <a:ext uri="{FF2B5EF4-FFF2-40B4-BE49-F238E27FC236}">
                <a16:creationId xmlns:a16="http://schemas.microsoft.com/office/drawing/2014/main" id="{82DA66DF-D4CD-4716-B5AB-DBFDB9079DE1}"/>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33B"/>
                </a:solidFill>
                <a:latin typeface="Arial"/>
                <a:ea typeface="Arial"/>
                <a:cs typeface="Arial"/>
              </a:defRPr>
            </a:defPPr>
          </a:lstStyle>
          <a:p xmlns:a="http://schemas.openxmlformats.org/drawingml/2006/main">
            <a:pPr>
              <a:defRPr sz="3300" b="1">
                <a:solidFill>
                  <a:srgbClr val="16333B"/>
                </a:solidFill>
                <a:latin typeface="Arial"/>
                <a:ea typeface="Arial"/>
                <a:cs typeface="Arial"/>
              </a:defRPr>
            </a:pPr>
            <a:r>
              <a:rPr sz="3300" b="1">
                <a:solidFill>
                  <a:srgbClr val="16333B"/>
                </a:solidFill>
                <a:latin typeface="Arial"/>
                <a:ea typeface="Arial"/>
                <a:cs typeface="Arial"/>
              </a:rPr>
              <a:t>What data? One row is one reservation</a:t>
            </a:r>
          </a:p>
        </p:txBody>
      </p:sp>
      <p:sp>
        <p:nvSpPr>
          <p:cNvPr id="2" name="IS 507 Midterm  ·  3/11">
            <a:extLst xmlns:a="http://schemas.openxmlformats.org/drawingml/2006/main">
              <a:ext uri="{FF2B5EF4-FFF2-40B4-BE49-F238E27FC236}">
                <a16:creationId xmlns:a16="http://schemas.microsoft.com/office/drawing/2014/main" id="{7E307F4A-38B8-4A90-B4A9-4D45DA248A93}"/>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96F75"/>
                </a:solidFill>
                <a:latin typeface="Arial"/>
                <a:ea typeface="Arial"/>
                <a:cs typeface="Arial"/>
              </a:defRPr>
            </a:defPPr>
          </a:lstStyle>
          <a:p xmlns:a="http://schemas.openxmlformats.org/drawingml/2006/main">
            <a:r>
              <a:t>IS 507 Midterm  ·  3/10</a:t>
            </a:r>
          </a:p>
        </p:txBody>
      </p:sp>
      <p:sp>
        <p:nvSpPr>
          <p:cNvPr id="3" name="119,390 bookings">
            <a:extLst xmlns:a="http://schemas.openxmlformats.org/drawingml/2006/main">
              <a:ext uri="{FF2B5EF4-FFF2-40B4-BE49-F238E27FC236}">
                <a16:creationId xmlns:a16="http://schemas.microsoft.com/office/drawing/2014/main" id="{91E21D54-49EF-49A5-AC5A-9A8DE77E393E}"/>
              </a:ext>
            </a:extLst>
          </p:cNvPr>
          <p:cNvSpPr>
            <a:spLocks xmlns:a="http://schemas.openxmlformats.org/drawingml/2006/main" noGrp="1"/>
          </p:cNvSpPr>
          <p:nvPr/>
        </p:nvSpPr>
        <p:spPr>
          <a:xfrm xmlns:a="http://schemas.openxmlformats.org/drawingml/2006/main">
            <a:off x="628650" y="1809750"/>
            <a:ext cx="523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246A73"/>
                </a:solidFill>
                <a:latin typeface="Arial"/>
                <a:ea typeface="Arial"/>
                <a:cs typeface="Arial"/>
              </a:defRPr>
            </a:defPPr>
          </a:lstStyle>
          <a:p xmlns:a="http://schemas.openxmlformats.org/drawingml/2006/main">
            <a:pPr>
              <a:defRPr sz="3675" b="1">
                <a:solidFill>
                  <a:srgbClr val="246A73"/>
                </a:solidFill>
                <a:latin typeface="Arial"/>
                <a:ea typeface="Arial"/>
                <a:cs typeface="Arial"/>
              </a:defRPr>
            </a:pPr>
            <a:r>
              <a:rPr sz="3675" b="1">
                <a:solidFill>
                  <a:srgbClr val="246A73"/>
                </a:solidFill>
                <a:latin typeface="Arial"/>
                <a:ea typeface="Arial"/>
                <a:cs typeface="Arial"/>
              </a:rPr>
              <a:t>119,390 bookings</a:t>
            </a:r>
          </a:p>
        </p:txBody>
      </p:sp>
      <p:sp>
        <p:nvSpPr>
          <p:cNvPr id="4" name="32 recorded columns">
            <a:extLst xmlns:a="http://schemas.openxmlformats.org/drawingml/2006/main">
              <a:ext uri="{FF2B5EF4-FFF2-40B4-BE49-F238E27FC236}">
                <a16:creationId xmlns:a16="http://schemas.microsoft.com/office/drawing/2014/main" id="{9AD7064B-DCB7-4D90-B091-888F4311C3F8}"/>
              </a:ext>
            </a:extLst>
          </p:cNvPr>
          <p:cNvSpPr>
            <a:spLocks xmlns:a="http://schemas.openxmlformats.org/drawingml/2006/main" noGrp="1"/>
          </p:cNvSpPr>
          <p:nvPr/>
        </p:nvSpPr>
        <p:spPr>
          <a:xfrm xmlns:a="http://schemas.openxmlformats.org/drawingml/2006/main">
            <a:off x="628650" y="29241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6333B"/>
                </a:solidFill>
                <a:latin typeface="Arial"/>
                <a:ea typeface="Arial"/>
                <a:cs typeface="Arial"/>
              </a:defRPr>
            </a:defPPr>
          </a:lstStyle>
          <a:p xmlns:a="http://schemas.openxmlformats.org/drawingml/2006/main">
            <a:pPr>
              <a:defRPr sz="2250" b="0">
                <a:solidFill>
                  <a:srgbClr val="16333B"/>
                </a:solidFill>
                <a:latin typeface="Arial"/>
                <a:ea typeface="Arial"/>
                <a:cs typeface="Arial"/>
              </a:defRPr>
            </a:pPr>
            <a:r>
              <a:rPr sz="2250" b="0">
                <a:solidFill>
                  <a:srgbClr val="16333B"/>
                </a:solidFill>
                <a:latin typeface="Arial"/>
                <a:ea typeface="Arial"/>
                <a:cs typeface="Arial"/>
              </a:rPr>
              <a:t>32 recorded columns</a:t>
            </a:r>
          </a:p>
        </p:txBody>
      </p:sp>
      <p:sp>
        <p:nvSpPr>
          <p:cNvPr id="5" name="Two hotels in Portugal">
            <a:extLst xmlns:a="http://schemas.openxmlformats.org/drawingml/2006/main">
              <a:ext uri="{FF2B5EF4-FFF2-40B4-BE49-F238E27FC236}">
                <a16:creationId xmlns:a16="http://schemas.microsoft.com/office/drawing/2014/main" id="{3907CF4A-66B6-4619-989B-C1FEC011F924}"/>
              </a:ext>
            </a:extLst>
          </p:cNvPr>
          <p:cNvSpPr>
            <a:spLocks xmlns:a="http://schemas.openxmlformats.org/drawingml/2006/main" noGrp="1"/>
          </p:cNvSpPr>
          <p:nvPr/>
        </p:nvSpPr>
        <p:spPr>
          <a:xfrm xmlns:a="http://schemas.openxmlformats.org/drawingml/2006/main">
            <a:off x="628650" y="381952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6333B"/>
                </a:solidFill>
                <a:latin typeface="Arial"/>
                <a:ea typeface="Arial"/>
                <a:cs typeface="Arial"/>
              </a:defRPr>
            </a:defPPr>
          </a:lstStyle>
          <a:p xmlns:a="http://schemas.openxmlformats.org/drawingml/2006/main">
            <a:pPr>
              <a:defRPr sz="2400" b="1">
                <a:solidFill>
                  <a:srgbClr val="16333B"/>
                </a:solidFill>
                <a:latin typeface="Arial"/>
                <a:ea typeface="Arial"/>
                <a:cs typeface="Arial"/>
              </a:defRPr>
            </a:pPr>
            <a:r>
              <a:rPr sz="2400" b="1">
                <a:solidFill>
                  <a:srgbClr val="16333B"/>
                </a:solidFill>
                <a:latin typeface="Arial"/>
                <a:ea typeface="Arial"/>
                <a:cs typeface="Arial"/>
              </a:rPr>
              <a:t>Two hotels in Portugal</a:t>
            </a:r>
          </a:p>
        </p:txBody>
      </p:sp>
      <p:sp>
        <p:nvSpPr>
          <p:cNvPr id="6" name="Arrivals: July 2015 to August 2017">
            <a:extLst xmlns:a="http://schemas.openxmlformats.org/drawingml/2006/main">
              <a:ext uri="{FF2B5EF4-FFF2-40B4-BE49-F238E27FC236}">
                <a16:creationId xmlns:a16="http://schemas.microsoft.com/office/drawing/2014/main" id="{58B86440-09D0-4DA9-B68C-2CD8B139C8E3}"/>
              </a:ext>
            </a:extLst>
          </p:cNvPr>
          <p:cNvSpPr>
            <a:spLocks xmlns:a="http://schemas.openxmlformats.org/drawingml/2006/main" noGrp="1"/>
          </p:cNvSpPr>
          <p:nvPr/>
        </p:nvSpPr>
        <p:spPr>
          <a:xfrm xmlns:a="http://schemas.openxmlformats.org/drawingml/2006/main">
            <a:off x="628650" y="46863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33B"/>
                </a:solidFill>
                <a:latin typeface="Arial"/>
                <a:ea typeface="Arial"/>
                <a:cs typeface="Arial"/>
              </a:defRPr>
            </a:defPPr>
          </a:lstStyle>
          <a:p xmlns:a="http://schemas.openxmlformats.org/drawingml/2006/main">
            <a:pPr>
              <a:defRPr sz="2100" b="0">
                <a:solidFill>
                  <a:srgbClr val="16333B"/>
                </a:solidFill>
                <a:latin typeface="Arial"/>
                <a:ea typeface="Arial"/>
                <a:cs typeface="Arial"/>
              </a:defRPr>
            </a:pPr>
            <a:r>
              <a:rPr sz="2100" b="0">
                <a:solidFill>
                  <a:srgbClr val="16333B"/>
                </a:solidFill>
                <a:latin typeface="Arial"/>
                <a:ea typeface="Arial"/>
                <a:cs typeface="Arial"/>
              </a:rPr>
              <a:t>Arrivals: July 2015 to August 2017</a:t>
            </a:r>
          </a:p>
        </p:txBody>
      </p:sp>
      <p:graphicFrame>
        <p:nvGraphicFramePr>
          <p:cNvPr id="7" name="Chart">
            <a:extLst xmlns:a="http://schemas.openxmlformats.org/drawingml/2006/main">
              <a:ext uri="{FF2B5EF4-FFF2-40B4-BE49-F238E27FC236}">
                <a16:creationId xmlns:a16="http://schemas.microsoft.com/office/drawing/2014/main" id="{7F5335A9-7534-45D6-961A-6D70D2977773}"/>
              </a:ext>
            </a:extLst>
          </p:cNvPr>
          <p:cNvGraphicFramePr/>
          <p:nvPr/>
        </p:nvGraphicFramePr>
        <p:xfrm>
          <a:off xmlns:a="http://schemas.openxmlformats.org/drawingml/2006/main" x="6191250" y="1809750"/>
          <a:ext xmlns:a="http://schemas.openxmlformats.org/drawingml/2006/main" cx="5372100" cy="3695700"/>
        </p:xfrm>
        <a:graphic xmlns:a="http://schemas.openxmlformats.org/drawingml/2006/main">
          <a:graphicData uri="http://schemas.openxmlformats.org/drawingml/2006/chart">
            <c:chart xmlns:r="http://schemas.openxmlformats.org/officeDocument/2006/relationships" xmlns:c="http://schemas.openxmlformats.org/drawingml/2006/chart" r:id="R8d5a21b5057b4562"/>
          </a:graphicData>
        </a:graphic>
      </p:graphicFrame>
      <p:sp>
        <p:nvSpPr>
          <p:cNvPr id="8" name="Antonio et al. (2019), Hotel Booking Deman">
            <a:extLst xmlns:a="http://schemas.openxmlformats.org/drawingml/2006/main">
              <a:ext uri="{FF2B5EF4-FFF2-40B4-BE49-F238E27FC236}">
                <a16:creationId xmlns:a16="http://schemas.microsoft.com/office/drawing/2014/main" id="{A8ED0088-0A66-4320-BBB9-1D9D8F97525A}"/>
              </a:ext>
            </a:extLst>
          </p:cNvPr>
          <p:cNvSpPr>
            <a:spLocks xmlns:a="http://schemas.openxmlformats.org/drawingml/2006/main" noGrp="1"/>
          </p:cNvSpPr>
          <p:nvPr/>
        </p:nvSpPr>
        <p:spPr>
          <a:xfrm xmlns:a="http://schemas.openxmlformats.org/drawingml/2006/main">
            <a:off x="628650" y="5762625"/>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F75"/>
                </a:solidFill>
                <a:latin typeface="Arial"/>
                <a:ea typeface="Arial"/>
                <a:cs typeface="Arial"/>
              </a:defRPr>
            </a:defPPr>
          </a:lstStyle>
          <a:p xmlns:a="http://schemas.openxmlformats.org/drawingml/2006/main">
            <a:pPr>
              <a:defRPr sz="1500" b="0">
                <a:solidFill>
                  <a:srgbClr val="596F75"/>
                </a:solidFill>
                <a:latin typeface="Arial"/>
                <a:ea typeface="Arial"/>
                <a:cs typeface="Arial"/>
              </a:defRPr>
            </a:pPr>
            <a:r>
              <a:rPr sz="1500" b="0">
                <a:solidFill>
                  <a:srgbClr val="596F75"/>
                </a:solidFill>
                <a:latin typeface="Arial"/>
                <a:ea typeface="Arial"/>
                <a:cs typeface="Arial"/>
              </a:rPr>
              <a:t>Antonio et al. (2019), Hotel Booking Demand; TidyTuesday combined CSV</a:t>
            </a:r>
          </a:p>
        </p:txBody>
      </p:sp>
    </p:spTree>
    <p:extLst>
      <p:ext uri="{BB962C8B-B14F-4D97-AF65-F5344CB8AC3E}">
        <p14:creationId xmlns:p14="http://schemas.microsoft.com/office/powerpoint/2010/main" val="204822798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 name="What do we predict? X, Y and a probability">
            <a:extLst xmlns:a="http://schemas.openxmlformats.org/drawingml/2006/main">
              <a:ext uri="{FF2B5EF4-FFF2-40B4-BE49-F238E27FC236}">
                <a16:creationId xmlns:a16="http://schemas.microsoft.com/office/drawing/2014/main" id="{CF4DD5AC-6EFE-4262-9904-715E2EC739BD}"/>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33B"/>
                </a:solidFill>
                <a:latin typeface="Arial"/>
                <a:ea typeface="Arial"/>
                <a:cs typeface="Arial"/>
              </a:defRPr>
            </a:defPPr>
          </a:lstStyle>
          <a:p xmlns:a="http://schemas.openxmlformats.org/drawingml/2006/main">
            <a:pPr>
              <a:defRPr sz="3300" b="1">
                <a:solidFill>
                  <a:srgbClr val="16333B"/>
                </a:solidFill>
                <a:latin typeface="Arial"/>
                <a:ea typeface="Arial"/>
                <a:cs typeface="Arial"/>
              </a:defRPr>
            </a:pPr>
            <a:r>
              <a:rPr sz="3300" b="1">
                <a:solidFill>
                  <a:srgbClr val="16333B"/>
                </a:solidFill>
                <a:latin typeface="Arial"/>
                <a:ea typeface="Arial"/>
                <a:cs typeface="Arial"/>
              </a:rPr>
              <a:t>What do we predict? X, Y and a probability</a:t>
            </a:r>
          </a:p>
        </p:txBody>
      </p:sp>
      <p:sp>
        <p:nvSpPr>
          <p:cNvPr id="2" name="IS 507 Midterm  ·  4/11">
            <a:extLst xmlns:a="http://schemas.openxmlformats.org/drawingml/2006/main">
              <a:ext uri="{FF2B5EF4-FFF2-40B4-BE49-F238E27FC236}">
                <a16:creationId xmlns:a16="http://schemas.microsoft.com/office/drawing/2014/main" id="{A2268A93-8791-4138-9DAB-93911BCDE93F}"/>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96F75"/>
                </a:solidFill>
                <a:latin typeface="Arial"/>
                <a:ea typeface="Arial"/>
                <a:cs typeface="Arial"/>
              </a:defRPr>
            </a:defPPr>
          </a:lstStyle>
          <a:p xmlns:a="http://schemas.openxmlformats.org/drawingml/2006/main">
            <a:r>
              <a:t>IS 507 Midterm  ·  4/10</a:t>
            </a:r>
          </a:p>
        </p:txBody>
      </p:sp>
      <p:graphicFrame>
        <p:nvGraphicFramePr>
          <p:cNvPr id="3" name="">
            <a:extLst xmlns:a="http://schemas.openxmlformats.org/drawingml/2006/main">
              <a:ext uri="{FF2B5EF4-FFF2-40B4-BE49-F238E27FC236}">
                <a16:creationId xmlns:a16="http://schemas.microsoft.com/office/drawing/2014/main" id="{D2EC0795-AE43-4040-8836-003EAF212E53}"/>
              </a:ext>
            </a:extLst>
          </p:cNvPr>
          <p:cNvGraphicFramePr/>
          <p:nvPr/>
        </p:nvGraphicFramePr>
        <p:xfrm>
          <a:off xmlns:a="http://schemas.openxmlformats.org/drawingml/2006/main" x="628650" y="1752600"/>
          <a:ext xmlns:a="http://schemas.openxmlformats.org/drawingml/2006/main" cx="10934700" cy="3238500"/>
        </p:xfrm>
        <a:graphic xmlns:a="http://schemas.openxmlformats.org/drawingml/2006/main">
          <a:graphicData uri="http://schemas.openxmlformats.org/drawingml/2006/table">
            <a:tbl>
              <a:tblPr/>
              <a:tblGrid>
                <a:gridCol w="3143250"/>
                <a:gridCol w="7791450"/>
              </a:tblGrid>
              <a:tr h="647700">
                <a:tc>
                  <a:txBody>
                    <a:bodyPr>
                      <a:noAutofit/>
                    </a:bodyPr>
                    <a:lstStyle/>
                    <a:p>
                      <a:r>
                        <a:rPr sz="2100" b="1">
                          <a:solidFill>
                            <a:srgbClr val="FFFFFF"/>
                          </a:solidFill>
                          <a:latin typeface="Arial"/>
                          <a:ea typeface="Arial"/>
                          <a:cs typeface="Arial"/>
                        </a:rPr>
                        <a:t>Course concept</a:t>
                      </a:r>
                    </a:p>
                  </a:txBody>
                  <a:tcPr marL="133350" marR="133350" marT="114300" marB="114300" anchor="ctr">
                    <a:solidFill>
                      <a:srgbClr val="16333B"/>
                    </a:solidFill>
                  </a:tcPr>
                </a:tc>
                <a:tc>
                  <a:txBody>
                    <a:bodyPr>
                      <a:noAutofit/>
                    </a:bodyPr>
                    <a:lstStyle/>
                    <a:p>
                      <a:r>
                        <a:rPr sz="2100" b="1">
                          <a:solidFill>
                            <a:srgbClr val="FFFFFF"/>
                          </a:solidFill>
                          <a:latin typeface="Arial"/>
                          <a:ea typeface="Arial"/>
                          <a:cs typeface="Arial"/>
                        </a:rPr>
                        <a:t>Meaning here</a:t>
                      </a:r>
                    </a:p>
                  </a:txBody>
                  <a:tcPr marL="133350" marR="133350" marT="114300" marB="114300" anchor="ctr">
                    <a:solidFill>
                      <a:srgbClr val="16333B"/>
                    </a:solidFill>
                  </a:tcPr>
                </a:tc>
              </a:tr>
              <a:tr h="647700">
                <a:tc>
                  <a:txBody>
                    <a:bodyPr>
                      <a:noAutofit/>
                    </a:bodyPr>
                    <a:lstStyle/>
                    <a:p>
                      <a:r>
                        <a:rPr sz="2100" b="0">
                          <a:solidFill>
                            <a:srgbClr val="16333B"/>
                          </a:solidFill>
                          <a:latin typeface="Arial"/>
                          <a:ea typeface="Arial"/>
                          <a:cs typeface="Arial"/>
                        </a:rPr>
                        <a:t>X: inputs</a:t>
                      </a:r>
                    </a:p>
                  </a:txBody>
                  <a:tcPr marL="133350" marR="133350" marT="114300" marB="114300" anchor="ctr">
                    <a:solidFill>
                      <a:srgbClr val="FFFFFF"/>
                    </a:solidFill>
                  </a:tcPr>
                </a:tc>
                <a:tc>
                  <a:txBody>
                    <a:bodyPr>
                      <a:noAutofit/>
                    </a:bodyPr>
                    <a:lstStyle/>
                    <a:p>
                      <a:r>
                        <a:rPr sz="2100" b="0">
                          <a:solidFill>
                            <a:srgbClr val="16333B"/>
                          </a:solidFill>
                          <a:latin typeface="Arial"/>
                          <a:ea typeface="Arial"/>
                          <a:cs typeface="Arial"/>
                        </a:rPr>
                        <a:t>Hotel, days booked ahead, nights, guest counts,</a:t>
                      </a:r>
                    </a:p>
                    <a:p>
                      <a:r>
                        <a:rPr sz="2100" b="0">
                          <a:solidFill>
                            <a:srgbClr val="16333B"/>
                          </a:solidFill>
                          <a:latin typeface="Arial"/>
                          <a:ea typeface="Arial"/>
                          <a:cs typeface="Arial"/>
                        </a:rPr>
                        <a:t>room/meal choices, booking channels and arrival month</a:t>
                      </a:r>
                    </a:p>
                  </a:txBody>
                  <a:tcPr marL="133350" marR="133350" marT="114300" marB="114300" anchor="ctr">
                    <a:solidFill>
                      <a:srgbClr val="FFFFFF"/>
                    </a:solidFill>
                  </a:tcPr>
                </a:tc>
              </a:tr>
              <a:tr h="647700">
                <a:tc>
                  <a:txBody>
                    <a:bodyPr>
                      <a:noAutofit/>
                    </a:bodyPr>
                    <a:lstStyle/>
                    <a:p>
                      <a:r>
                        <a:rPr sz="2100" b="0">
                          <a:solidFill>
                            <a:srgbClr val="16333B"/>
                          </a:solidFill>
                          <a:latin typeface="Arial"/>
                          <a:ea typeface="Arial"/>
                          <a:cs typeface="Arial"/>
                        </a:rPr>
                        <a:t>Y = 1 / Y = 0</a:t>
                      </a:r>
                    </a:p>
                  </a:txBody>
                  <a:tcPr marL="133350" marR="133350" marT="114300" marB="114300" anchor="ctr">
                    <a:solidFill>
                      <a:srgbClr val="EAF0ED"/>
                    </a:solidFill>
                  </a:tcPr>
                </a:tc>
                <a:tc>
                  <a:txBody>
                    <a:bodyPr>
                      <a:noAutofit/>
                    </a:bodyPr>
                    <a:lstStyle/>
                    <a:p>
                      <a:r>
                        <a:rPr sz="2100" b="0">
                          <a:solidFill>
                            <a:srgbClr val="16333B"/>
                          </a:solidFill>
                          <a:latin typeface="Arial"/>
                          <a:ea typeface="Arial"/>
                          <a:cs typeface="Arial"/>
                        </a:rPr>
                        <a:t>Canceled or no-show / recorded completed stay</a:t>
                      </a:r>
                    </a:p>
                  </a:txBody>
                  <a:tcPr marL="133350" marR="133350" marT="114300" marB="114300" anchor="ctr">
                    <a:solidFill>
                      <a:srgbClr val="EAF0ED"/>
                    </a:solidFill>
                  </a:tcPr>
                </a:tc>
              </a:tr>
              <a:tr h="647700">
                <a:tc>
                  <a:txBody>
                    <a:bodyPr>
                      <a:noAutofit/>
                    </a:bodyPr>
                    <a:lstStyle/>
                    <a:p>
                      <a:r>
                        <a:rPr sz="2100" b="0">
                          <a:solidFill>
                            <a:srgbClr val="16333B"/>
                          </a:solidFill>
                          <a:latin typeface="Arial"/>
                          <a:ea typeface="Arial"/>
                          <a:cs typeface="Arial"/>
                        </a:rPr>
                        <a:t>Output p</a:t>
                      </a:r>
                    </a:p>
                  </a:txBody>
                  <a:tcPr marL="133350" marR="133350" marT="114300" marB="114300" anchor="ctr">
                    <a:solidFill>
                      <a:srgbClr val="FFFFFF"/>
                    </a:solidFill>
                  </a:tcPr>
                </a:tc>
                <a:tc>
                  <a:txBody>
                    <a:bodyPr>
                      <a:noAutofit/>
                    </a:bodyPr>
                    <a:lstStyle/>
                    <a:p>
                      <a:r>
                        <a:rPr sz="2100" b="0">
                          <a:solidFill>
                            <a:srgbClr val="16333B"/>
                          </a:solidFill>
                          <a:latin typeface="Arial"/>
                          <a:ea typeface="Arial"/>
                          <a:cs typeface="Arial"/>
                        </a:rPr>
                        <a:t>Estimated chance of cancellation or no-show</a:t>
                      </a:r>
                    </a:p>
                  </a:txBody>
                  <a:tcPr marL="133350" marR="133350" marT="114300" marB="114300" anchor="ctr">
                    <a:solidFill>
                      <a:srgbClr val="FFFFFF"/>
                    </a:solidFill>
                  </a:tcPr>
                </a:tc>
              </a:tr>
              <a:tr h="647700">
                <a:tc>
                  <a:txBody>
                    <a:bodyPr>
                      <a:noAutofit/>
                    </a:bodyPr>
                    <a:lstStyle/>
                    <a:p>
                      <a:r>
                        <a:rPr sz="2100" b="0">
                          <a:solidFill>
                            <a:srgbClr val="16333B"/>
                          </a:solidFill>
                          <a:latin typeface="Arial"/>
                          <a:ea typeface="Arial"/>
                          <a:cs typeface="Arial"/>
                        </a:rPr>
                        <a:t>Loss</a:t>
                      </a:r>
                    </a:p>
                  </a:txBody>
                  <a:tcPr marL="133350" marR="133350" marT="114300" marB="114300" anchor="ctr">
                    <a:solidFill>
                      <a:srgbClr val="EAF0ED"/>
                    </a:solidFill>
                  </a:tcPr>
                </a:tc>
                <a:tc>
                  <a:txBody>
                    <a:bodyPr>
                      <a:noAutofit/>
                    </a:bodyPr>
                    <a:lstStyle/>
                    <a:p>
                      <a:r>
                        <a:rPr sz="2100" b="0">
                          <a:solidFill>
                            <a:srgbClr val="16333B"/>
                          </a:solidFill>
                          <a:latin typeface="Arial"/>
                          <a:ea typeface="Arial"/>
                          <a:cs typeface="Arial"/>
                        </a:rPr>
                        <a:t>Mean log loss: lower is better</a:t>
                      </a:r>
                    </a:p>
                  </a:txBody>
                  <a:tcPr marL="133350" marR="133350" marT="114300" marB="114300" anchor="ctr">
                    <a:solidFill>
                      <a:srgbClr val="EAF0ED"/>
                    </a:solidFill>
                  </a:tcPr>
                </a:tc>
              </a:tr>
            </a:tbl>
          </a:graphicData>
        </a:graphic>
      </p:graphicFrame>
      <p:sp>
        <p:nvSpPr>
          <p:cNvPr id="4" name="A confident wrong probability receives a l">
            <a:extLst xmlns:a="http://schemas.openxmlformats.org/drawingml/2006/main">
              <a:ext uri="{FF2B5EF4-FFF2-40B4-BE49-F238E27FC236}">
                <a16:creationId xmlns:a16="http://schemas.microsoft.com/office/drawing/2014/main" id="{6382F411-2D8A-48DC-BD67-F66D09CA422D}"/>
              </a:ext>
            </a:extLst>
          </p:cNvPr>
          <p:cNvSpPr>
            <a:spLocks xmlns:a="http://schemas.openxmlformats.org/drawingml/2006/main" noGrp="1"/>
          </p:cNvSpPr>
          <p:nvPr/>
        </p:nvSpPr>
        <p:spPr>
          <a:xfrm xmlns:a="http://schemas.openxmlformats.org/drawingml/2006/main">
            <a:off x="628650" y="5362575"/>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6A73"/>
                </a:solidFill>
                <a:latin typeface="Arial"/>
                <a:ea typeface="Arial"/>
                <a:cs typeface="Arial"/>
              </a:defRPr>
            </a:defPPr>
          </a:lstStyle>
          <a:p xmlns:a="http://schemas.openxmlformats.org/drawingml/2006/main">
            <a:pPr>
              <a:defRPr sz="2250" b="1">
                <a:solidFill>
                  <a:srgbClr val="246A73"/>
                </a:solidFill>
                <a:latin typeface="Arial"/>
                <a:ea typeface="Arial"/>
                <a:cs typeface="Arial"/>
              </a:defRPr>
            </a:pPr>
            <a:r>
              <a:rPr sz="2250" b="1">
                <a:solidFill>
                  <a:srgbClr val="246A73"/>
                </a:solidFill>
                <a:latin typeface="Arial"/>
                <a:ea typeface="Arial"/>
                <a:cs typeface="Arial"/>
              </a:rPr>
              <a:t>A confident wrong probability receives a larger penalty.</a:t>
            </a:r>
          </a:p>
        </p:txBody>
      </p:sp>
    </p:spTree>
    <p:extLst>
      <p:ext uri="{BB962C8B-B14F-4D97-AF65-F5344CB8AC3E}">
        <p14:creationId xmlns:p14="http://schemas.microsoft.com/office/powerpoint/2010/main" val="118952884"/>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Challenge: booking-time information is unc">
            <a:extLst xmlns:a="http://schemas.openxmlformats.org/drawingml/2006/main">
              <a:ext uri="{FF2B5EF4-FFF2-40B4-BE49-F238E27FC236}">
                <a16:creationId xmlns:a16="http://schemas.microsoft.com/office/drawing/2014/main" id="{B9C15C87-52AD-4AEB-8A76-A8A1F042556A}"/>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33B"/>
                </a:solidFill>
                <a:latin typeface="Arial"/>
                <a:ea typeface="Arial"/>
                <a:cs typeface="Arial"/>
              </a:defRPr>
            </a:defPPr>
          </a:lstStyle>
          <a:p xmlns:a="http://schemas.openxmlformats.org/drawingml/2006/main">
            <a:pPr>
              <a:defRPr sz="3300" b="1">
                <a:solidFill>
                  <a:srgbClr val="16333B"/>
                </a:solidFill>
                <a:latin typeface="Arial"/>
                <a:ea typeface="Arial"/>
                <a:cs typeface="Arial"/>
              </a:defRPr>
            </a:pPr>
            <a:r>
              <a:rPr sz="3300" b="1">
                <a:solidFill>
                  <a:srgbClr val="16333B"/>
                </a:solidFill>
                <a:latin typeface="Arial"/>
                <a:ea typeface="Arial"/>
                <a:cs typeface="Arial"/>
              </a:rPr>
              <a:t>Challenge: booking-time information is uncertain</a:t>
            </a:r>
          </a:p>
        </p:txBody>
      </p:sp>
      <p:sp>
        <p:nvSpPr>
          <p:cNvPr id="2" name="IS 507 Midterm  ·  5/11">
            <a:extLst xmlns:a="http://schemas.openxmlformats.org/drawingml/2006/main">
              <a:ext uri="{FF2B5EF4-FFF2-40B4-BE49-F238E27FC236}">
                <a16:creationId xmlns:a16="http://schemas.microsoft.com/office/drawing/2014/main" id="{835EB78A-A8B1-448E-BBDC-4A76DBA0D250}"/>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96F75"/>
                </a:solidFill>
                <a:latin typeface="Arial"/>
                <a:ea typeface="Arial"/>
                <a:cs typeface="Arial"/>
              </a:defRPr>
            </a:defPPr>
          </a:lstStyle>
          <a:p xmlns:a="http://schemas.openxmlformats.org/drawingml/2006/main">
            <a:r>
              <a:t>IS 507 Midterm  ·  5/10</a:t>
            </a:r>
          </a:p>
        </p:txBody>
      </p:sp>
      <p:sp>
        <p:nvSpPr>
          <p:cNvPr id="3" name="Intended decision: when the reservation is">
            <a:extLst xmlns:a="http://schemas.openxmlformats.org/drawingml/2006/main">
              <a:ext uri="{FF2B5EF4-FFF2-40B4-BE49-F238E27FC236}">
                <a16:creationId xmlns:a16="http://schemas.microsoft.com/office/drawing/2014/main" id="{D65773AB-FFC7-441F-B8C0-F21DCF3EA9C5}"/>
              </a:ext>
            </a:extLst>
          </p:cNvPr>
          <p:cNvSpPr>
            <a:spLocks xmlns:a="http://schemas.openxmlformats.org/drawingml/2006/main" noGrp="1"/>
          </p:cNvSpPr>
          <p:nvPr/>
        </p:nvSpPr>
        <p:spPr>
          <a:xfrm xmlns:a="http://schemas.openxmlformats.org/drawingml/2006/main">
            <a:off x="628650" y="1704975"/>
            <a:ext cx="10934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46A73"/>
                </a:solidFill>
                <a:latin typeface="Arial"/>
                <a:ea typeface="Arial"/>
                <a:cs typeface="Arial"/>
              </a:defRPr>
            </a:defPPr>
          </a:lstStyle>
          <a:p xmlns:a="http://schemas.openxmlformats.org/drawingml/2006/main">
            <a:pPr>
              <a:defRPr sz="2550" b="1">
                <a:solidFill>
                  <a:srgbClr val="246A73"/>
                </a:solidFill>
                <a:latin typeface="Arial"/>
                <a:ea typeface="Arial"/>
                <a:cs typeface="Arial"/>
              </a:defRPr>
            </a:pPr>
            <a:r>
              <a:rPr sz="2550" b="1">
                <a:solidFill>
                  <a:srgbClr val="246A73"/>
                </a:solidFill>
                <a:latin typeface="Arial"/>
                <a:ea typeface="Arial"/>
                <a:cs typeface="Arial"/>
              </a:rPr>
              <a:t>Intended decision: when the reservation is created</a:t>
            </a:r>
          </a:p>
        </p:txBody>
      </p:sp>
      <p:graphicFrame>
        <p:nvGraphicFramePr>
          <p:cNvPr id="4" name="">
            <a:extLst xmlns:a="http://schemas.openxmlformats.org/drawingml/2006/main">
              <a:ext uri="{FF2B5EF4-FFF2-40B4-BE49-F238E27FC236}">
                <a16:creationId xmlns:a16="http://schemas.microsoft.com/office/drawing/2014/main" id="{E2766CA3-7E3D-41F0-AA22-422212E12303}"/>
              </a:ext>
            </a:extLst>
          </p:cNvPr>
          <p:cNvGraphicFramePr/>
          <p:nvPr/>
        </p:nvGraphicFramePr>
        <p:xfrm>
          <a:off xmlns:a="http://schemas.openxmlformats.org/drawingml/2006/main" x="628650" y="2571750"/>
          <a:ext xmlns:a="http://schemas.openxmlformats.org/drawingml/2006/main" cx="10934700" cy="2409825"/>
        </p:xfrm>
        <a:graphic xmlns:a="http://schemas.openxmlformats.org/drawingml/2006/main">
          <a:graphicData uri="http://schemas.openxmlformats.org/drawingml/2006/table">
            <a:tbl>
              <a:tblPr/>
              <a:tblGrid>
                <a:gridCol w="5000625"/>
                <a:gridCol w="5934075"/>
              </a:tblGrid>
              <a:tr h="602456">
                <a:tc>
                  <a:txBody>
                    <a:bodyPr>
                      <a:noAutofit/>
                    </a:bodyPr>
                    <a:lstStyle/>
                    <a:p>
                      <a:r>
                        <a:rPr sz="2025" b="1">
                          <a:solidFill>
                            <a:srgbClr val="FFFFFF"/>
                          </a:solidFill>
                          <a:latin typeface="Arial"/>
                          <a:ea typeface="Arial"/>
                          <a:cs typeface="Arial"/>
                        </a:rPr>
                        <a:t>Information</a:t>
                      </a:r>
                    </a:p>
                  </a:txBody>
                  <a:tcPr marL="133350" marR="133350" marT="114300" marB="114300" anchor="ctr">
                    <a:solidFill>
                      <a:srgbClr val="16333B"/>
                    </a:solidFill>
                  </a:tcPr>
                </a:tc>
                <a:tc>
                  <a:txBody>
                    <a:bodyPr>
                      <a:noAutofit/>
                    </a:bodyPr>
                    <a:lstStyle/>
                    <a:p>
                      <a:r>
                        <a:rPr sz="2025" b="1">
                          <a:solidFill>
                            <a:srgbClr val="FFFFFF"/>
                          </a:solidFill>
                          <a:latin typeface="Arial"/>
                          <a:ea typeface="Arial"/>
                          <a:cs typeface="Arial"/>
                        </a:rPr>
                        <a:t>Decision</a:t>
                      </a:r>
                    </a:p>
                  </a:txBody>
                  <a:tcPr marL="133350" marR="133350" marT="114300" marB="114300" anchor="ctr">
                    <a:solidFill>
                      <a:srgbClr val="16333B"/>
                    </a:solidFill>
                  </a:tcPr>
                </a:tc>
              </a:tr>
              <a:tr h="602456">
                <a:tc>
                  <a:txBody>
                    <a:bodyPr>
                      <a:noAutofit/>
                    </a:bodyPr>
                    <a:lstStyle/>
                    <a:p>
                      <a:r>
                        <a:rPr sz="2025" b="0">
                          <a:solidFill>
                            <a:srgbClr val="16333B"/>
                          </a:solidFill>
                          <a:latin typeface="Arial"/>
                          <a:ea typeface="Arial"/>
                          <a:cs typeface="Arial"/>
                        </a:rPr>
                        <a:t>Final status and status date</a:t>
                      </a:r>
                    </a:p>
                  </a:txBody>
                  <a:tcPr marL="133350" marR="133350" marT="114300" marB="114300" anchor="ctr">
                    <a:solidFill>
                      <a:srgbClr val="FFFFFF"/>
                    </a:solidFill>
                  </a:tcPr>
                </a:tc>
                <a:tc>
                  <a:txBody>
                    <a:bodyPr>
                      <a:noAutofit/>
                    </a:bodyPr>
                    <a:lstStyle/>
                    <a:p>
                      <a:r>
                        <a:rPr sz="2025" b="0">
                          <a:solidFill>
                            <a:srgbClr val="16333B"/>
                          </a:solidFill>
                          <a:latin typeface="Arial"/>
                          <a:ea typeface="Arial"/>
                          <a:cs typeface="Arial"/>
                        </a:rPr>
                        <a:t>Exclude from model inputs: answer-revealing</a:t>
                      </a:r>
                    </a:p>
                  </a:txBody>
                  <a:tcPr marL="133350" marR="133350" marT="114300" marB="114300" anchor="ctr">
                    <a:solidFill>
                      <a:srgbClr val="FFFFFF"/>
                    </a:solidFill>
                  </a:tcPr>
                </a:tc>
              </a:tr>
              <a:tr h="602456">
                <a:tc>
                  <a:txBody>
                    <a:bodyPr>
                      <a:noAutofit/>
                    </a:bodyPr>
                    <a:lstStyle/>
                    <a:p>
                      <a:r>
                        <a:rPr sz="2025" b="0">
                          <a:solidFill>
                            <a:srgbClr val="16333B"/>
                          </a:solidFill>
                          <a:latin typeface="Arial"/>
                          <a:ea typeface="Arial"/>
                          <a:cs typeface="Arial"/>
                        </a:rPr>
                        <a:t>Assignments, accumulated changes, transactions</a:t>
                      </a:r>
                    </a:p>
                  </a:txBody>
                  <a:tcPr marL="133350" marR="133350" marT="114300" marB="114300" anchor="ctr">
                    <a:solidFill>
                      <a:srgbClr val="EAF0ED"/>
                    </a:solidFill>
                  </a:tcPr>
                </a:tc>
                <a:tc>
                  <a:txBody>
                    <a:bodyPr>
                      <a:noAutofit/>
                    </a:bodyPr>
                    <a:lstStyle/>
                    <a:p>
                      <a:r>
                        <a:rPr sz="2025" b="0">
                          <a:solidFill>
                            <a:srgbClr val="16333B"/>
                          </a:solidFill>
                          <a:latin typeface="Arial"/>
                          <a:ea typeface="Arial"/>
                          <a:cs typeface="Arial"/>
                        </a:rPr>
                        <a:t>Exclude potentially later information</a:t>
                      </a:r>
                    </a:p>
                  </a:txBody>
                  <a:tcPr marL="133350" marR="133350" marT="114300" marB="114300" anchor="ctr">
                    <a:solidFill>
                      <a:srgbClr val="EAF0ED"/>
                    </a:solidFill>
                  </a:tcPr>
                </a:tc>
              </a:tr>
              <a:tr h="602456">
                <a:tc>
                  <a:txBody>
                    <a:bodyPr>
                      <a:noAutofit/>
                    </a:bodyPr>
                    <a:lstStyle/>
                    <a:p>
                      <a:r>
                        <a:rPr sz="2025" b="0">
                          <a:solidFill>
                            <a:srgbClr val="16333B"/>
                          </a:solidFill>
                          <a:latin typeface="Arial"/>
                          <a:ea typeface="Arial"/>
                          <a:cs typeface="Arial"/>
                        </a:rPr>
                        <a:t>Remaining booking attributes</a:t>
                      </a:r>
                    </a:p>
                  </a:txBody>
                  <a:tcPr marL="133350" marR="133350" marT="114300" marB="114300" anchor="ctr">
                    <a:solidFill>
                      <a:srgbClr val="FFFFFF"/>
                    </a:solidFill>
                  </a:tcPr>
                </a:tc>
                <a:tc>
                  <a:txBody>
                    <a:bodyPr>
                      <a:noAutofit/>
                    </a:bodyPr>
                    <a:lstStyle/>
                    <a:p>
                      <a:r>
                        <a:rPr sz="2025" b="0">
                          <a:solidFill>
                            <a:srgbClr val="16333B"/>
                          </a:solidFill>
                          <a:latin typeface="Arial"/>
                          <a:ea typeface="Arial"/>
                          <a:cs typeface="Arial"/>
                        </a:rPr>
                        <a:t>Initial values cannot be independently verified</a:t>
                      </a:r>
                    </a:p>
                  </a:txBody>
                  <a:tcPr marL="133350" marR="133350" marT="114300" marB="114300" anchor="ctr">
                    <a:solidFill>
                      <a:srgbClr val="FFFFFF"/>
                    </a:solidFill>
                  </a:tcPr>
                </a:tc>
              </a:tr>
            </a:tbl>
          </a:graphicData>
        </a:graphic>
      </p:graphicFrame>
      <p:sp>
        <p:nvSpPr>
          <p:cNvPr id="5" name="Actual study: retrospective prediction usi">
            <a:extLst xmlns:a="http://schemas.openxmlformats.org/drawingml/2006/main">
              <a:ext uri="{FF2B5EF4-FFF2-40B4-BE49-F238E27FC236}">
                <a16:creationId xmlns:a16="http://schemas.microsoft.com/office/drawing/2014/main" id="{B6E25BE7-7CE9-4BCD-9A0A-18455494B275}"/>
              </a:ext>
            </a:extLst>
          </p:cNvPr>
          <p:cNvSpPr>
            <a:spLocks xmlns:a="http://schemas.openxmlformats.org/drawingml/2006/main" noGrp="1"/>
          </p:cNvSpPr>
          <p:nvPr/>
        </p:nvSpPr>
        <p:spPr>
          <a:xfrm xmlns:a="http://schemas.openxmlformats.org/drawingml/2006/main">
            <a:off x="628650" y="5372100"/>
            <a:ext cx="10934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6A73"/>
                </a:solidFill>
                <a:latin typeface="Arial"/>
                <a:ea typeface="Arial"/>
                <a:cs typeface="Arial"/>
              </a:defRPr>
            </a:defPPr>
          </a:lstStyle>
          <a:p xmlns:a="http://schemas.openxmlformats.org/drawingml/2006/main">
            <a:pPr>
              <a:defRPr sz="2250" b="1">
                <a:solidFill>
                  <a:srgbClr val="246A73"/>
                </a:solidFill>
                <a:latin typeface="Arial"/>
                <a:ea typeface="Arial"/>
                <a:cs typeface="Arial"/>
              </a:defRPr>
            </a:pPr>
            <a:r>
              <a:rPr sz="2250" b="1">
                <a:solidFill>
                  <a:srgbClr val="246A73"/>
                </a:solidFill>
                <a:latin typeface="Arial"/>
                <a:ea typeface="Arial"/>
                <a:cs typeface="Arial"/>
              </a:rPr>
              <a:t>Actual study: retrospective prediction using recorded attributes</a:t>
            </a:r>
          </a:p>
        </p:txBody>
      </p:sp>
    </p:spTree>
    <p:extLst>
      <p:ext uri="{BB962C8B-B14F-4D97-AF65-F5344CB8AC3E}">
        <p14:creationId xmlns:p14="http://schemas.microsoft.com/office/powerpoint/2010/main" val="1759767338"/>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Evaluation: our inclusion rule changes the">
            <a:extLst xmlns:a="http://schemas.openxmlformats.org/drawingml/2006/main">
              <a:ext uri="{FF2B5EF4-FFF2-40B4-BE49-F238E27FC236}">
                <a16:creationId xmlns:a16="http://schemas.microsoft.com/office/drawing/2014/main" id="{ABE3D689-263B-4C51-80BC-CFA2F23F175C}"/>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33B"/>
                </a:solidFill>
                <a:latin typeface="Arial"/>
                <a:ea typeface="Arial"/>
                <a:cs typeface="Arial"/>
              </a:defRPr>
            </a:defPPr>
          </a:lstStyle>
          <a:p xmlns:a="http://schemas.openxmlformats.org/drawingml/2006/main">
            <a:pPr>
              <a:defRPr sz="3300" b="1">
                <a:solidFill>
                  <a:srgbClr val="16333B"/>
                </a:solidFill>
                <a:latin typeface="Arial"/>
                <a:ea typeface="Arial"/>
                <a:cs typeface="Arial"/>
              </a:defRPr>
            </a:pPr>
            <a:r>
              <a:rPr sz="3300" b="1">
                <a:solidFill>
                  <a:srgbClr val="16333B"/>
                </a:solidFill>
                <a:latin typeface="Arial"/>
                <a:ea typeface="Arial"/>
                <a:cs typeface="Arial"/>
              </a:rPr>
              <a:t>Evaluation: our inclusion rule changes the sample</a:t>
            </a:r>
          </a:p>
        </p:txBody>
      </p:sp>
      <p:sp>
        <p:nvSpPr>
          <p:cNvPr id="2" name="IS 507 Midterm  ·  6/11">
            <a:extLst xmlns:a="http://schemas.openxmlformats.org/drawingml/2006/main">
              <a:ext uri="{FF2B5EF4-FFF2-40B4-BE49-F238E27FC236}">
                <a16:creationId xmlns:a16="http://schemas.microsoft.com/office/drawing/2014/main" id="{57B5D45C-E62D-4C39-9899-2F491104E866}"/>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96F75"/>
                </a:solidFill>
                <a:latin typeface="Arial"/>
                <a:ea typeface="Arial"/>
                <a:cs typeface="Arial"/>
              </a:defRPr>
            </a:defPPr>
          </a:lstStyle>
          <a:p xmlns:a="http://schemas.openxmlformats.org/drawingml/2006/main">
            <a:r>
              <a:t>IS 507 Midterm  ·  6/10</a:t>
            </a:r>
          </a:p>
        </p:txBody>
      </p:sp>
      <p:graphicFrame>
        <p:nvGraphicFramePr>
          <p:cNvPr id="3" name="">
            <a:extLst xmlns:a="http://schemas.openxmlformats.org/drawingml/2006/main">
              <a:ext uri="{FF2B5EF4-FFF2-40B4-BE49-F238E27FC236}">
                <a16:creationId xmlns:a16="http://schemas.microsoft.com/office/drawing/2014/main" id="{5C681E73-8B2D-47F5-A98E-08EA35DBDECB}"/>
              </a:ext>
            </a:extLst>
          </p:cNvPr>
          <p:cNvGraphicFramePr/>
          <p:nvPr/>
        </p:nvGraphicFramePr>
        <p:xfrm>
          <a:off xmlns:a="http://schemas.openxmlformats.org/drawingml/2006/main" x="628650" y="1743075"/>
          <a:ext xmlns:a="http://schemas.openxmlformats.org/drawingml/2006/main" cx="10934700" cy="1914525"/>
        </p:xfrm>
        <a:graphic xmlns:a="http://schemas.openxmlformats.org/drawingml/2006/main">
          <a:graphicData uri="http://schemas.openxmlformats.org/drawingml/2006/table">
            <a:tbl>
              <a:tblPr/>
              <a:tblGrid>
                <a:gridCol w="2857500"/>
                <a:gridCol w="5410200"/>
                <a:gridCol w="2667000"/>
              </a:tblGrid>
              <a:tr h="638175">
                <a:tc>
                  <a:txBody>
                    <a:bodyPr>
                      <a:noAutofit/>
                    </a:bodyPr>
                    <a:lstStyle/>
                    <a:p>
                      <a:r>
                        <a:rPr sz="2100" b="1">
                          <a:solidFill>
                            <a:srgbClr val="FFFFFF"/>
                          </a:solidFill>
                          <a:latin typeface="Arial"/>
                          <a:ea typeface="Arial"/>
                          <a:cs typeface="Arial"/>
                        </a:rPr>
                        <a:t>Use</a:t>
                      </a:r>
                    </a:p>
                  </a:txBody>
                  <a:tcPr marL="133350" marR="133350" marT="114300" marB="114300" anchor="ctr">
                    <a:solidFill>
                      <a:srgbClr val="16333B"/>
                    </a:solidFill>
                  </a:tcPr>
                </a:tc>
                <a:tc>
                  <a:txBody>
                    <a:bodyPr>
                      <a:noAutofit/>
                    </a:bodyPr>
                    <a:lstStyle/>
                    <a:p>
                      <a:r>
                        <a:rPr sz="2100" b="1">
                          <a:solidFill>
                            <a:srgbClr val="FFFFFF"/>
                          </a:solidFill>
                          <a:latin typeface="Arial"/>
                          <a:ea typeface="Arial"/>
                          <a:cs typeface="Arial"/>
                        </a:rPr>
                        <a:t>Estimated booking period</a:t>
                      </a:r>
                    </a:p>
                  </a:txBody>
                  <a:tcPr marL="133350" marR="133350" marT="114300" marB="114300" anchor="ctr">
                    <a:solidFill>
                      <a:srgbClr val="16333B"/>
                    </a:solidFill>
                  </a:tcPr>
                </a:tc>
                <a:tc>
                  <a:txBody>
                    <a:bodyPr>
                      <a:noAutofit/>
                    </a:bodyPr>
                    <a:lstStyle/>
                    <a:p>
                      <a:r>
                        <a:rPr sz="2100" b="1">
                          <a:solidFill>
                            <a:srgbClr val="FFFFFF"/>
                          </a:solidFill>
                          <a:latin typeface="Arial"/>
                          <a:ea typeface="Arial"/>
                          <a:cs typeface="Arial"/>
                        </a:rPr>
                        <a:t>Eligible rows</a:t>
                      </a:r>
                    </a:p>
                  </a:txBody>
                  <a:tcPr marL="133350" marR="133350" marT="114300" marB="114300" anchor="ctr">
                    <a:solidFill>
                      <a:srgbClr val="16333B"/>
                    </a:solidFill>
                  </a:tcPr>
                </a:tc>
              </a:tr>
              <a:tr h="638175">
                <a:tc>
                  <a:txBody>
                    <a:bodyPr>
                      <a:noAutofit/>
                    </a:bodyPr>
                    <a:lstStyle/>
                    <a:p>
                      <a:r>
                        <a:rPr sz="2100" b="0">
                          <a:solidFill>
                            <a:srgbClr val="16333B"/>
                          </a:solidFill>
                          <a:latin typeface="Arial"/>
                          <a:ea typeface="Arial"/>
                          <a:cs typeface="Arial"/>
                        </a:rPr>
                        <a:t>Train</a:t>
                      </a:r>
                    </a:p>
                  </a:txBody>
                  <a:tcPr marL="133350" marR="133350" marT="114300" marB="114300" anchor="ctr">
                    <a:solidFill>
                      <a:srgbClr val="FFFFFF"/>
                    </a:solidFill>
                  </a:tcPr>
                </a:tc>
                <a:tc>
                  <a:txBody>
                    <a:bodyPr>
                      <a:noAutofit/>
                    </a:bodyPr>
                    <a:lstStyle/>
                    <a:p>
                      <a:r>
                        <a:rPr sz="2100" b="0">
                          <a:solidFill>
                            <a:srgbClr val="16333B"/>
                          </a:solidFill>
                          <a:latin typeface="Arial"/>
                          <a:ea typeface="Arial"/>
                          <a:cs typeface="Arial"/>
                        </a:rPr>
                        <a:t>Jul 2015 to Jun 2016</a:t>
                      </a:r>
                    </a:p>
                  </a:txBody>
                  <a:tcPr marL="133350" marR="133350" marT="114300" marB="114300" anchor="ctr">
                    <a:solidFill>
                      <a:srgbClr val="FFFFFF"/>
                    </a:solidFill>
                  </a:tcPr>
                </a:tc>
                <a:tc>
                  <a:txBody>
                    <a:bodyPr>
                      <a:noAutofit/>
                    </a:bodyPr>
                    <a:lstStyle/>
                    <a:p>
                      <a:r>
                        <a:rPr sz="2100" b="0">
                          <a:solidFill>
                            <a:srgbClr val="16333B"/>
                          </a:solidFill>
                          <a:latin typeface="Arial"/>
                          <a:ea typeface="Arial"/>
                          <a:cs typeface="Arial"/>
                        </a:rPr>
                        <a:t>39,865</a:t>
                      </a:r>
                    </a:p>
                  </a:txBody>
                  <a:tcPr marL="133350" marR="133350" marT="114300" marB="114300" anchor="ctr">
                    <a:solidFill>
                      <a:srgbClr val="FFFFFF"/>
                    </a:solidFill>
                  </a:tcPr>
                </a:tc>
              </a:tr>
              <a:tr h="638175">
                <a:tc>
                  <a:txBody>
                    <a:bodyPr>
                      <a:noAutofit/>
                    </a:bodyPr>
                    <a:lstStyle/>
                    <a:p>
                      <a:r>
                        <a:rPr sz="2100" b="0">
                          <a:solidFill>
                            <a:srgbClr val="16333B"/>
                          </a:solidFill>
                          <a:latin typeface="Arial"/>
                          <a:ea typeface="Arial"/>
                          <a:cs typeface="Arial"/>
                        </a:rPr>
                        <a:t>Validation</a:t>
                      </a:r>
                    </a:p>
                  </a:txBody>
                  <a:tcPr marL="133350" marR="133350" marT="114300" marB="114300" anchor="ctr">
                    <a:solidFill>
                      <a:srgbClr val="EAF0ED"/>
                    </a:solidFill>
                  </a:tcPr>
                </a:tc>
                <a:tc>
                  <a:txBody>
                    <a:bodyPr>
                      <a:noAutofit/>
                    </a:bodyPr>
                    <a:lstStyle/>
                    <a:p>
                      <a:r>
                        <a:rPr sz="2100" b="0">
                          <a:solidFill>
                            <a:srgbClr val="16333B"/>
                          </a:solidFill>
                          <a:latin typeface="Arial"/>
                          <a:ea typeface="Arial"/>
                          <a:cs typeface="Arial"/>
                        </a:rPr>
                        <a:t>Jul to Dec 2016</a:t>
                      </a:r>
                    </a:p>
                  </a:txBody>
                  <a:tcPr marL="133350" marR="133350" marT="114300" marB="114300" anchor="ctr">
                    <a:solidFill>
                      <a:srgbClr val="EAF0ED"/>
                    </a:solidFill>
                  </a:tcPr>
                </a:tc>
                <a:tc>
                  <a:txBody>
                    <a:bodyPr>
                      <a:noAutofit/>
                    </a:bodyPr>
                    <a:lstStyle/>
                    <a:p>
                      <a:r>
                        <a:rPr sz="2100" b="0">
                          <a:solidFill>
                            <a:srgbClr val="16333B"/>
                          </a:solidFill>
                          <a:latin typeface="Arial"/>
                          <a:ea typeface="Arial"/>
                          <a:cs typeface="Arial"/>
                        </a:rPr>
                        <a:t>14,088</a:t>
                      </a:r>
                    </a:p>
                  </a:txBody>
                  <a:tcPr marL="133350" marR="133350" marT="114300" marB="114300" anchor="ctr">
                    <a:solidFill>
                      <a:srgbClr val="EAF0ED"/>
                    </a:solidFill>
                  </a:tcPr>
                </a:tc>
              </a:tr>
            </a:tbl>
          </a:graphicData>
        </a:graphic>
      </p:graphicFrame>
      <p:sp>
        <p:nvSpPr>
          <p:cNvPr id="4" name="Rule: final status and planned departure b">
            <a:extLst xmlns:a="http://schemas.openxmlformats.org/drawingml/2006/main">
              <a:ext uri="{FF2B5EF4-FFF2-40B4-BE49-F238E27FC236}">
                <a16:creationId xmlns:a16="http://schemas.microsoft.com/office/drawing/2014/main" id="{4441C2C7-6CC9-40AD-944E-15AD6CC813A6}"/>
              </a:ext>
            </a:extLst>
          </p:cNvPr>
          <p:cNvSpPr>
            <a:spLocks xmlns:a="http://schemas.openxmlformats.org/drawingml/2006/main" noGrp="1"/>
          </p:cNvSpPr>
          <p:nvPr/>
        </p:nvSpPr>
        <p:spPr>
          <a:xfrm xmlns:a="http://schemas.openxmlformats.org/drawingml/2006/main">
            <a:off x="628650" y="39433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6A73"/>
                </a:solidFill>
                <a:latin typeface="Arial"/>
                <a:ea typeface="Arial"/>
                <a:cs typeface="Arial"/>
              </a:defRPr>
            </a:defPPr>
          </a:lstStyle>
          <a:p xmlns:a="http://schemas.openxmlformats.org/drawingml/2006/main">
            <a:pPr>
              <a:defRPr sz="2175" b="1">
                <a:solidFill>
                  <a:srgbClr val="246A73"/>
                </a:solidFill>
                <a:latin typeface="Arial"/>
                <a:ea typeface="Arial"/>
                <a:cs typeface="Arial"/>
              </a:defRPr>
            </a:pPr>
            <a:r>
              <a:rPr sz="2175" b="1">
                <a:solidFill>
                  <a:srgbClr val="246A73"/>
                </a:solidFill>
                <a:latin typeface="Arial"/>
                <a:ea typeface="Arial"/>
                <a:cs typeface="Arial"/>
              </a:rPr>
              <a:t>Rule: final status and planned departure before the cutoff</a:t>
            </a:r>
          </a:p>
        </p:txBody>
      </p:sp>
      <p:sp>
        <p:nvSpPr>
          <p:cNvPr id="5" name="Validation positive fraction: 26.19% with ">
            <a:extLst xmlns:a="http://schemas.openxmlformats.org/drawingml/2006/main">
              <a:ext uri="{FF2B5EF4-FFF2-40B4-BE49-F238E27FC236}">
                <a16:creationId xmlns:a16="http://schemas.microsoft.com/office/drawing/2014/main" id="{2D32D93F-E945-4C60-B1F2-CD6BA9044CA6}"/>
              </a:ext>
            </a:extLst>
          </p:cNvPr>
          <p:cNvSpPr>
            <a:spLocks xmlns:a="http://schemas.openxmlformats.org/drawingml/2006/main" noGrp="1"/>
          </p:cNvSpPr>
          <p:nvPr/>
        </p:nvSpPr>
        <p:spPr>
          <a:xfrm xmlns:a="http://schemas.openxmlformats.org/drawingml/2006/main">
            <a:off x="628650" y="48101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6333B"/>
                </a:solidFill>
                <a:latin typeface="Arial"/>
                <a:ea typeface="Arial"/>
                <a:cs typeface="Arial"/>
              </a:defRPr>
            </a:defPPr>
          </a:lstStyle>
          <a:p xmlns:a="http://schemas.openxmlformats.org/drawingml/2006/main">
            <a:pPr>
              <a:defRPr sz="2325" b="1">
                <a:solidFill>
                  <a:srgbClr val="16333B"/>
                </a:solidFill>
                <a:latin typeface="Arial"/>
                <a:ea typeface="Arial"/>
                <a:cs typeface="Arial"/>
              </a:defRPr>
            </a:pPr>
            <a:r>
              <a:rPr sz="2325" b="1">
                <a:solidFill>
                  <a:srgbClr val="16333B"/>
                </a:solidFill>
                <a:latin typeface="Arial"/>
                <a:ea typeface="Arial"/>
                <a:cs typeface="Arial"/>
              </a:rPr>
              <a:t>Validation positive fraction: 26.19% with both dates</a:t>
            </a:r>
          </a:p>
          <a:p xmlns:a="http://schemas.openxmlformats.org/drawingml/2006/main">
            <a:pPr>
              <a:defRPr sz="2325" b="1">
                <a:solidFill>
                  <a:srgbClr val="16333B"/>
                </a:solidFill>
                <a:latin typeface="Arial"/>
                <a:ea typeface="Arial"/>
                <a:cs typeface="Arial"/>
              </a:defRPr>
            </a:pPr>
            <a:r>
              <a:rPr sz="2325" b="1">
                <a:solidFill>
                  <a:srgbClr val="16333B"/>
                </a:solidFill>
                <a:latin typeface="Arial"/>
                <a:ea typeface="Arial"/>
                <a:cs typeface="Arial"/>
              </a:rPr>
              <a:t>42.76% with status date only (+4,080 positives)</a:t>
            </a:r>
          </a:p>
        </p:txBody>
      </p:sp>
      <p:sp>
        <p:nvSpPr>
          <p:cNvPr id="6" name="Date proxy = arrival date minus lead time.">
            <a:extLst xmlns:a="http://schemas.openxmlformats.org/drawingml/2006/main">
              <a:ext uri="{FF2B5EF4-FFF2-40B4-BE49-F238E27FC236}">
                <a16:creationId xmlns:a16="http://schemas.microsoft.com/office/drawing/2014/main" id="{F7C4E6A2-480B-4507-833D-3BC6A0208169}"/>
              </a:ext>
            </a:extLst>
          </p:cNvPr>
          <p:cNvSpPr>
            <a:spLocks xmlns:a="http://schemas.openxmlformats.org/drawingml/2006/main" noGrp="1"/>
          </p:cNvSpPr>
          <p:nvPr/>
        </p:nvSpPr>
        <p:spPr>
          <a:xfrm xmlns:a="http://schemas.openxmlformats.org/drawingml/2006/main">
            <a:off x="628650" y="5857875"/>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F75"/>
                </a:solidFill>
                <a:latin typeface="Arial"/>
                <a:ea typeface="Arial"/>
                <a:cs typeface="Arial"/>
              </a:defRPr>
            </a:defPPr>
          </a:lstStyle>
          <a:p xmlns:a="http://schemas.openxmlformats.org/drawingml/2006/main">
            <a:pPr>
              <a:defRPr sz="1500" b="0">
                <a:solidFill>
                  <a:srgbClr val="596F75"/>
                </a:solidFill>
                <a:latin typeface="Arial"/>
                <a:ea typeface="Arial"/>
                <a:cs typeface="Arial"/>
              </a:defRPr>
            </a:pPr>
            <a:r>
              <a:rPr sz="1500" b="0">
                <a:solidFill>
                  <a:srgbClr val="596F75"/>
                </a:solidFill>
                <a:latin typeface="Arial"/>
                <a:ea typeface="Arial"/>
                <a:cs typeface="Arial"/>
              </a:rPr>
              <a:t>Date proxy = arrival date minus lead time. Findings apply to the selected cohort.</a:t>
            </a:r>
          </a:p>
        </p:txBody>
      </p:sp>
    </p:spTree>
    <p:extLst>
      <p:ext uri="{BB962C8B-B14F-4D97-AF65-F5344CB8AC3E}">
        <p14:creationId xmlns:p14="http://schemas.microsoft.com/office/powerpoint/2010/main" val="930036144"/>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Preparation and two training-data findings">
            <a:extLst xmlns:a="http://schemas.openxmlformats.org/drawingml/2006/main">
              <a:ext uri="{FF2B5EF4-FFF2-40B4-BE49-F238E27FC236}">
                <a16:creationId xmlns:a16="http://schemas.microsoft.com/office/drawing/2014/main" id="{CA0C6D65-4B7A-46FC-B580-75EE75BFA15C}"/>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33B"/>
                </a:solidFill>
                <a:latin typeface="Arial"/>
                <a:ea typeface="Arial"/>
                <a:cs typeface="Arial"/>
              </a:defRPr>
            </a:defPPr>
          </a:lstStyle>
          <a:p xmlns:a="http://schemas.openxmlformats.org/drawingml/2006/main">
            <a:pPr>
              <a:defRPr sz="3300" b="1">
                <a:solidFill>
                  <a:srgbClr val="16333B"/>
                </a:solidFill>
                <a:latin typeface="Arial"/>
                <a:ea typeface="Arial"/>
                <a:cs typeface="Arial"/>
              </a:defRPr>
            </a:pPr>
            <a:r>
              <a:rPr sz="3300" b="1">
                <a:solidFill>
                  <a:srgbClr val="16333B"/>
                </a:solidFill>
                <a:latin typeface="Arial"/>
                <a:ea typeface="Arial"/>
                <a:cs typeface="Arial"/>
              </a:rPr>
              <a:t>Preparation and two training-data findings</a:t>
            </a:r>
          </a:p>
        </p:txBody>
      </p:sp>
      <p:sp>
        <p:nvSpPr>
          <p:cNvPr id="2" name="IS 507 Midterm  ·  7/11">
            <a:extLst xmlns:a="http://schemas.openxmlformats.org/drawingml/2006/main">
              <a:ext uri="{FF2B5EF4-FFF2-40B4-BE49-F238E27FC236}">
                <a16:creationId xmlns:a16="http://schemas.microsoft.com/office/drawing/2014/main" id="{27015A68-A6ED-455D-BF2E-D23A0B0120E0}"/>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96F75"/>
                </a:solidFill>
                <a:latin typeface="Arial"/>
                <a:ea typeface="Arial"/>
                <a:cs typeface="Arial"/>
              </a:defRPr>
            </a:defPPr>
          </a:lstStyle>
          <a:p xmlns:a="http://schemas.openxmlformats.org/drawingml/2006/main">
            <a:r>
              <a:t>IS 507 Midterm  ·  7/10</a:t>
            </a:r>
          </a:p>
        </p:txBody>
      </p:sp>
      <p:sp>
        <p:nvSpPr>
          <p:cNvPr id="3" name="Days booked ahead">
            <a:extLst xmlns:a="http://schemas.openxmlformats.org/drawingml/2006/main">
              <a:ext uri="{FF2B5EF4-FFF2-40B4-BE49-F238E27FC236}">
                <a16:creationId xmlns:a16="http://schemas.microsoft.com/office/drawing/2014/main" id="{E0BFE006-A376-4A62-9360-B4F1A5CEC1BE}"/>
              </a:ext>
            </a:extLst>
          </p:cNvPr>
          <p:cNvSpPr>
            <a:spLocks xmlns:a="http://schemas.openxmlformats.org/drawingml/2006/main" noGrp="1"/>
          </p:cNvSpPr>
          <p:nvPr/>
        </p:nvSpPr>
        <p:spPr>
          <a:xfrm xmlns:a="http://schemas.openxmlformats.org/drawingml/2006/main">
            <a:off x="628650" y="18002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46A73"/>
                </a:solidFill>
                <a:latin typeface="Arial"/>
                <a:ea typeface="Arial"/>
                <a:cs typeface="Arial"/>
              </a:defRPr>
            </a:defPPr>
          </a:lstStyle>
          <a:p xmlns:a="http://schemas.openxmlformats.org/drawingml/2006/main">
            <a:pPr>
              <a:defRPr sz="2475" b="1">
                <a:solidFill>
                  <a:srgbClr val="246A73"/>
                </a:solidFill>
                <a:latin typeface="Arial"/>
                <a:ea typeface="Arial"/>
                <a:cs typeface="Arial"/>
              </a:defRPr>
            </a:pPr>
            <a:r>
              <a:rPr sz="2475" b="1">
                <a:solidFill>
                  <a:srgbClr val="246A73"/>
                </a:solidFill>
                <a:latin typeface="Arial"/>
                <a:ea typeface="Arial"/>
                <a:cs typeface="Arial"/>
              </a:rPr>
              <a:t>Days booked ahead</a:t>
            </a:r>
          </a:p>
        </p:txBody>
      </p:sp>
      <p:sp>
        <p:nvSpPr>
          <p:cNvPr id="4" name="Median: 38 days&#10;Middle half: 8 to 94 days">
            <a:extLst xmlns:a="http://schemas.openxmlformats.org/drawingml/2006/main">
              <a:ext uri="{FF2B5EF4-FFF2-40B4-BE49-F238E27FC236}">
                <a16:creationId xmlns:a16="http://schemas.microsoft.com/office/drawing/2014/main" id="{767ED0D6-B8F0-49F8-834D-E22318E3034A}"/>
              </a:ext>
            </a:extLst>
          </p:cNvPr>
          <p:cNvSpPr>
            <a:spLocks xmlns:a="http://schemas.openxmlformats.org/drawingml/2006/main" noGrp="1"/>
          </p:cNvSpPr>
          <p:nvPr/>
        </p:nvSpPr>
        <p:spPr>
          <a:xfrm xmlns:a="http://schemas.openxmlformats.org/drawingml/2006/main">
            <a:off x="628650" y="25717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6333B"/>
                </a:solidFill>
                <a:latin typeface="Arial"/>
                <a:ea typeface="Arial"/>
                <a:cs typeface="Arial"/>
              </a:defRPr>
            </a:defPPr>
          </a:lstStyle>
          <a:p xmlns:a="http://schemas.openxmlformats.org/drawingml/2006/main">
            <a:pPr>
              <a:defRPr sz="2325" b="0">
                <a:solidFill>
                  <a:srgbClr val="16333B"/>
                </a:solidFill>
                <a:latin typeface="Arial"/>
                <a:ea typeface="Arial"/>
                <a:cs typeface="Arial"/>
              </a:defRPr>
            </a:pPr>
            <a:r>
              <a:rPr sz="2325" b="0">
                <a:solidFill>
                  <a:srgbClr val="16333B"/>
                </a:solidFill>
                <a:latin typeface="Arial"/>
                <a:ea typeface="Arial"/>
                <a:cs typeface="Arial"/>
              </a:rPr>
              <a:t>Median: 38 days</a:t>
            </a:r>
          </a:p>
          <a:p xmlns:a="http://schemas.openxmlformats.org/drawingml/2006/main">
            <a:pPr>
              <a:defRPr sz="2325" b="0">
                <a:solidFill>
                  <a:srgbClr val="16333B"/>
                </a:solidFill>
                <a:latin typeface="Arial"/>
                <a:ea typeface="Arial"/>
                <a:cs typeface="Arial"/>
              </a:defRPr>
            </a:pPr>
            <a:r>
              <a:rPr sz="2325" b="0">
                <a:solidFill>
                  <a:srgbClr val="16333B"/>
                </a:solidFill>
                <a:latin typeface="Arial"/>
                <a:ea typeface="Arial"/>
                <a:cs typeface="Arial"/>
              </a:rPr>
              <a:t>Middle half: 8 to 94 days</a:t>
            </a:r>
          </a:p>
        </p:txBody>
      </p:sp>
      <p:sp>
        <p:nvSpPr>
          <p:cNvPr id="5" name="Preparation learns from training only">
            <a:extLst xmlns:a="http://schemas.openxmlformats.org/drawingml/2006/main">
              <a:ext uri="{FF2B5EF4-FFF2-40B4-BE49-F238E27FC236}">
                <a16:creationId xmlns:a16="http://schemas.microsoft.com/office/drawing/2014/main" id="{B0DE5BC4-C415-48C1-AE20-DE2A20BABA1F}"/>
              </a:ext>
            </a:extLst>
          </p:cNvPr>
          <p:cNvSpPr>
            <a:spLocks xmlns:a="http://schemas.openxmlformats.org/drawingml/2006/main" noGrp="1"/>
          </p:cNvSpPr>
          <p:nvPr/>
        </p:nvSpPr>
        <p:spPr>
          <a:xfrm xmlns:a="http://schemas.openxmlformats.org/drawingml/2006/main">
            <a:off x="628650" y="4133850"/>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6A73"/>
                </a:solidFill>
                <a:latin typeface="Arial"/>
                <a:ea typeface="Arial"/>
                <a:cs typeface="Arial"/>
              </a:defRPr>
            </a:defPPr>
          </a:lstStyle>
          <a:p xmlns:a="http://schemas.openxmlformats.org/drawingml/2006/main">
            <a:pPr>
              <a:defRPr sz="2175" b="1">
                <a:solidFill>
                  <a:srgbClr val="246A73"/>
                </a:solidFill>
                <a:latin typeface="Arial"/>
                <a:ea typeface="Arial"/>
                <a:cs typeface="Arial"/>
              </a:defRPr>
            </a:pPr>
            <a:r>
              <a:rPr sz="2175" b="1">
                <a:solidFill>
                  <a:srgbClr val="246A73"/>
                </a:solidFill>
                <a:latin typeface="Arial"/>
                <a:ea typeface="Arial"/>
                <a:cs typeface="Arial"/>
              </a:rPr>
              <a:t>Preparation learns from training only</a:t>
            </a:r>
          </a:p>
        </p:txBody>
      </p:sp>
      <p:sp>
        <p:nvSpPr>
          <p:cNvPr id="6" name="Keep repeated rows. Check alternatives.&#10;Fo">
            <a:extLst xmlns:a="http://schemas.openxmlformats.org/drawingml/2006/main">
              <a:ext uri="{FF2B5EF4-FFF2-40B4-BE49-F238E27FC236}">
                <a16:creationId xmlns:a16="http://schemas.microsoft.com/office/drawing/2014/main" id="{38B84375-4E37-4C05-9CA3-B61AF345CAEC}"/>
              </a:ext>
            </a:extLst>
          </p:cNvPr>
          <p:cNvSpPr>
            <a:spLocks xmlns:a="http://schemas.openxmlformats.org/drawingml/2006/main" noGrp="1"/>
          </p:cNvSpPr>
          <p:nvPr/>
        </p:nvSpPr>
        <p:spPr>
          <a:xfrm xmlns:a="http://schemas.openxmlformats.org/drawingml/2006/main">
            <a:off x="628650" y="50673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6333B"/>
                </a:solidFill>
                <a:latin typeface="Arial"/>
                <a:ea typeface="Arial"/>
                <a:cs typeface="Arial"/>
              </a:defRPr>
            </a:defPPr>
          </a:lstStyle>
          <a:p xmlns:a="http://schemas.openxmlformats.org/drawingml/2006/main">
            <a:pPr>
              <a:defRPr sz="1950" b="0">
                <a:solidFill>
                  <a:srgbClr val="16333B"/>
                </a:solidFill>
                <a:latin typeface="Arial"/>
                <a:ea typeface="Arial"/>
                <a:cs typeface="Arial"/>
              </a:defRPr>
            </a:pPr>
            <a:r>
              <a:rPr sz="1950" b="0">
                <a:solidFill>
                  <a:srgbClr val="16333B"/>
                </a:solidFill>
                <a:latin typeface="Arial"/>
                <a:ea typeface="Arial"/>
                <a:cs typeface="Arial"/>
              </a:rPr>
              <a:t>Keep repeated rows. Check alternatives.</a:t>
            </a:r>
          </a:p>
          <a:p xmlns:a="http://schemas.openxmlformats.org/drawingml/2006/main">
            <a:pPr>
              <a:defRPr sz="1950" b="0">
                <a:solidFill>
                  <a:srgbClr val="16333B"/>
                </a:solidFill>
                <a:latin typeface="Arial"/>
                <a:ea typeface="Arial"/>
                <a:cs typeface="Arial"/>
              </a:defRPr>
            </a:pPr>
            <a:r>
              <a:rPr sz="1950" b="0">
                <a:solidFill>
                  <a:srgbClr val="16333B"/>
                </a:solidFill>
                <a:latin typeface="Arial"/>
                <a:ea typeface="Arial"/>
                <a:cs typeface="Arial"/>
              </a:rPr>
              <a:t>Four missing children counts.</a:t>
            </a:r>
          </a:p>
        </p:txBody>
      </p:sp>
      <p:graphicFrame>
        <p:nvGraphicFramePr>
          <p:cNvPr id="7" name="Chart">
            <a:extLst xmlns:a="http://schemas.openxmlformats.org/drawingml/2006/main">
              <a:ext uri="{FF2B5EF4-FFF2-40B4-BE49-F238E27FC236}">
                <a16:creationId xmlns:a16="http://schemas.microsoft.com/office/drawing/2014/main" id="{1B2C882A-E859-420F-ADC5-DD5CBB75C9B7}"/>
              </a:ext>
            </a:extLst>
          </p:cNvPr>
          <p:cNvGraphicFramePr/>
          <p:nvPr/>
        </p:nvGraphicFramePr>
        <p:xfrm>
          <a:off xmlns:a="http://schemas.openxmlformats.org/drawingml/2006/main" x="6210300" y="176212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fd189b4c27394576"/>
          </a:graphicData>
        </a:graphic>
      </p:graphicFrame>
      <p:sp>
        <p:nvSpPr>
          <p:cNvPr id="8" name="One establishment of each type">
            <a:extLst xmlns:a="http://schemas.openxmlformats.org/drawingml/2006/main">
              <a:ext uri="{FF2B5EF4-FFF2-40B4-BE49-F238E27FC236}">
                <a16:creationId xmlns:a16="http://schemas.microsoft.com/office/drawing/2014/main" id="{29CA72CB-DB13-440A-8E8B-CD8F3FCDA17C}"/>
              </a:ext>
            </a:extLst>
          </p:cNvPr>
          <p:cNvSpPr>
            <a:spLocks xmlns:a="http://schemas.openxmlformats.org/drawingml/2006/main" noGrp="1"/>
          </p:cNvSpPr>
          <p:nvPr/>
        </p:nvSpPr>
        <p:spPr>
          <a:xfrm xmlns:a="http://schemas.openxmlformats.org/drawingml/2006/main">
            <a:off x="6238875" y="5676900"/>
            <a:ext cx="531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F75"/>
                </a:solidFill>
                <a:latin typeface="Arial"/>
                <a:ea typeface="Arial"/>
                <a:cs typeface="Arial"/>
              </a:defRPr>
            </a:defPPr>
          </a:lstStyle>
          <a:p xmlns:a="http://schemas.openxmlformats.org/drawingml/2006/main">
            <a:pPr>
              <a:defRPr sz="1725" b="0">
                <a:solidFill>
                  <a:srgbClr val="596F75"/>
                </a:solidFill>
                <a:latin typeface="Arial"/>
                <a:ea typeface="Arial"/>
                <a:cs typeface="Arial"/>
              </a:defRPr>
            </a:pPr>
            <a:r>
              <a:rPr sz="1725" b="0">
                <a:solidFill>
                  <a:srgbClr val="596F75"/>
                </a:solidFill>
                <a:latin typeface="Arial"/>
                <a:ea typeface="Arial"/>
                <a:cs typeface="Arial"/>
              </a:rPr>
              <a:t>One establishment of each type</a:t>
            </a:r>
          </a:p>
        </p:txBody>
      </p:sp>
    </p:spTree>
    <p:extLst>
      <p:ext uri="{BB962C8B-B14F-4D97-AF65-F5344CB8AC3E}">
        <p14:creationId xmlns:p14="http://schemas.microsoft.com/office/powerpoint/2010/main" val="1723688049"/>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Analysis: a constant baseline and logistic">
            <a:extLst xmlns:a="http://schemas.openxmlformats.org/drawingml/2006/main">
              <a:ext uri="{FF2B5EF4-FFF2-40B4-BE49-F238E27FC236}">
                <a16:creationId xmlns:a16="http://schemas.microsoft.com/office/drawing/2014/main" id="{1BAECC29-2FCD-4D21-AC15-8E99185276C0}"/>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33B"/>
                </a:solidFill>
                <a:latin typeface="Arial"/>
                <a:ea typeface="Arial"/>
                <a:cs typeface="Arial"/>
              </a:defRPr>
            </a:defPPr>
          </a:lstStyle>
          <a:p xmlns:a="http://schemas.openxmlformats.org/drawingml/2006/main">
            <a:pPr>
              <a:defRPr sz="3300" b="1">
                <a:solidFill>
                  <a:srgbClr val="16333B"/>
                </a:solidFill>
                <a:latin typeface="Arial"/>
                <a:ea typeface="Arial"/>
                <a:cs typeface="Arial"/>
              </a:defRPr>
            </a:pPr>
            <a:r>
              <a:rPr sz="3300" b="1">
                <a:solidFill>
                  <a:srgbClr val="16333B"/>
                </a:solidFill>
                <a:latin typeface="Arial"/>
                <a:ea typeface="Arial"/>
                <a:cs typeface="Arial"/>
              </a:rPr>
              <a:t>Analysis: a constant baseline and logistic regression</a:t>
            </a:r>
          </a:p>
        </p:txBody>
      </p:sp>
      <p:sp>
        <p:nvSpPr>
          <p:cNvPr id="2" name="IS 507 Midterm  ·  8/11">
            <a:extLst xmlns:a="http://schemas.openxmlformats.org/drawingml/2006/main">
              <a:ext uri="{FF2B5EF4-FFF2-40B4-BE49-F238E27FC236}">
                <a16:creationId xmlns:a16="http://schemas.microsoft.com/office/drawing/2014/main" id="{B0833A85-948D-4260-A1E0-2437E7721869}"/>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96F75"/>
                </a:solidFill>
                <a:latin typeface="Arial"/>
                <a:ea typeface="Arial"/>
                <a:cs typeface="Arial"/>
              </a:defRPr>
            </a:defPPr>
          </a:lstStyle>
          <a:p xmlns:a="http://schemas.openxmlformats.org/drawingml/2006/main">
            <a:r>
              <a:t>IS 507 Midterm  ·  8/10</a:t>
            </a:r>
          </a:p>
        </p:txBody>
      </p:sp>
      <p:sp>
        <p:nvSpPr>
          <p:cNvPr id="3" name="Constant baseline">
            <a:extLst xmlns:a="http://schemas.openxmlformats.org/drawingml/2006/main">
              <a:ext uri="{FF2B5EF4-FFF2-40B4-BE49-F238E27FC236}">
                <a16:creationId xmlns:a16="http://schemas.microsoft.com/office/drawing/2014/main" id="{DAF278AC-4302-472D-9CE8-230EE8DD7EEB}"/>
              </a:ext>
            </a:extLst>
          </p:cNvPr>
          <p:cNvSpPr>
            <a:spLocks xmlns:a="http://schemas.openxmlformats.org/drawingml/2006/main" noGrp="1"/>
          </p:cNvSpPr>
          <p:nvPr/>
        </p:nvSpPr>
        <p:spPr>
          <a:xfrm xmlns:a="http://schemas.openxmlformats.org/drawingml/2006/main">
            <a:off x="628650" y="1809750"/>
            <a:ext cx="5000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46A73"/>
                </a:solidFill>
                <a:latin typeface="Arial"/>
                <a:ea typeface="Arial"/>
                <a:cs typeface="Arial"/>
              </a:defRPr>
            </a:defPPr>
          </a:lstStyle>
          <a:p xmlns:a="http://schemas.openxmlformats.org/drawingml/2006/main">
            <a:pPr>
              <a:defRPr sz="2625" b="1">
                <a:solidFill>
                  <a:srgbClr val="246A73"/>
                </a:solidFill>
                <a:latin typeface="Arial"/>
                <a:ea typeface="Arial"/>
                <a:cs typeface="Arial"/>
              </a:defRPr>
            </a:pPr>
            <a:r>
              <a:rPr sz="2625" b="1">
                <a:solidFill>
                  <a:srgbClr val="246A73"/>
                </a:solidFill>
                <a:latin typeface="Arial"/>
                <a:ea typeface="Arial"/>
                <a:cs typeface="Arial"/>
              </a:rPr>
              <a:t>Constant baseline</a:t>
            </a:r>
          </a:p>
        </p:txBody>
      </p:sp>
      <p:sp>
        <p:nvSpPr>
          <p:cNvPr id="4" name="Every booking gets 30.75% risk.&#10;Learned fr">
            <a:extLst xmlns:a="http://schemas.openxmlformats.org/drawingml/2006/main">
              <a:ext uri="{FF2B5EF4-FFF2-40B4-BE49-F238E27FC236}">
                <a16:creationId xmlns:a16="http://schemas.microsoft.com/office/drawing/2014/main" id="{BAAE4533-72D1-4392-836B-BDBF03D8F1C2}"/>
              </a:ext>
            </a:extLst>
          </p:cNvPr>
          <p:cNvSpPr>
            <a:spLocks xmlns:a="http://schemas.openxmlformats.org/drawingml/2006/main" noGrp="1"/>
          </p:cNvSpPr>
          <p:nvPr/>
        </p:nvSpPr>
        <p:spPr>
          <a:xfrm xmlns:a="http://schemas.openxmlformats.org/drawingml/2006/main">
            <a:off x="628650" y="2581275"/>
            <a:ext cx="5048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6333B"/>
                </a:solidFill>
                <a:latin typeface="Arial"/>
                <a:ea typeface="Arial"/>
                <a:cs typeface="Arial"/>
              </a:defRPr>
            </a:defPPr>
          </a:lstStyle>
          <a:p xmlns:a="http://schemas.openxmlformats.org/drawingml/2006/main">
            <a:pPr>
              <a:defRPr sz="2250" b="0">
                <a:solidFill>
                  <a:srgbClr val="16333B"/>
                </a:solidFill>
                <a:latin typeface="Arial"/>
                <a:ea typeface="Arial"/>
                <a:cs typeface="Arial"/>
              </a:defRPr>
            </a:pPr>
            <a:r>
              <a:rPr sz="2250" b="0">
                <a:solidFill>
                  <a:srgbClr val="16333B"/>
                </a:solidFill>
                <a:latin typeface="Arial"/>
                <a:ea typeface="Arial"/>
                <a:cs typeface="Arial"/>
              </a:rPr>
              <a:t>Every booking gets 30.75% risk.</a:t>
            </a:r>
          </a:p>
          <a:p xmlns:a="http://schemas.openxmlformats.org/drawingml/2006/main">
            <a:pPr>
              <a:defRPr sz="2250" b="0">
                <a:solidFill>
                  <a:srgbClr val="16333B"/>
                </a:solidFill>
                <a:latin typeface="Arial"/>
                <a:ea typeface="Arial"/>
                <a:cs typeface="Arial"/>
              </a:defRPr>
            </a:pPr>
            <a:r>
              <a:rPr sz="2250" b="0">
                <a:solidFill>
                  <a:srgbClr val="16333B"/>
                </a:solidFill>
                <a:latin typeface="Arial"/>
                <a:ea typeface="Arial"/>
                <a:cs typeface="Arial"/>
              </a:rPr>
              <a:t>Learned from training outcomes.</a:t>
            </a:r>
          </a:p>
        </p:txBody>
      </p:sp>
      <p:sp>
        <p:nvSpPr>
          <p:cNvPr id="5" name="Logistic regression">
            <a:extLst xmlns:a="http://schemas.openxmlformats.org/drawingml/2006/main">
              <a:ext uri="{FF2B5EF4-FFF2-40B4-BE49-F238E27FC236}">
                <a16:creationId xmlns:a16="http://schemas.microsoft.com/office/drawing/2014/main" id="{8DB30ADC-9A62-484A-8B77-991E88D41DF2}"/>
              </a:ext>
            </a:extLst>
          </p:cNvPr>
          <p:cNvSpPr>
            <a:spLocks xmlns:a="http://schemas.openxmlformats.org/drawingml/2006/main" noGrp="1"/>
          </p:cNvSpPr>
          <p:nvPr/>
        </p:nvSpPr>
        <p:spPr>
          <a:xfrm xmlns:a="http://schemas.openxmlformats.org/drawingml/2006/main">
            <a:off x="6248400" y="1809750"/>
            <a:ext cx="5314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46A73"/>
                </a:solidFill>
                <a:latin typeface="Arial"/>
                <a:ea typeface="Arial"/>
                <a:cs typeface="Arial"/>
              </a:defRPr>
            </a:defPPr>
          </a:lstStyle>
          <a:p xmlns:a="http://schemas.openxmlformats.org/drawingml/2006/main">
            <a:pPr>
              <a:defRPr sz="2625" b="1">
                <a:solidFill>
                  <a:srgbClr val="246A73"/>
                </a:solidFill>
                <a:latin typeface="Arial"/>
                <a:ea typeface="Arial"/>
                <a:cs typeface="Arial"/>
              </a:defRPr>
            </a:pPr>
            <a:r>
              <a:rPr sz="2625" b="1">
                <a:solidFill>
                  <a:srgbClr val="246A73"/>
                </a:solidFill>
                <a:latin typeface="Arial"/>
                <a:ea typeface="Arial"/>
                <a:cs typeface="Arial"/>
              </a:rPr>
              <a:t>Logistic regression</a:t>
            </a:r>
          </a:p>
        </p:txBody>
      </p:sp>
      <p:sp>
        <p:nvSpPr>
          <p:cNvPr id="6" name="Booking details change the risk.&#10;Fit once ">
            <a:extLst xmlns:a="http://schemas.openxmlformats.org/drawingml/2006/main">
              <a:ext uri="{FF2B5EF4-FFF2-40B4-BE49-F238E27FC236}">
                <a16:creationId xmlns:a16="http://schemas.microsoft.com/office/drawing/2014/main" id="{31F0A13F-7F0D-4E8C-BEFA-1E227C523C24}"/>
              </a:ext>
            </a:extLst>
          </p:cNvPr>
          <p:cNvSpPr>
            <a:spLocks xmlns:a="http://schemas.openxmlformats.org/drawingml/2006/main" noGrp="1"/>
          </p:cNvSpPr>
          <p:nvPr/>
        </p:nvSpPr>
        <p:spPr>
          <a:xfrm xmlns:a="http://schemas.openxmlformats.org/drawingml/2006/main">
            <a:off x="6248400" y="2581275"/>
            <a:ext cx="53149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6333B"/>
                </a:solidFill>
                <a:latin typeface="Arial"/>
                <a:ea typeface="Arial"/>
                <a:cs typeface="Arial"/>
              </a:defRPr>
            </a:defPPr>
          </a:lstStyle>
          <a:p xmlns:a="http://schemas.openxmlformats.org/drawingml/2006/main">
            <a:pPr>
              <a:defRPr sz="2250" b="0">
                <a:solidFill>
                  <a:srgbClr val="16333B"/>
                </a:solidFill>
                <a:latin typeface="Arial"/>
                <a:ea typeface="Arial"/>
                <a:cs typeface="Arial"/>
              </a:defRPr>
            </a:pPr>
            <a:r>
              <a:rPr sz="2250" b="0">
                <a:solidFill>
                  <a:srgbClr val="16333B"/>
                </a:solidFill>
                <a:latin typeface="Arial"/>
                <a:ea typeface="Arial"/>
                <a:cs typeface="Arial"/>
              </a:rPr>
              <a:t>Booking details change the risk.</a:t>
            </a:r>
          </a:p>
          <a:p xmlns:a="http://schemas.openxmlformats.org/drawingml/2006/main">
            <a:pPr>
              <a:defRPr sz="2250" b="0">
                <a:solidFill>
                  <a:srgbClr val="16333B"/>
                </a:solidFill>
                <a:latin typeface="Arial"/>
                <a:ea typeface="Arial"/>
                <a:cs typeface="Arial"/>
              </a:defRPr>
            </a:pPr>
            <a:r>
              <a:rPr sz="2250" b="0">
                <a:solidFill>
                  <a:srgbClr val="16333B"/>
                </a:solidFill>
                <a:latin typeface="Arial"/>
                <a:ea typeface="Arial"/>
                <a:cs typeface="Arial"/>
              </a:rPr>
              <a:t>Fit once on training data.</a:t>
            </a:r>
          </a:p>
        </p:txBody>
      </p:sp>
      <p:sp>
        <p:nvSpPr>
          <p:cNvPr id="7" name="Same validation rows for a fair comparison">
            <a:extLst xmlns:a="http://schemas.openxmlformats.org/drawingml/2006/main">
              <a:ext uri="{FF2B5EF4-FFF2-40B4-BE49-F238E27FC236}">
                <a16:creationId xmlns:a16="http://schemas.microsoft.com/office/drawing/2014/main" id="{5F5C1EA8-121E-4889-8044-C2B5BC46C950}"/>
              </a:ext>
            </a:extLst>
          </p:cNvPr>
          <p:cNvSpPr>
            <a:spLocks xmlns:a="http://schemas.openxmlformats.org/drawingml/2006/main" noGrp="1"/>
          </p:cNvSpPr>
          <p:nvPr/>
        </p:nvSpPr>
        <p:spPr>
          <a:xfrm xmlns:a="http://schemas.openxmlformats.org/drawingml/2006/main">
            <a:off x="628650" y="4114800"/>
            <a:ext cx="10934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46A73"/>
                </a:solidFill>
                <a:latin typeface="Arial"/>
                <a:ea typeface="Arial"/>
                <a:cs typeface="Arial"/>
              </a:defRPr>
            </a:defPPr>
          </a:lstStyle>
          <a:p xmlns:a="http://schemas.openxmlformats.org/drawingml/2006/main">
            <a:pPr>
              <a:defRPr sz="2550" b="1">
                <a:solidFill>
                  <a:srgbClr val="246A73"/>
                </a:solidFill>
                <a:latin typeface="Arial"/>
                <a:ea typeface="Arial"/>
                <a:cs typeface="Arial"/>
              </a:defRPr>
            </a:pPr>
            <a:r>
              <a:rPr sz="2550" b="1">
                <a:solidFill>
                  <a:srgbClr val="246A73"/>
                </a:solidFill>
                <a:latin typeface="Arial"/>
                <a:ea typeface="Arial"/>
                <a:cs typeface="Arial"/>
              </a:rPr>
              <a:t>Same validation rows for a fair comparison</a:t>
            </a:r>
          </a:p>
        </p:txBody>
      </p:sp>
      <p:sp>
        <p:nvSpPr>
          <p:cNvPr id="8" name="Log loss checks probabilities. AUC checks ">
            <a:extLst xmlns:a="http://schemas.openxmlformats.org/drawingml/2006/main">
              <a:ext uri="{FF2B5EF4-FFF2-40B4-BE49-F238E27FC236}">
                <a16:creationId xmlns:a16="http://schemas.microsoft.com/office/drawing/2014/main" id="{94734878-1169-4970-9A4D-25B86F415AC7}"/>
              </a:ext>
            </a:extLst>
          </p:cNvPr>
          <p:cNvSpPr>
            <a:spLocks xmlns:a="http://schemas.openxmlformats.org/drawingml/2006/main" noGrp="1"/>
          </p:cNvSpPr>
          <p:nvPr/>
        </p:nvSpPr>
        <p:spPr>
          <a:xfrm xmlns:a="http://schemas.openxmlformats.org/drawingml/2006/main">
            <a:off x="628650" y="49530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33B"/>
                </a:solidFill>
                <a:latin typeface="Arial"/>
                <a:ea typeface="Arial"/>
                <a:cs typeface="Arial"/>
              </a:defRPr>
            </a:defPPr>
          </a:lstStyle>
          <a:p xmlns:a="http://schemas.openxmlformats.org/drawingml/2006/main">
            <a:pPr>
              <a:defRPr sz="2175" b="0">
                <a:solidFill>
                  <a:srgbClr val="16333B"/>
                </a:solidFill>
                <a:latin typeface="Arial"/>
                <a:ea typeface="Arial"/>
                <a:cs typeface="Arial"/>
              </a:defRPr>
            </a:pPr>
            <a:r>
              <a:rPr sz="2175" b="0">
                <a:solidFill>
                  <a:srgbClr val="16333B"/>
                </a:solidFill>
                <a:latin typeface="Arial"/>
                <a:ea typeface="Arial"/>
                <a:cs typeface="Arial"/>
              </a:rPr>
              <a:t>Log loss checks probabilities. AUC checks ordering.</a:t>
            </a:r>
          </a:p>
          <a:p xmlns:a="http://schemas.openxmlformats.org/drawingml/2006/main">
            <a:pPr>
              <a:defRPr sz="2175" b="0">
                <a:solidFill>
                  <a:srgbClr val="16333B"/>
                </a:solidFill>
                <a:latin typeface="Arial"/>
                <a:ea typeface="Arial"/>
                <a:cs typeface="Arial"/>
              </a:defRPr>
            </a:pPr>
            <a:r>
              <a:rPr sz="2175" b="0">
                <a:solidFill>
                  <a:srgbClr val="16333B"/>
                </a:solidFill>
                <a:latin typeface="Arial"/>
                <a:ea typeface="Arial"/>
                <a:cs typeface="Arial"/>
              </a:rPr>
              <a:t>Exact settings and sensitivities appear in the backup.</a:t>
            </a:r>
          </a:p>
        </p:txBody>
      </p:sp>
    </p:spTree>
    <p:extLst>
      <p:ext uri="{BB962C8B-B14F-4D97-AF65-F5344CB8AC3E}">
        <p14:creationId xmlns:p14="http://schemas.microsoft.com/office/powerpoint/2010/main" val="29711008"/>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Initial results: modest improvement over t">
            <a:extLst xmlns:a="http://schemas.openxmlformats.org/drawingml/2006/main">
              <a:ext uri="{FF2B5EF4-FFF2-40B4-BE49-F238E27FC236}">
                <a16:creationId xmlns:a16="http://schemas.microsoft.com/office/drawing/2014/main" id="{46DB4186-72BB-41F2-AFC8-28DDB429B5A8}"/>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33B"/>
                </a:solidFill>
                <a:latin typeface="Arial"/>
                <a:ea typeface="Arial"/>
                <a:cs typeface="Arial"/>
              </a:defRPr>
            </a:defPPr>
          </a:lstStyle>
          <a:p xmlns:a="http://schemas.openxmlformats.org/drawingml/2006/main">
            <a:pPr>
              <a:defRPr sz="3300" b="1">
                <a:solidFill>
                  <a:srgbClr val="16333B"/>
                </a:solidFill>
                <a:latin typeface="Arial"/>
                <a:ea typeface="Arial"/>
                <a:cs typeface="Arial"/>
              </a:defRPr>
            </a:pPr>
            <a:r>
              <a:rPr sz="3300" b="1">
                <a:solidFill>
                  <a:srgbClr val="16333B"/>
                </a:solidFill>
                <a:latin typeface="Arial"/>
                <a:ea typeface="Arial"/>
                <a:cs typeface="Arial"/>
              </a:rPr>
              <a:t>Initial results: modest improvement over the baseline</a:t>
            </a:r>
          </a:p>
        </p:txBody>
      </p:sp>
      <p:sp>
        <p:nvSpPr>
          <p:cNvPr id="2" name="IS 507 Midterm  ·  9/11">
            <a:extLst xmlns:a="http://schemas.openxmlformats.org/drawingml/2006/main">
              <a:ext uri="{FF2B5EF4-FFF2-40B4-BE49-F238E27FC236}">
                <a16:creationId xmlns:a16="http://schemas.microsoft.com/office/drawing/2014/main" id="{1A0BBD3D-B15B-43E1-A252-26F1267E05DF}"/>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96F75"/>
                </a:solidFill>
                <a:latin typeface="Arial"/>
                <a:ea typeface="Arial"/>
                <a:cs typeface="Arial"/>
              </a:defRPr>
            </a:defPPr>
          </a:lstStyle>
          <a:p xmlns:a="http://schemas.openxmlformats.org/drawingml/2006/main">
            <a:r>
              <a:t>IS 507 Midterm  ·  9/10</a:t>
            </a:r>
          </a:p>
        </p:txBody>
      </p:sp>
      <p:graphicFrame>
        <p:nvGraphicFramePr>
          <p:cNvPr id="3" name="">
            <a:extLst xmlns:a="http://schemas.openxmlformats.org/drawingml/2006/main">
              <a:ext uri="{FF2B5EF4-FFF2-40B4-BE49-F238E27FC236}">
                <a16:creationId xmlns:a16="http://schemas.microsoft.com/office/drawing/2014/main" id="{73230538-8EE7-4A77-A720-AFB096913654}"/>
              </a:ext>
            </a:extLst>
          </p:cNvPr>
          <p:cNvGraphicFramePr/>
          <p:nvPr/>
        </p:nvGraphicFramePr>
        <p:xfrm>
          <a:off xmlns:a="http://schemas.openxmlformats.org/drawingml/2006/main" x="628650" y="1714500"/>
          <a:ext xmlns:a="http://schemas.openxmlformats.org/drawingml/2006/main" cx="10934700" cy="2876550"/>
        </p:xfrm>
        <a:graphic xmlns:a="http://schemas.openxmlformats.org/drawingml/2006/main">
          <a:graphicData uri="http://schemas.openxmlformats.org/drawingml/2006/table">
            <a:tbl>
              <a:tblPr/>
              <a:tblGrid>
                <a:gridCol w="4667250"/>
                <a:gridCol w="3133725"/>
                <a:gridCol w="3133725"/>
              </a:tblGrid>
              <a:tr h="575310">
                <a:tc>
                  <a:txBody>
                    <a:bodyPr>
                      <a:noAutofit/>
                    </a:bodyPr>
                    <a:lstStyle/>
                    <a:p>
                      <a:r>
                        <a:rPr sz="2175" b="1">
                          <a:solidFill>
                            <a:srgbClr val="FFFFFF"/>
                          </a:solidFill>
                          <a:latin typeface="Arial"/>
                          <a:ea typeface="Arial"/>
                          <a:cs typeface="Arial"/>
                        </a:rPr>
                        <a:t>Validation metric</a:t>
                      </a:r>
                    </a:p>
                  </a:txBody>
                  <a:tcPr marL="133350" marR="133350" marT="114300" marB="114300" anchor="ctr">
                    <a:solidFill>
                      <a:srgbClr val="16333B"/>
                    </a:solidFill>
                  </a:tcPr>
                </a:tc>
                <a:tc>
                  <a:txBody>
                    <a:bodyPr>
                      <a:noAutofit/>
                    </a:bodyPr>
                    <a:lstStyle/>
                    <a:p>
                      <a:r>
                        <a:rPr sz="2175" b="1">
                          <a:solidFill>
                            <a:srgbClr val="FFFFFF"/>
                          </a:solidFill>
                          <a:latin typeface="Arial"/>
                          <a:ea typeface="Arial"/>
                          <a:cs typeface="Arial"/>
                        </a:rPr>
                        <a:t>Baseline</a:t>
                      </a:r>
                    </a:p>
                  </a:txBody>
                  <a:tcPr marL="133350" marR="133350" marT="114300" marB="114300" anchor="ctr">
                    <a:solidFill>
                      <a:srgbClr val="16333B"/>
                    </a:solidFill>
                  </a:tcPr>
                </a:tc>
                <a:tc>
                  <a:txBody>
                    <a:bodyPr>
                      <a:noAutofit/>
                    </a:bodyPr>
                    <a:lstStyle/>
                    <a:p>
                      <a:r>
                        <a:rPr sz="2175" b="1">
                          <a:solidFill>
                            <a:srgbClr val="FFFFFF"/>
                          </a:solidFill>
                          <a:latin typeface="Arial"/>
                          <a:ea typeface="Arial"/>
                          <a:cs typeface="Arial"/>
                        </a:rPr>
                        <a:t>Logistic regression</a:t>
                      </a:r>
                    </a:p>
                  </a:txBody>
                  <a:tcPr marL="133350" marR="133350" marT="114300" marB="114300" anchor="ctr">
                    <a:solidFill>
                      <a:srgbClr val="16333B"/>
                    </a:solidFill>
                  </a:tcPr>
                </a:tc>
              </a:tr>
              <a:tr h="575310">
                <a:tc>
                  <a:txBody>
                    <a:bodyPr>
                      <a:noAutofit/>
                    </a:bodyPr>
                    <a:lstStyle/>
                    <a:p>
                      <a:r>
                        <a:rPr sz="2175" b="0">
                          <a:solidFill>
                            <a:srgbClr val="16333B"/>
                          </a:solidFill>
                          <a:latin typeface="Arial"/>
                          <a:ea typeface="Arial"/>
                          <a:cs typeface="Arial"/>
                        </a:rPr>
                        <a:t>Log loss: lower is better</a:t>
                      </a:r>
                    </a:p>
                  </a:txBody>
                  <a:tcPr marL="133350" marR="133350" marT="114300" marB="114300" anchor="ctr">
                    <a:solidFill>
                      <a:srgbClr val="FFFFFF"/>
                    </a:solidFill>
                  </a:tcPr>
                </a:tc>
                <a:tc>
                  <a:txBody>
                    <a:bodyPr>
                      <a:noAutofit/>
                    </a:bodyPr>
                    <a:lstStyle/>
                    <a:p>
                      <a:r>
                        <a:rPr sz="2175" b="0">
                          <a:solidFill>
                            <a:srgbClr val="16333B"/>
                          </a:solidFill>
                          <a:latin typeface="Arial"/>
                          <a:ea typeface="Arial"/>
                          <a:cs typeface="Arial"/>
                        </a:rPr>
                        <a:t>0.5800</a:t>
                      </a:r>
                    </a:p>
                  </a:txBody>
                  <a:tcPr marL="133350" marR="133350" marT="114300" marB="114300" anchor="ctr">
                    <a:solidFill>
                      <a:srgbClr val="FFFFFF"/>
                    </a:solidFill>
                  </a:tcPr>
                </a:tc>
                <a:tc>
                  <a:txBody>
                    <a:bodyPr>
                      <a:noAutofit/>
                    </a:bodyPr>
                    <a:lstStyle/>
                    <a:p>
                      <a:r>
                        <a:rPr sz="2175" b="0">
                          <a:solidFill>
                            <a:srgbClr val="16333B"/>
                          </a:solidFill>
                          <a:latin typeface="Arial"/>
                          <a:ea typeface="Arial"/>
                          <a:cs typeface="Arial"/>
                        </a:rPr>
                        <a:t>0.5517</a:t>
                      </a:r>
                    </a:p>
                  </a:txBody>
                  <a:tcPr marL="133350" marR="133350" marT="114300" marB="114300" anchor="ctr">
                    <a:solidFill>
                      <a:srgbClr val="FFFFFF"/>
                    </a:solidFill>
                  </a:tcPr>
                </a:tc>
              </a:tr>
              <a:tr h="575310">
                <a:tc>
                  <a:txBody>
                    <a:bodyPr>
                      <a:noAutofit/>
                    </a:bodyPr>
                    <a:lstStyle/>
                    <a:p>
                      <a:r>
                        <a:rPr sz="2175" b="0">
                          <a:solidFill>
                            <a:srgbClr val="16333B"/>
                          </a:solidFill>
                          <a:latin typeface="Arial"/>
                          <a:ea typeface="Arial"/>
                          <a:cs typeface="Arial"/>
                        </a:rPr>
                        <a:t>AUC: higher is better</a:t>
                      </a:r>
                    </a:p>
                  </a:txBody>
                  <a:tcPr marL="133350" marR="133350" marT="114300" marB="114300" anchor="ctr">
                    <a:solidFill>
                      <a:srgbClr val="EAF0ED"/>
                    </a:solidFill>
                  </a:tcPr>
                </a:tc>
                <a:tc>
                  <a:txBody>
                    <a:bodyPr>
                      <a:noAutofit/>
                    </a:bodyPr>
                    <a:lstStyle/>
                    <a:p>
                      <a:r>
                        <a:rPr sz="2175" b="0">
                          <a:solidFill>
                            <a:srgbClr val="16333B"/>
                          </a:solidFill>
                          <a:latin typeface="Arial"/>
                          <a:ea typeface="Arial"/>
                          <a:cs typeface="Arial"/>
                        </a:rPr>
                        <a:t>0.5000</a:t>
                      </a:r>
                    </a:p>
                  </a:txBody>
                  <a:tcPr marL="133350" marR="133350" marT="114300" marB="114300" anchor="ctr">
                    <a:solidFill>
                      <a:srgbClr val="EAF0ED"/>
                    </a:solidFill>
                  </a:tcPr>
                </a:tc>
                <a:tc>
                  <a:txBody>
                    <a:bodyPr>
                      <a:noAutofit/>
                    </a:bodyPr>
                    <a:lstStyle/>
                    <a:p>
                      <a:r>
                        <a:rPr sz="2175" b="0">
                          <a:solidFill>
                            <a:srgbClr val="16333B"/>
                          </a:solidFill>
                          <a:latin typeface="Arial"/>
                          <a:ea typeface="Arial"/>
                          <a:cs typeface="Arial"/>
                        </a:rPr>
                        <a:t>0.6584</a:t>
                      </a:r>
                    </a:p>
                  </a:txBody>
                  <a:tcPr marL="133350" marR="133350" marT="114300" marB="114300" anchor="ctr">
                    <a:solidFill>
                      <a:srgbClr val="EAF0ED"/>
                    </a:solidFill>
                  </a:tcPr>
                </a:tc>
              </a:tr>
              <a:tr h="575310">
                <a:tc>
                  <a:txBody>
                    <a:bodyPr>
                      <a:noAutofit/>
                    </a:bodyPr>
                    <a:lstStyle/>
                    <a:p>
                      <a:r>
                        <a:rPr sz="2175" b="0">
                          <a:solidFill>
                            <a:srgbClr val="16333B"/>
                          </a:solidFill>
                          <a:latin typeface="Arial"/>
                          <a:ea typeface="Arial"/>
                          <a:cs typeface="Arial"/>
                        </a:rPr>
                        <a:t>Accuracy at 0.5</a:t>
                      </a:r>
                    </a:p>
                  </a:txBody>
                  <a:tcPr marL="133350" marR="133350" marT="114300" marB="114300" anchor="ctr">
                    <a:solidFill>
                      <a:srgbClr val="FFFFFF"/>
                    </a:solidFill>
                  </a:tcPr>
                </a:tc>
                <a:tc>
                  <a:txBody>
                    <a:bodyPr>
                      <a:noAutofit/>
                    </a:bodyPr>
                    <a:lstStyle/>
                    <a:p>
                      <a:r>
                        <a:rPr sz="2175" b="0">
                          <a:solidFill>
                            <a:srgbClr val="16333B"/>
                          </a:solidFill>
                          <a:latin typeface="Arial"/>
                          <a:ea typeface="Arial"/>
                          <a:cs typeface="Arial"/>
                        </a:rPr>
                        <a:t>73.81%</a:t>
                      </a:r>
                    </a:p>
                  </a:txBody>
                  <a:tcPr marL="133350" marR="133350" marT="114300" marB="114300" anchor="ctr">
                    <a:solidFill>
                      <a:srgbClr val="FFFFFF"/>
                    </a:solidFill>
                  </a:tcPr>
                </a:tc>
                <a:tc>
                  <a:txBody>
                    <a:bodyPr>
                      <a:noAutofit/>
                    </a:bodyPr>
                    <a:lstStyle/>
                    <a:p>
                      <a:r>
                        <a:rPr sz="2175" b="0">
                          <a:solidFill>
                            <a:srgbClr val="16333B"/>
                          </a:solidFill>
                          <a:latin typeface="Arial"/>
                          <a:ea typeface="Arial"/>
                          <a:cs typeface="Arial"/>
                        </a:rPr>
                        <a:t>73.72%</a:t>
                      </a:r>
                    </a:p>
                  </a:txBody>
                  <a:tcPr marL="133350" marR="133350" marT="114300" marB="114300" anchor="ctr">
                    <a:solidFill>
                      <a:srgbClr val="FFFFFF"/>
                    </a:solidFill>
                  </a:tcPr>
                </a:tc>
              </a:tr>
              <a:tr h="575310">
                <a:tc>
                  <a:txBody>
                    <a:bodyPr>
                      <a:noAutofit/>
                    </a:bodyPr>
                    <a:lstStyle/>
                    <a:p>
                      <a:r>
                        <a:rPr sz="2175" b="0">
                          <a:solidFill>
                            <a:srgbClr val="16333B"/>
                          </a:solidFill>
                          <a:latin typeface="Arial"/>
                          <a:ea typeface="Arial"/>
                          <a:cs typeface="Arial"/>
                        </a:rPr>
                        <a:t>Recall at 0.5</a:t>
                      </a:r>
                    </a:p>
                  </a:txBody>
                  <a:tcPr marL="133350" marR="133350" marT="114300" marB="114300" anchor="ctr">
                    <a:solidFill>
                      <a:srgbClr val="EAF0ED"/>
                    </a:solidFill>
                  </a:tcPr>
                </a:tc>
                <a:tc>
                  <a:txBody>
                    <a:bodyPr>
                      <a:noAutofit/>
                    </a:bodyPr>
                    <a:lstStyle/>
                    <a:p>
                      <a:r>
                        <a:rPr sz="2175" b="0">
                          <a:solidFill>
                            <a:srgbClr val="16333B"/>
                          </a:solidFill>
                          <a:latin typeface="Arial"/>
                          <a:ea typeface="Arial"/>
                          <a:cs typeface="Arial"/>
                        </a:rPr>
                        <a:t>0.00%</a:t>
                      </a:r>
                    </a:p>
                  </a:txBody>
                  <a:tcPr marL="133350" marR="133350" marT="114300" marB="114300" anchor="ctr">
                    <a:solidFill>
                      <a:srgbClr val="EAF0ED"/>
                    </a:solidFill>
                  </a:tcPr>
                </a:tc>
                <a:tc>
                  <a:txBody>
                    <a:bodyPr>
                      <a:noAutofit/>
                    </a:bodyPr>
                    <a:lstStyle/>
                    <a:p>
                      <a:r>
                        <a:rPr sz="2175" b="0">
                          <a:solidFill>
                            <a:srgbClr val="16333B"/>
                          </a:solidFill>
                          <a:latin typeface="Arial"/>
                          <a:ea typeface="Arial"/>
                          <a:cs typeface="Arial"/>
                        </a:rPr>
                        <a:t>0.30%</a:t>
                      </a:r>
                    </a:p>
                  </a:txBody>
                  <a:tcPr marL="133350" marR="133350" marT="114300" marB="114300" anchor="ctr">
                    <a:solidFill>
                      <a:srgbClr val="EAF0ED"/>
                    </a:solidFill>
                  </a:tcPr>
                </a:tc>
              </a:tr>
            </a:tbl>
          </a:graphicData>
        </a:graphic>
      </p:graphicFrame>
      <p:sp>
        <p:nvSpPr>
          <p:cNvPr id="4" name="Only 11 of 3,689 cases detected at the 50%">
            <a:extLst xmlns:a="http://schemas.openxmlformats.org/drawingml/2006/main">
              <a:ext uri="{FF2B5EF4-FFF2-40B4-BE49-F238E27FC236}">
                <a16:creationId xmlns:a16="http://schemas.microsoft.com/office/drawing/2014/main" id="{40F4D243-1E0E-4E0B-9E9D-199DAA6AEF1B}"/>
              </a:ext>
            </a:extLst>
          </p:cNvPr>
          <p:cNvSpPr>
            <a:spLocks xmlns:a="http://schemas.openxmlformats.org/drawingml/2006/main" noGrp="1"/>
          </p:cNvSpPr>
          <p:nvPr/>
        </p:nvSpPr>
        <p:spPr>
          <a:xfrm xmlns:a="http://schemas.openxmlformats.org/drawingml/2006/main">
            <a:off x="628650" y="4972050"/>
            <a:ext cx="10934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46A73"/>
                </a:solidFill>
                <a:latin typeface="Arial"/>
                <a:ea typeface="Arial"/>
                <a:cs typeface="Arial"/>
              </a:defRPr>
            </a:defPPr>
          </a:lstStyle>
          <a:p xmlns:a="http://schemas.openxmlformats.org/drawingml/2006/main">
            <a:pPr>
              <a:defRPr sz="2550" b="1">
                <a:solidFill>
                  <a:srgbClr val="246A73"/>
                </a:solidFill>
                <a:latin typeface="Arial"/>
                <a:ea typeface="Arial"/>
                <a:cs typeface="Arial"/>
              </a:defRPr>
            </a:pPr>
            <a:r>
              <a:rPr sz="2550" b="1">
                <a:solidFill>
                  <a:srgbClr val="246A73"/>
                </a:solidFill>
                <a:latin typeface="Arial"/>
                <a:ea typeface="Arial"/>
                <a:cs typeface="Arial"/>
              </a:rPr>
              <a:t>Only 11 of 3,689 cases detected at the 50% threshold</a:t>
            </a:r>
          </a:p>
        </p:txBody>
      </p:sp>
      <p:sp>
        <p:nvSpPr>
          <p:cNvPr id="5" name="4.88% relative reduction in log loss; sele">
            <a:extLst xmlns:a="http://schemas.openxmlformats.org/drawingml/2006/main">
              <a:ext uri="{FF2B5EF4-FFF2-40B4-BE49-F238E27FC236}">
                <a16:creationId xmlns:a16="http://schemas.microsoft.com/office/drawing/2014/main" id="{D0C88A79-84B3-4E66-A1A0-9E0C03D2341D}"/>
              </a:ext>
            </a:extLst>
          </p:cNvPr>
          <p:cNvSpPr>
            <a:spLocks xmlns:a="http://schemas.openxmlformats.org/drawingml/2006/main" noGrp="1"/>
          </p:cNvSpPr>
          <p:nvPr/>
        </p:nvSpPr>
        <p:spPr>
          <a:xfrm xmlns:a="http://schemas.openxmlformats.org/drawingml/2006/main">
            <a:off x="628650" y="5762625"/>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F75"/>
                </a:solidFill>
                <a:latin typeface="Arial"/>
                <a:ea typeface="Arial"/>
                <a:cs typeface="Arial"/>
              </a:defRPr>
            </a:defPPr>
          </a:lstStyle>
          <a:p xmlns:a="http://schemas.openxmlformats.org/drawingml/2006/main">
            <a:pPr>
              <a:defRPr sz="1500" b="0">
                <a:solidFill>
                  <a:srgbClr val="596F75"/>
                </a:solidFill>
                <a:latin typeface="Arial"/>
                <a:ea typeface="Arial"/>
                <a:cs typeface="Arial"/>
              </a:defRPr>
            </a:pPr>
            <a:r>
              <a:rPr sz="1500" b="0">
                <a:solidFill>
                  <a:srgbClr val="596F75"/>
                </a:solidFill>
                <a:latin typeface="Arial"/>
                <a:ea typeface="Arial"/>
                <a:cs typeface="Arial"/>
              </a:rPr>
              <a:t>4.88% relative reduction in log loss; selected retrospective validation cohort</a:t>
            </a:r>
          </a:p>
        </p:txBody>
      </p:sp>
    </p:spTree>
    <p:extLst>
      <p:ext uri="{BB962C8B-B14F-4D97-AF65-F5344CB8AC3E}">
        <p14:creationId xmlns:p14="http://schemas.microsoft.com/office/powerpoint/2010/main" val="1700326147"/>
      </p:ext>
    </p:extLst>
  </p:cSld>
</p:sld>
</file>

<file path=ppt/slides/slide10.xml><?xml version="1.0" encoding="utf-8"?>
<p:sld xmlns:p="http://schemas.openxmlformats.org/presentationml/2006/main" show="0">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Alert thresholds: more detections mean mor">
            <a:extLst xmlns:a="http://schemas.openxmlformats.org/drawingml/2006/main">
              <a:ext uri="{FF2B5EF4-FFF2-40B4-BE49-F238E27FC236}">
                <a16:creationId xmlns:a16="http://schemas.microsoft.com/office/drawing/2014/main" id="{146755C4-747E-4864-8BA5-FF75AB409840}"/>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33B"/>
                </a:solidFill>
                <a:latin typeface="Arial"/>
                <a:ea typeface="Arial"/>
                <a:cs typeface="Arial"/>
              </a:defRPr>
            </a:defPPr>
          </a:lstStyle>
          <a:p xmlns:a="http://schemas.openxmlformats.org/drawingml/2006/main">
            <a:r>
              <a:t>Backup: alert thresholds and ranking capacity</a:t>
            </a:r>
          </a:p>
        </p:txBody>
      </p:sp>
      <p:sp>
        <p:nvSpPr>
          <p:cNvPr id="2" name="IS 507 Midterm  ·  10/11">
            <a:extLst xmlns:a="http://schemas.openxmlformats.org/drawingml/2006/main">
              <a:ext uri="{FF2B5EF4-FFF2-40B4-BE49-F238E27FC236}">
                <a16:creationId xmlns:a16="http://schemas.microsoft.com/office/drawing/2014/main" id="{32452B5E-42C2-4BA6-B07E-F74E4137728A}"/>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96F75"/>
                </a:solidFill>
                <a:latin typeface="Arial"/>
                <a:ea typeface="Arial"/>
                <a:cs typeface="Arial"/>
              </a:defRPr>
            </a:defPPr>
          </a:lstStyle>
          <a:p xmlns:a="http://schemas.openxmlformats.org/drawingml/2006/main"/>
        </p:txBody>
      </p:sp>
      <p:graphicFrame>
        <p:nvGraphicFramePr>
          <p:cNvPr id="3" name="">
            <a:extLst xmlns:a="http://schemas.openxmlformats.org/drawingml/2006/main">
              <a:ext uri="{FF2B5EF4-FFF2-40B4-BE49-F238E27FC236}">
                <a16:creationId xmlns:a16="http://schemas.microsoft.com/office/drawing/2014/main" id="{C08E6089-4838-40C0-A374-E7502D586318}"/>
              </a:ext>
            </a:extLst>
          </p:cNvPr>
          <p:cNvGraphicFramePr/>
          <p:nvPr/>
        </p:nvGraphicFramePr>
        <p:xfrm>
          <a:off xmlns:a="http://schemas.openxmlformats.org/drawingml/2006/main" x="628650" y="1752600"/>
          <a:ext xmlns:a="http://schemas.openxmlformats.org/drawingml/2006/main" cx="10934700" cy="2619375"/>
        </p:xfrm>
        <a:graphic xmlns:a="http://schemas.openxmlformats.org/drawingml/2006/main">
          <a:graphicData uri="http://schemas.openxmlformats.org/drawingml/2006/table">
            <a:tbl>
              <a:tblPr/>
              <a:tblGrid>
                <a:gridCol w="3390900"/>
                <a:gridCol w="2609850"/>
                <a:gridCol w="2609850"/>
                <a:gridCol w="2324100"/>
              </a:tblGrid>
              <a:tr h="654844">
                <a:tc>
                  <a:txBody>
                    <a:bodyPr>
                      <a:noAutofit/>
                    </a:bodyPr>
                    <a:lstStyle/>
                    <a:p>
                      <a:r>
                        <a:rPr sz="2100" b="1">
                          <a:solidFill>
                            <a:srgbClr val="FFFFFF"/>
                          </a:solidFill>
                          <a:latin typeface="Arial"/>
                          <a:ea typeface="Arial"/>
                          <a:cs typeface="Arial"/>
                        </a:rPr>
                        <a:t>Validation rule</a:t>
                      </a:r>
                    </a:p>
                  </a:txBody>
                  <a:tcPr marL="133350" marR="133350" marT="114300" marB="114300" anchor="ctr">
                    <a:solidFill>
                      <a:srgbClr val="16333B"/>
                    </a:solidFill>
                  </a:tcPr>
                </a:tc>
                <a:tc>
                  <a:txBody>
                    <a:bodyPr>
                      <a:noAutofit/>
                    </a:bodyPr>
                    <a:lstStyle/>
                    <a:p>
                      <a:r>
                        <a:rPr sz="2100" b="1">
                          <a:solidFill>
                            <a:srgbClr val="FFFFFF"/>
                          </a:solidFill>
                          <a:latin typeface="Arial"/>
                          <a:ea typeface="Arial"/>
                          <a:cs typeface="Arial"/>
                        </a:rPr>
                        <a:t>Cases detected</a:t>
                      </a:r>
                    </a:p>
                  </a:txBody>
                  <a:tcPr marL="133350" marR="133350" marT="114300" marB="114300" anchor="ctr">
                    <a:solidFill>
                      <a:srgbClr val="16333B"/>
                    </a:solidFill>
                  </a:tcPr>
                </a:tc>
                <a:tc>
                  <a:txBody>
                    <a:bodyPr>
                      <a:noAutofit/>
                    </a:bodyPr>
                    <a:lstStyle/>
                    <a:p>
                      <a:r>
                        <a:rPr sz="2100" b="1">
                          <a:solidFill>
                            <a:srgbClr val="FFFFFF"/>
                          </a:solidFill>
                          <a:latin typeface="Arial"/>
                          <a:ea typeface="Arial"/>
                          <a:cs typeface="Arial"/>
                        </a:rPr>
                        <a:t>False alerts</a:t>
                      </a:r>
                    </a:p>
                  </a:txBody>
                  <a:tcPr marL="133350" marR="133350" marT="114300" marB="114300" anchor="ctr">
                    <a:solidFill>
                      <a:srgbClr val="16333B"/>
                    </a:solidFill>
                  </a:tcPr>
                </a:tc>
                <a:tc>
                  <a:txBody>
                    <a:bodyPr>
                      <a:noAutofit/>
                    </a:bodyPr>
                    <a:lstStyle/>
                    <a:p>
                      <a:r>
                        <a:rPr sz="2100" b="1">
                          <a:solidFill>
                            <a:srgbClr val="FFFFFF"/>
                          </a:solidFill>
                          <a:latin typeface="Arial"/>
                          <a:ea typeface="Arial"/>
                          <a:cs typeface="Arial"/>
                        </a:rPr>
                        <a:t>Recall</a:t>
                      </a:r>
                    </a:p>
                  </a:txBody>
                  <a:tcPr marL="133350" marR="133350" marT="114300" marB="114300" anchor="ctr">
                    <a:solidFill>
                      <a:srgbClr val="16333B"/>
                    </a:solidFill>
                  </a:tcPr>
                </a:tc>
              </a:tr>
              <a:tr h="654844">
                <a:tc>
                  <a:txBody>
                    <a:bodyPr>
                      <a:noAutofit/>
                    </a:bodyPr>
                    <a:lstStyle/>
                    <a:p>
                      <a:r>
                        <a:rPr sz="2100" b="0">
                          <a:solidFill>
                            <a:srgbClr val="16333B"/>
                          </a:solidFill>
                          <a:latin typeface="Arial"/>
                          <a:ea typeface="Arial"/>
                          <a:cs typeface="Arial"/>
                        </a:rPr>
                        <a:t>p &gt;= 0.5</a:t>
                      </a:r>
                    </a:p>
                  </a:txBody>
                  <a:tcPr marL="133350" marR="133350" marT="114300" marB="114300" anchor="ctr">
                    <a:solidFill>
                      <a:srgbClr val="FFFFFF"/>
                    </a:solidFill>
                  </a:tcPr>
                </a:tc>
                <a:tc>
                  <a:txBody>
                    <a:bodyPr>
                      <a:noAutofit/>
                    </a:bodyPr>
                    <a:lstStyle/>
                    <a:p>
                      <a:r>
                        <a:rPr sz="2100" b="0">
                          <a:solidFill>
                            <a:srgbClr val="16333B"/>
                          </a:solidFill>
                          <a:latin typeface="Arial"/>
                          <a:ea typeface="Arial"/>
                          <a:cs typeface="Arial"/>
                        </a:rPr>
                        <a:t>11</a:t>
                      </a:r>
                    </a:p>
                  </a:txBody>
                  <a:tcPr marL="133350" marR="133350" marT="114300" marB="114300" anchor="ctr">
                    <a:solidFill>
                      <a:srgbClr val="FFFFFF"/>
                    </a:solidFill>
                  </a:tcPr>
                </a:tc>
                <a:tc>
                  <a:txBody>
                    <a:bodyPr>
                      <a:noAutofit/>
                    </a:bodyPr>
                    <a:lstStyle/>
                    <a:p>
                      <a:r>
                        <a:rPr sz="2100" b="0">
                          <a:solidFill>
                            <a:srgbClr val="16333B"/>
                          </a:solidFill>
                          <a:latin typeface="Arial"/>
                          <a:ea typeface="Arial"/>
                          <a:cs typeface="Arial"/>
                        </a:rPr>
                        <a:t>24</a:t>
                      </a:r>
                    </a:p>
                  </a:txBody>
                  <a:tcPr marL="133350" marR="133350" marT="114300" marB="114300" anchor="ctr">
                    <a:solidFill>
                      <a:srgbClr val="FFFFFF"/>
                    </a:solidFill>
                  </a:tcPr>
                </a:tc>
                <a:tc>
                  <a:txBody>
                    <a:bodyPr>
                      <a:noAutofit/>
                    </a:bodyPr>
                    <a:lstStyle/>
                    <a:p>
                      <a:r>
                        <a:rPr sz="2100" b="0">
                          <a:solidFill>
                            <a:srgbClr val="16333B"/>
                          </a:solidFill>
                          <a:latin typeface="Arial"/>
                          <a:ea typeface="Arial"/>
                          <a:cs typeface="Arial"/>
                        </a:rPr>
                        <a:t>0.30%</a:t>
                      </a:r>
                    </a:p>
                  </a:txBody>
                  <a:tcPr marL="133350" marR="133350" marT="114300" marB="114300" anchor="ctr">
                    <a:solidFill>
                      <a:srgbClr val="FFFFFF"/>
                    </a:solidFill>
                  </a:tcPr>
                </a:tc>
              </a:tr>
              <a:tr h="654844">
                <a:tc>
                  <a:txBody>
                    <a:bodyPr>
                      <a:noAutofit/>
                    </a:bodyPr>
                    <a:lstStyle/>
                    <a:p>
                      <a:r>
                        <a:rPr sz="2100" b="0">
                          <a:solidFill>
                            <a:srgbClr val="16333B"/>
                          </a:solidFill>
                          <a:latin typeface="Arial"/>
                          <a:ea typeface="Arial"/>
                          <a:cs typeface="Arial"/>
                        </a:rPr>
                        <a:t>p &gt;= 0.3</a:t>
                      </a:r>
                    </a:p>
                  </a:txBody>
                  <a:tcPr marL="133350" marR="133350" marT="114300" marB="114300" anchor="ctr">
                    <a:solidFill>
                      <a:srgbClr val="EAF0ED"/>
                    </a:solidFill>
                  </a:tcPr>
                </a:tc>
                <a:tc>
                  <a:txBody>
                    <a:bodyPr>
                      <a:noAutofit/>
                    </a:bodyPr>
                    <a:lstStyle/>
                    <a:p>
                      <a:r>
                        <a:rPr sz="2100" b="0">
                          <a:solidFill>
                            <a:srgbClr val="16333B"/>
                          </a:solidFill>
                          <a:latin typeface="Arial"/>
                          <a:ea typeface="Arial"/>
                          <a:cs typeface="Arial"/>
                        </a:rPr>
                        <a:t>1,058</a:t>
                      </a:r>
                    </a:p>
                  </a:txBody>
                  <a:tcPr marL="133350" marR="133350" marT="114300" marB="114300" anchor="ctr">
                    <a:solidFill>
                      <a:srgbClr val="EAF0ED"/>
                    </a:solidFill>
                  </a:tcPr>
                </a:tc>
                <a:tc>
                  <a:txBody>
                    <a:bodyPr>
                      <a:noAutofit/>
                    </a:bodyPr>
                    <a:lstStyle/>
                    <a:p>
                      <a:r>
                        <a:rPr sz="2100" b="0">
                          <a:solidFill>
                            <a:srgbClr val="16333B"/>
                          </a:solidFill>
                          <a:latin typeface="Arial"/>
                          <a:ea typeface="Arial"/>
                          <a:cs typeface="Arial"/>
                        </a:rPr>
                        <a:t>1,398</a:t>
                      </a:r>
                    </a:p>
                  </a:txBody>
                  <a:tcPr marL="133350" marR="133350" marT="114300" marB="114300" anchor="ctr">
                    <a:solidFill>
                      <a:srgbClr val="EAF0ED"/>
                    </a:solidFill>
                  </a:tcPr>
                </a:tc>
                <a:tc>
                  <a:txBody>
                    <a:bodyPr>
                      <a:noAutofit/>
                    </a:bodyPr>
                    <a:lstStyle/>
                    <a:p>
                      <a:r>
                        <a:rPr sz="2100" b="0">
                          <a:solidFill>
                            <a:srgbClr val="16333B"/>
                          </a:solidFill>
                          <a:latin typeface="Arial"/>
                          <a:ea typeface="Arial"/>
                          <a:cs typeface="Arial"/>
                        </a:rPr>
                        <a:t>28.68%</a:t>
                      </a:r>
                    </a:p>
                  </a:txBody>
                  <a:tcPr marL="133350" marR="133350" marT="114300" marB="114300" anchor="ctr">
                    <a:solidFill>
                      <a:srgbClr val="EAF0ED"/>
                    </a:solidFill>
                  </a:tcPr>
                </a:tc>
              </a:tr>
              <a:tr h="654844">
                <a:tc>
                  <a:txBody>
                    <a:bodyPr>
                      <a:noAutofit/>
                    </a:bodyPr>
                    <a:lstStyle/>
                    <a:p>
                      <a:r>
                        <a:rPr sz="2100" b="0">
                          <a:solidFill>
                            <a:srgbClr val="16333B"/>
                          </a:solidFill>
                          <a:latin typeface="Arial"/>
                          <a:ea typeface="Arial"/>
                          <a:cs typeface="Arial"/>
                        </a:rPr>
                        <a:t>p &gt;= 0.2</a:t>
                      </a:r>
                    </a:p>
                  </a:txBody>
                  <a:tcPr marL="133350" marR="133350" marT="114300" marB="114300" anchor="ctr">
                    <a:solidFill>
                      <a:srgbClr val="FFFFFF"/>
                    </a:solidFill>
                  </a:tcPr>
                </a:tc>
                <a:tc>
                  <a:txBody>
                    <a:bodyPr>
                      <a:noAutofit/>
                    </a:bodyPr>
                    <a:lstStyle/>
                    <a:p>
                      <a:r>
                        <a:rPr sz="2100" b="0">
                          <a:solidFill>
                            <a:srgbClr val="16333B"/>
                          </a:solidFill>
                          <a:latin typeface="Arial"/>
                          <a:ea typeface="Arial"/>
                          <a:cs typeface="Arial"/>
                        </a:rPr>
                        <a:t>2,724</a:t>
                      </a:r>
                    </a:p>
                  </a:txBody>
                  <a:tcPr marL="133350" marR="133350" marT="114300" marB="114300" anchor="ctr">
                    <a:solidFill>
                      <a:srgbClr val="FFFFFF"/>
                    </a:solidFill>
                  </a:tcPr>
                </a:tc>
                <a:tc>
                  <a:txBody>
                    <a:bodyPr>
                      <a:noAutofit/>
                    </a:bodyPr>
                    <a:lstStyle/>
                    <a:p>
                      <a:r>
                        <a:rPr sz="2100" b="0">
                          <a:solidFill>
                            <a:srgbClr val="16333B"/>
                          </a:solidFill>
                          <a:latin typeface="Arial"/>
                          <a:ea typeface="Arial"/>
                          <a:cs typeface="Arial"/>
                        </a:rPr>
                        <a:t>5,353</a:t>
                      </a:r>
                    </a:p>
                  </a:txBody>
                  <a:tcPr marL="133350" marR="133350" marT="114300" marB="114300" anchor="ctr">
                    <a:solidFill>
                      <a:srgbClr val="FFFFFF"/>
                    </a:solidFill>
                  </a:tcPr>
                </a:tc>
                <a:tc>
                  <a:txBody>
                    <a:bodyPr>
                      <a:noAutofit/>
                    </a:bodyPr>
                    <a:lstStyle/>
                    <a:p>
                      <a:r>
                        <a:rPr sz="2100" b="0">
                          <a:solidFill>
                            <a:srgbClr val="16333B"/>
                          </a:solidFill>
                          <a:latin typeface="Arial"/>
                          <a:ea typeface="Arial"/>
                          <a:cs typeface="Arial"/>
                        </a:rPr>
                        <a:t>73.84%</a:t>
                      </a:r>
                    </a:p>
                  </a:txBody>
                  <a:tcPr marL="133350" marR="133350" marT="114300" marB="114300" anchor="ctr">
                    <a:solidFill>
                      <a:srgbClr val="FFFFFF"/>
                    </a:solidFill>
                  </a:tcPr>
                </a:tc>
              </a:tr>
            </a:tbl>
          </a:graphicData>
        </a:graphic>
      </p:graphicFrame>
      <p:sp>
        <p:nvSpPr>
          <p:cNvPr id="4" name="Highest-scored 10%: 679 cases in 1,409 boo">
            <a:extLst xmlns:a="http://schemas.openxmlformats.org/drawingml/2006/main">
              <a:ext uri="{FF2B5EF4-FFF2-40B4-BE49-F238E27FC236}">
                <a16:creationId xmlns:a16="http://schemas.microsoft.com/office/drawing/2014/main" id="{D6A28345-0598-46EB-BD23-4B1E03C26E19}"/>
              </a:ext>
            </a:extLst>
          </p:cNvPr>
          <p:cNvSpPr>
            <a:spLocks xmlns:a="http://schemas.openxmlformats.org/drawingml/2006/main" noGrp="1"/>
          </p:cNvSpPr>
          <p:nvPr/>
        </p:nvSpPr>
        <p:spPr>
          <a:xfrm xmlns:a="http://schemas.openxmlformats.org/drawingml/2006/main">
            <a:off x="628650" y="4752975"/>
            <a:ext cx="10934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6A73"/>
                </a:solidFill>
                <a:latin typeface="Arial"/>
                <a:ea typeface="Arial"/>
                <a:cs typeface="Arial"/>
              </a:defRPr>
            </a:defPPr>
          </a:lstStyle>
          <a:p xmlns:a="http://schemas.openxmlformats.org/drawingml/2006/main">
            <a:pPr>
              <a:defRPr sz="2325" b="1">
                <a:solidFill>
                  <a:srgbClr val="246A73"/>
                </a:solidFill>
                <a:latin typeface="Arial"/>
                <a:ea typeface="Arial"/>
                <a:cs typeface="Arial"/>
              </a:defRPr>
            </a:pPr>
            <a:r>
              <a:rPr sz="2325" b="1">
                <a:solidFill>
                  <a:srgbClr val="246A73"/>
                </a:solidFill>
                <a:latin typeface="Arial"/>
                <a:ea typeface="Arial"/>
                <a:cs typeface="Arial"/>
              </a:rPr>
              <a:t>Highest-scored 10%: 679 cases in 1,409 bookings</a:t>
            </a:r>
          </a:p>
        </p:txBody>
      </p:sp>
      <p:sp>
        <p:nvSpPr>
          <p:cNvPr id="5" name="48.19% precision, but only 18.41% of all c">
            <a:extLst xmlns:a="http://schemas.openxmlformats.org/drawingml/2006/main">
              <a:ext uri="{FF2B5EF4-FFF2-40B4-BE49-F238E27FC236}">
                <a16:creationId xmlns:a16="http://schemas.microsoft.com/office/drawing/2014/main" id="{A03A94E2-CA05-4A5F-AC66-AA89A9006055}"/>
              </a:ext>
            </a:extLst>
          </p:cNvPr>
          <p:cNvSpPr>
            <a:spLocks xmlns:a="http://schemas.openxmlformats.org/drawingml/2006/main" noGrp="1"/>
          </p:cNvSpPr>
          <p:nvPr/>
        </p:nvSpPr>
        <p:spPr>
          <a:xfrm xmlns:a="http://schemas.openxmlformats.org/drawingml/2006/main">
            <a:off x="628650" y="545782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33B"/>
                </a:solidFill>
                <a:latin typeface="Arial"/>
                <a:ea typeface="Arial"/>
                <a:cs typeface="Arial"/>
              </a:defRPr>
            </a:defPPr>
          </a:lstStyle>
          <a:p xmlns:a="http://schemas.openxmlformats.org/drawingml/2006/main">
            <a:pPr>
              <a:defRPr sz="2175" b="0">
                <a:solidFill>
                  <a:srgbClr val="16333B"/>
                </a:solidFill>
                <a:latin typeface="Arial"/>
                <a:ea typeface="Arial"/>
                <a:cs typeface="Arial"/>
              </a:defRPr>
            </a:pPr>
            <a:r>
              <a:rPr sz="2175" b="0">
                <a:solidFill>
                  <a:srgbClr val="16333B"/>
                </a:solidFill>
                <a:latin typeface="Arial"/>
                <a:ea typeface="Arial"/>
                <a:cs typeface="Arial"/>
              </a:rPr>
              <a:t>48.19% precision, but only 18.41% of all cases found</a:t>
            </a:r>
          </a:p>
        </p:txBody>
      </p:sp>
    </p:spTree>
    <p:extLst>
      <p:ext uri="{BB962C8B-B14F-4D97-AF65-F5344CB8AC3E}">
        <p14:creationId xmlns:p14="http://schemas.microsoft.com/office/powerpoint/2010/main" val="786803604"/>
      </p:ext>
    </p:extLst>
  </p:cSld>
</p:sld>
</file>

<file path=ppt/slides/slide11.xml><?xml version="1.0" encoding="utf-8"?>
<p:sld xmlns:p="http://schemas.openxmlformats.org/presentationml/2006/main">
  <p:cSld>
    <p:bg>
      <p:bgPr>
        <a:solidFill xmlns:a="http://schemas.openxmlformats.org/drawingml/2006/main">
          <a:srgbClr val="16333B"/>
        </a:solidFill>
      </p:bgPr>
    </p:bg>
    <p:spTree>
      <p:nvGrpSpPr>
        <p:cNvPr id="1" name=""/>
        <p:cNvGrpSpPr/>
        <p:nvPr/>
      </p:nvGrpSpPr>
      <p:grpSpPr>
        <a:xfrm xmlns:a="http://schemas.openxmlformats.org/drawingml/2006/main"/>
      </p:grpSpPr>
      <p:sp>
        <p:nvSpPr>
          <p:cNvPr id="7" name="Conclusion and next steps">
            <a:extLst xmlns:a="http://schemas.openxmlformats.org/drawingml/2006/main">
              <a:ext uri="{FF2B5EF4-FFF2-40B4-BE49-F238E27FC236}">
                <a16:creationId xmlns:a16="http://schemas.microsoft.com/office/drawing/2014/main" id="{02A1EB61-2BF2-4DEB-A023-BE648130DF2F}"/>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Conclusion and next steps</a:t>
            </a:r>
          </a:p>
        </p:txBody>
      </p:sp>
      <p:sp>
        <p:nvSpPr>
          <p:cNvPr id="2" name="IS 507 Midterm  ·  11/11">
            <a:extLst xmlns:a="http://schemas.openxmlformats.org/drawingml/2006/main">
              <a:ext uri="{FF2B5EF4-FFF2-40B4-BE49-F238E27FC236}">
                <a16:creationId xmlns:a16="http://schemas.microsoft.com/office/drawing/2014/main" id="{5176BB6D-2905-4968-8AF4-45BD701DBF7B}"/>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BDD0CF"/>
                </a:solidFill>
                <a:latin typeface="Arial"/>
                <a:ea typeface="Arial"/>
                <a:cs typeface="Arial"/>
              </a:defRPr>
            </a:defPPr>
          </a:lstStyle>
          <a:p xmlns:a="http://schemas.openxmlformats.org/drawingml/2006/main">
            <a:r>
              <a:t>IS 507 Midterm  ·  10/10</a:t>
            </a:r>
          </a:p>
        </p:txBody>
      </p:sp>
      <p:sp>
        <p:nvSpPr>
          <p:cNvPr id="3" name="Some ranking information in recorded booki">
            <a:extLst xmlns:a="http://schemas.openxmlformats.org/drawingml/2006/main">
              <a:ext uri="{FF2B5EF4-FFF2-40B4-BE49-F238E27FC236}">
                <a16:creationId xmlns:a16="http://schemas.microsoft.com/office/drawing/2014/main" id="{C2A5DC7F-8F41-41FA-A04E-4DCE76E88708}"/>
              </a:ext>
            </a:extLst>
          </p:cNvPr>
          <p:cNvSpPr>
            <a:spLocks xmlns:a="http://schemas.openxmlformats.org/drawingml/2006/main" noGrp="1"/>
          </p:cNvSpPr>
          <p:nvPr/>
        </p:nvSpPr>
        <p:spPr>
          <a:xfrm xmlns:a="http://schemas.openxmlformats.org/drawingml/2006/main">
            <a:off x="628650" y="1809750"/>
            <a:ext cx="10934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FFFFF"/>
                </a:solidFill>
                <a:latin typeface="Arial"/>
                <a:ea typeface="Arial"/>
                <a:cs typeface="Arial"/>
              </a:defRPr>
            </a:defPPr>
          </a:lstStyle>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Some ranking information in recorded bookings</a:t>
            </a:r>
          </a:p>
        </p:txBody>
      </p:sp>
      <p:sp>
        <p:nvSpPr>
          <p:cNvPr id="4" name="Default alerts miss almost every validatio">
            <a:extLst xmlns:a="http://schemas.openxmlformats.org/drawingml/2006/main">
              <a:ext uri="{FF2B5EF4-FFF2-40B4-BE49-F238E27FC236}">
                <a16:creationId xmlns:a16="http://schemas.microsoft.com/office/drawing/2014/main" id="{E6E20119-A9C4-445A-BADA-FAE5F9F5160E}"/>
              </a:ext>
            </a:extLst>
          </p:cNvPr>
          <p:cNvSpPr>
            <a:spLocks xmlns:a="http://schemas.openxmlformats.org/drawingml/2006/main" noGrp="1"/>
          </p:cNvSpPr>
          <p:nvPr/>
        </p:nvSpPr>
        <p:spPr>
          <a:xfrm xmlns:a="http://schemas.openxmlformats.org/drawingml/2006/main">
            <a:off x="628650" y="3057525"/>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D3B58A"/>
                </a:solidFill>
                <a:latin typeface="Arial"/>
                <a:ea typeface="Arial"/>
                <a:cs typeface="Arial"/>
              </a:defRPr>
            </a:defPPr>
          </a:lstStyle>
          <a:p xmlns:a="http://schemas.openxmlformats.org/drawingml/2006/main">
            <a:pPr>
              <a:defRPr sz="2625" b="1">
                <a:solidFill>
                  <a:srgbClr val="D3B58A"/>
                </a:solidFill>
                <a:latin typeface="Arial"/>
                <a:ea typeface="Arial"/>
                <a:cs typeface="Arial"/>
              </a:defRPr>
            </a:pPr>
            <a:r>
              <a:rPr sz="2625" b="1">
                <a:solidFill>
                  <a:srgbClr val="D3B58A"/>
                </a:solidFill>
                <a:latin typeface="Arial"/>
                <a:ea typeface="Arial"/>
                <a:cs typeface="Arial"/>
              </a:rPr>
              <a:t>Default alerts miss almost every validation case</a:t>
            </a:r>
          </a:p>
        </p:txBody>
      </p:sp>
      <p:sp>
        <p:nvSpPr>
          <p:cNvPr id="5" name="Main limits: later snapshots, selected coh">
            <a:extLst xmlns:a="http://schemas.openxmlformats.org/drawingml/2006/main">
              <a:ext uri="{FF2B5EF4-FFF2-40B4-BE49-F238E27FC236}">
                <a16:creationId xmlns:a16="http://schemas.microsoft.com/office/drawing/2014/main" id="{60DD89D7-8EDC-4AA5-AD1B-8CDEDD5E653B}"/>
              </a:ext>
            </a:extLst>
          </p:cNvPr>
          <p:cNvSpPr>
            <a:spLocks xmlns:a="http://schemas.openxmlformats.org/drawingml/2006/main" noGrp="1"/>
          </p:cNvSpPr>
          <p:nvPr/>
        </p:nvSpPr>
        <p:spPr>
          <a:xfrm xmlns:a="http://schemas.openxmlformats.org/drawingml/2006/main">
            <a:off x="628650" y="4162425"/>
            <a:ext cx="109347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DD0CF"/>
                </a:solidFill>
                <a:latin typeface="Arial"/>
                <a:ea typeface="Arial"/>
                <a:cs typeface="Arial"/>
              </a:defRPr>
            </a:defPPr>
          </a:lstStyle>
          <a:p xmlns:a="http://schemas.openxmlformats.org/drawingml/2006/main">
            <a:pPr>
              <a:defRPr sz="2175" b="0">
                <a:solidFill>
                  <a:srgbClr val="BDD0CF"/>
                </a:solidFill>
                <a:latin typeface="Arial"/>
                <a:ea typeface="Arial"/>
                <a:cs typeface="Arial"/>
              </a:defRPr>
            </a:pPr>
            <a:r>
              <a:rPr sz="2175" b="0">
                <a:solidFill>
                  <a:srgbClr val="BDD0CF"/>
                </a:solidFill>
                <a:latin typeface="Arial"/>
                <a:ea typeface="Arial"/>
                <a:cs typeface="Arial"/>
              </a:rPr>
              <a:t>Main limits: later snapshots, selected cohorts,</a:t>
            </a:r>
          </a:p>
          <a:p xmlns:a="http://schemas.openxmlformats.org/drawingml/2006/main">
            <a:pPr>
              <a:defRPr sz="2175" b="0">
                <a:solidFill>
                  <a:srgbClr val="BDD0CF"/>
                </a:solidFill>
                <a:latin typeface="Arial"/>
                <a:ea typeface="Arial"/>
                <a:cs typeface="Arial"/>
              </a:defRPr>
            </a:pPr>
            <a:r>
              <a:rPr sz="2175" b="0">
                <a:solidFill>
                  <a:srgbClr val="BDD0CF"/>
                </a:solidFill>
                <a:latin typeface="Arial"/>
                <a:ea typeface="Arial"/>
                <a:cs typeface="Arial"/>
              </a:rPr>
              <a:t>unknown guest/group dependence and only two hotels</a:t>
            </a:r>
          </a:p>
        </p:txBody>
      </p:sp>
      <p:sp>
        <p:nvSpPr>
          <p:cNvPr id="6" name="Next: original inputs, a justified cohort ">
            <a:extLst xmlns:a="http://schemas.openxmlformats.org/drawingml/2006/main">
              <a:ext uri="{FF2B5EF4-FFF2-40B4-BE49-F238E27FC236}">
                <a16:creationId xmlns:a16="http://schemas.microsoft.com/office/drawing/2014/main" id="{61F4B873-8E0C-4DE2-BBC9-5A5795C13F6F}"/>
              </a:ext>
            </a:extLst>
          </p:cNvPr>
          <p:cNvSpPr>
            <a:spLocks xmlns:a="http://schemas.openxmlformats.org/drawingml/2006/main" noGrp="1"/>
          </p:cNvSpPr>
          <p:nvPr/>
        </p:nvSpPr>
        <p:spPr>
          <a:xfrm xmlns:a="http://schemas.openxmlformats.org/drawingml/2006/main">
            <a:off x="628650" y="5524500"/>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DD0CF"/>
                </a:solidFill>
                <a:latin typeface="Arial"/>
                <a:ea typeface="Arial"/>
                <a:cs typeface="Arial"/>
              </a:defRPr>
            </a:defPPr>
          </a:lstStyle>
          <a:p xmlns:a="http://schemas.openxmlformats.org/drawingml/2006/main">
            <a:pPr>
              <a:defRPr sz="2175" b="0">
                <a:solidFill>
                  <a:srgbClr val="BDD0CF"/>
                </a:solidFill>
                <a:latin typeface="Arial"/>
                <a:ea typeface="Arial"/>
                <a:cs typeface="Arial"/>
              </a:defRPr>
            </a:pPr>
            <a:r>
              <a:rPr sz="2175" b="0">
                <a:solidFill>
                  <a:srgbClr val="BDD0CF"/>
                </a:solidFill>
                <a:latin typeface="Arial"/>
                <a:ea typeface="Arial"/>
                <a:cs typeface="Arial"/>
              </a:rPr>
              <a:t>Next: original inputs, a justified cohort and a practical alert rule</a:t>
            </a:r>
          </a:p>
        </p:txBody>
      </p:sp>
    </p:spTree>
    <p:extLst>
      <p:ext uri="{BB962C8B-B14F-4D97-AF65-F5344CB8AC3E}">
        <p14:creationId xmlns:p14="http://schemas.microsoft.com/office/powerpoint/2010/main" val="1641836371"/>
      </p:ext>
    </p:extLst>
  </p:cSld>
</p:sld>
</file>

<file path=ppt/slides/slide12.xml><?xml version="1.0" encoding="utf-8"?>
<p:sld xmlns:p="http://schemas.openxmlformats.org/presentationml/2006/main" show="0">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Backup: model settings and sensitivity che">
            <a:extLst xmlns:a="http://schemas.openxmlformats.org/drawingml/2006/main">
              <a:ext uri="{FF2B5EF4-FFF2-40B4-BE49-F238E27FC236}">
                <a16:creationId xmlns:a16="http://schemas.microsoft.com/office/drawing/2014/main" id="{04046942-3BBE-4132-89FC-C83A047A19D0}"/>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33B"/>
                </a:solidFill>
                <a:latin typeface="Arial"/>
                <a:ea typeface="Arial"/>
                <a:cs typeface="Arial"/>
              </a:defRPr>
            </a:defPPr>
          </a:lstStyle>
          <a:p xmlns:a="http://schemas.openxmlformats.org/drawingml/2006/main">
            <a:pPr>
              <a:defRPr sz="3300" b="1">
                <a:solidFill>
                  <a:srgbClr val="16333B"/>
                </a:solidFill>
                <a:latin typeface="Arial"/>
                <a:ea typeface="Arial"/>
                <a:cs typeface="Arial"/>
              </a:defRPr>
            </a:pPr>
            <a:r>
              <a:rPr sz="3300" b="1">
                <a:solidFill>
                  <a:srgbClr val="16333B"/>
                </a:solidFill>
                <a:latin typeface="Arial"/>
                <a:ea typeface="Arial"/>
                <a:cs typeface="Arial"/>
              </a:rPr>
              <a:t>Backup: model settings and sensitivity checks</a:t>
            </a:r>
          </a:p>
        </p:txBody>
      </p:sp>
      <p:sp>
        <p:nvSpPr>
          <p:cNvPr id="2" name="Backup for questions">
            <a:extLst xmlns:a="http://schemas.openxmlformats.org/drawingml/2006/main">
              <a:ext uri="{FF2B5EF4-FFF2-40B4-BE49-F238E27FC236}">
                <a16:creationId xmlns:a16="http://schemas.microsoft.com/office/drawing/2014/main" id="{0103A100-6DE9-46AF-B719-B04074E9DA37}"/>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96F75"/>
                </a:solidFill>
                <a:latin typeface="Arial"/>
                <a:ea typeface="Arial"/>
                <a:cs typeface="Arial"/>
              </a:defRPr>
            </a:defPPr>
          </a:lstStyle>
          <a:p xmlns:a="http://schemas.openxmlformats.org/drawingml/2006/main">
            <a:pPr>
              <a:defRPr sz="1275" b="0">
                <a:solidFill>
                  <a:srgbClr val="596F75"/>
                </a:solidFill>
                <a:latin typeface="Arial"/>
                <a:ea typeface="Arial"/>
                <a:cs typeface="Arial"/>
              </a:defRPr>
            </a:pPr>
            <a:r>
              <a:rPr sz="1275" b="0">
                <a:solidFill>
                  <a:srgbClr val="596F75"/>
                </a:solidFill>
                <a:latin typeface="Arial"/>
                <a:ea typeface="Arial"/>
                <a:cs typeface="Arial"/>
              </a:rPr>
              <a:t>Backup for questions</a:t>
            </a:r>
          </a:p>
        </p:txBody>
      </p:sp>
      <p:sp>
        <p:nvSpPr>
          <p:cNvPr id="3" name="L2, C=1, seed 507, 39 encoded columns">
            <a:extLst xmlns:a="http://schemas.openxmlformats.org/drawingml/2006/main">
              <a:ext uri="{FF2B5EF4-FFF2-40B4-BE49-F238E27FC236}">
                <a16:creationId xmlns:a16="http://schemas.microsoft.com/office/drawing/2014/main" id="{EB68B4F4-B2A1-4752-994B-02F188240A5A}"/>
              </a:ext>
            </a:extLst>
          </p:cNvPr>
          <p:cNvSpPr>
            <a:spLocks xmlns:a="http://schemas.openxmlformats.org/drawingml/2006/main" noGrp="1"/>
          </p:cNvSpPr>
          <p:nvPr/>
        </p:nvSpPr>
        <p:spPr>
          <a:xfrm xmlns:a="http://schemas.openxmlformats.org/drawingml/2006/main">
            <a:off x="628650" y="16954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6A73"/>
                </a:solidFill>
                <a:latin typeface="Arial"/>
                <a:ea typeface="Arial"/>
                <a:cs typeface="Arial"/>
              </a:defRPr>
            </a:defPPr>
          </a:lstStyle>
          <a:p xmlns:a="http://schemas.openxmlformats.org/drawingml/2006/main">
            <a:pPr>
              <a:defRPr sz="2325" b="1">
                <a:solidFill>
                  <a:srgbClr val="246A73"/>
                </a:solidFill>
                <a:latin typeface="Arial"/>
                <a:ea typeface="Arial"/>
                <a:cs typeface="Arial"/>
              </a:defRPr>
            </a:pPr>
            <a:r>
              <a:rPr sz="2325" b="1">
                <a:solidFill>
                  <a:srgbClr val="246A73"/>
                </a:solidFill>
                <a:latin typeface="Arial"/>
                <a:ea typeface="Arial"/>
                <a:cs typeface="Arial"/>
              </a:rPr>
              <a:t>L2, C=1, seed 507, 39 encoded columns</a:t>
            </a:r>
          </a:p>
        </p:txBody>
      </p:sp>
      <p:graphicFrame>
        <p:nvGraphicFramePr>
          <p:cNvPr id="4" name="">
            <a:extLst xmlns:a="http://schemas.openxmlformats.org/drawingml/2006/main">
              <a:ext uri="{FF2B5EF4-FFF2-40B4-BE49-F238E27FC236}">
                <a16:creationId xmlns:a16="http://schemas.microsoft.com/office/drawing/2014/main" id="{719370F9-70C0-43DC-B856-A0E05075E373}"/>
              </a:ext>
            </a:extLst>
          </p:cNvPr>
          <p:cNvGraphicFramePr/>
          <p:nvPr/>
        </p:nvGraphicFramePr>
        <p:xfrm>
          <a:off xmlns:a="http://schemas.openxmlformats.org/drawingml/2006/main" x="628650" y="2619375"/>
          <a:ext xmlns:a="http://schemas.openxmlformats.org/drawingml/2006/main" cx="10934700" cy="2733675"/>
        </p:xfrm>
        <a:graphic xmlns:a="http://schemas.openxmlformats.org/drawingml/2006/main">
          <a:graphicData uri="http://schemas.openxmlformats.org/drawingml/2006/table">
            <a:tbl>
              <a:tblPr/>
              <a:tblGrid>
                <a:gridCol w="6419850"/>
                <a:gridCol w="2257425"/>
                <a:gridCol w="2257425"/>
              </a:tblGrid>
              <a:tr h="546735">
                <a:tc>
                  <a:txBody>
                    <a:bodyPr>
                      <a:noAutofit/>
                    </a:bodyPr>
                    <a:lstStyle/>
                    <a:p>
                      <a:r>
                        <a:rPr sz="2025" b="1">
                          <a:solidFill>
                            <a:srgbClr val="FFFFFF"/>
                          </a:solidFill>
                          <a:latin typeface="Arial"/>
                          <a:ea typeface="Arial"/>
                          <a:cs typeface="Arial"/>
                        </a:rPr>
                        <a:t>Validation sensitivity</a:t>
                      </a:r>
                    </a:p>
                  </a:txBody>
                  <a:tcPr marL="133350" marR="133350" marT="114300" marB="114300" anchor="ctr">
                    <a:solidFill>
                      <a:srgbClr val="16333B"/>
                    </a:solidFill>
                  </a:tcPr>
                </a:tc>
                <a:tc>
                  <a:txBody>
                    <a:bodyPr>
                      <a:noAutofit/>
                    </a:bodyPr>
                    <a:lstStyle/>
                    <a:p>
                      <a:r>
                        <a:rPr sz="2025" b="1">
                          <a:solidFill>
                            <a:srgbClr val="FFFFFF"/>
                          </a:solidFill>
                          <a:latin typeface="Arial"/>
                          <a:ea typeface="Arial"/>
                          <a:cs typeface="Arial"/>
                        </a:rPr>
                        <a:t>AUC</a:t>
                      </a:r>
                    </a:p>
                  </a:txBody>
                  <a:tcPr marL="133350" marR="133350" marT="114300" marB="114300" anchor="ctr">
                    <a:solidFill>
                      <a:srgbClr val="16333B"/>
                    </a:solidFill>
                  </a:tcPr>
                </a:tc>
                <a:tc>
                  <a:txBody>
                    <a:bodyPr>
                      <a:noAutofit/>
                    </a:bodyPr>
                    <a:lstStyle/>
                    <a:p>
                      <a:r>
                        <a:rPr sz="2025" b="1">
                          <a:solidFill>
                            <a:srgbClr val="FFFFFF"/>
                          </a:solidFill>
                          <a:latin typeface="Arial"/>
                          <a:ea typeface="Arial"/>
                          <a:cs typeface="Arial"/>
                        </a:rPr>
                        <a:t>Brier</a:t>
                      </a:r>
                    </a:p>
                  </a:txBody>
                  <a:tcPr marL="133350" marR="133350" marT="114300" marB="114300" anchor="ctr">
                    <a:solidFill>
                      <a:srgbClr val="16333B"/>
                    </a:solidFill>
                  </a:tcPr>
                </a:tc>
              </a:tr>
              <a:tr h="546735">
                <a:tc>
                  <a:txBody>
                    <a:bodyPr>
                      <a:noAutofit/>
                    </a:bodyPr>
                    <a:lstStyle/>
                    <a:p>
                      <a:r>
                        <a:rPr sz="2025" b="0">
                          <a:solidFill>
                            <a:srgbClr val="16333B"/>
                          </a:solidFill>
                          <a:latin typeface="Arial"/>
                          <a:ea typeface="Arial"/>
                          <a:cs typeface="Arial"/>
                        </a:rPr>
                        <a:t>Primary</a:t>
                      </a:r>
                    </a:p>
                  </a:txBody>
                  <a:tcPr marL="133350" marR="133350" marT="114300" marB="114300" anchor="ctr">
                    <a:solidFill>
                      <a:srgbClr val="FFFFFF"/>
                    </a:solidFill>
                  </a:tcPr>
                </a:tc>
                <a:tc>
                  <a:txBody>
                    <a:bodyPr>
                      <a:noAutofit/>
                    </a:bodyPr>
                    <a:lstStyle/>
                    <a:p>
                      <a:r>
                        <a:rPr sz="2025" b="0">
                          <a:solidFill>
                            <a:srgbClr val="16333B"/>
                          </a:solidFill>
                          <a:latin typeface="Arial"/>
                          <a:ea typeface="Arial"/>
                          <a:cs typeface="Arial"/>
                        </a:rPr>
                        <a:t>0.6584</a:t>
                      </a:r>
                    </a:p>
                  </a:txBody>
                  <a:tcPr marL="133350" marR="133350" marT="114300" marB="114300" anchor="ctr">
                    <a:solidFill>
                      <a:srgbClr val="FFFFFF"/>
                    </a:solidFill>
                  </a:tcPr>
                </a:tc>
                <a:tc>
                  <a:txBody>
                    <a:bodyPr>
                      <a:noAutofit/>
                    </a:bodyPr>
                    <a:lstStyle/>
                    <a:p>
                      <a:r>
                        <a:rPr sz="2025" b="0">
                          <a:solidFill>
                            <a:srgbClr val="16333B"/>
                          </a:solidFill>
                          <a:latin typeface="Arial"/>
                          <a:ea typeface="Arial"/>
                          <a:cs typeface="Arial"/>
                        </a:rPr>
                        <a:t>0.1841</a:t>
                      </a:r>
                    </a:p>
                  </a:txBody>
                  <a:tcPr marL="133350" marR="133350" marT="114300" marB="114300" anchor="ctr">
                    <a:solidFill>
                      <a:srgbClr val="FFFFFF"/>
                    </a:solidFill>
                  </a:tcPr>
                </a:tc>
              </a:tr>
              <a:tr h="546735">
                <a:tc>
                  <a:txBody>
                    <a:bodyPr>
                      <a:noAutofit/>
                    </a:bodyPr>
                    <a:lstStyle/>
                    <a:p>
                      <a:r>
                        <a:rPr sz="2025" b="0">
                          <a:solidFill>
                            <a:srgbClr val="16333B"/>
                          </a:solidFill>
                          <a:latin typeface="Arial"/>
                          <a:ea typeface="Arial"/>
                          <a:cs typeface="Arial"/>
                        </a:rPr>
                        <a:t>Deduplicated training</a:t>
                      </a:r>
                    </a:p>
                  </a:txBody>
                  <a:tcPr marL="133350" marR="133350" marT="114300" marB="114300" anchor="ctr">
                    <a:solidFill>
                      <a:srgbClr val="EAF0ED"/>
                    </a:solidFill>
                  </a:tcPr>
                </a:tc>
                <a:tc>
                  <a:txBody>
                    <a:bodyPr>
                      <a:noAutofit/>
                    </a:bodyPr>
                    <a:lstStyle/>
                    <a:p>
                      <a:r>
                        <a:rPr sz="2025" b="0">
                          <a:solidFill>
                            <a:srgbClr val="16333B"/>
                          </a:solidFill>
                          <a:latin typeface="Arial"/>
                          <a:ea typeface="Arial"/>
                          <a:cs typeface="Arial"/>
                        </a:rPr>
                        <a:t>0.6517</a:t>
                      </a:r>
                    </a:p>
                  </a:txBody>
                  <a:tcPr marL="133350" marR="133350" marT="114300" marB="114300" anchor="ctr">
                    <a:solidFill>
                      <a:srgbClr val="EAF0ED"/>
                    </a:solidFill>
                  </a:tcPr>
                </a:tc>
                <a:tc>
                  <a:txBody>
                    <a:bodyPr>
                      <a:noAutofit/>
                    </a:bodyPr>
                    <a:lstStyle/>
                    <a:p>
                      <a:r>
                        <a:rPr sz="2025" b="0">
                          <a:solidFill>
                            <a:srgbClr val="16333B"/>
                          </a:solidFill>
                          <a:latin typeface="Arial"/>
                          <a:ea typeface="Arial"/>
                          <a:cs typeface="Arial"/>
                        </a:rPr>
                        <a:t>0.1898</a:t>
                      </a:r>
                    </a:p>
                  </a:txBody>
                  <a:tcPr marL="133350" marR="133350" marT="114300" marB="114300" anchor="ctr">
                    <a:solidFill>
                      <a:srgbClr val="EAF0ED"/>
                    </a:solidFill>
                  </a:tcPr>
                </a:tc>
              </a:tr>
              <a:tr h="546735">
                <a:tc>
                  <a:txBody>
                    <a:bodyPr>
                      <a:noAutofit/>
                    </a:bodyPr>
                    <a:lstStyle/>
                    <a:p>
                      <a:r>
                        <a:rPr sz="2025" b="0">
                          <a:solidFill>
                            <a:srgbClr val="16333B"/>
                          </a:solidFill>
                          <a:latin typeface="Arial"/>
                          <a:ea typeface="Arial"/>
                          <a:cs typeface="Arial"/>
                        </a:rPr>
                        <a:t>Hotel / lead time / month</a:t>
                      </a:r>
                    </a:p>
                  </a:txBody>
                  <a:tcPr marL="133350" marR="133350" marT="114300" marB="114300" anchor="ctr">
                    <a:solidFill>
                      <a:srgbClr val="FFFFFF"/>
                    </a:solidFill>
                  </a:tcPr>
                </a:tc>
                <a:tc>
                  <a:txBody>
                    <a:bodyPr>
                      <a:noAutofit/>
                    </a:bodyPr>
                    <a:lstStyle/>
                    <a:p>
                      <a:r>
                        <a:rPr sz="2025" b="0">
                          <a:solidFill>
                            <a:srgbClr val="16333B"/>
                          </a:solidFill>
                          <a:latin typeface="Arial"/>
                          <a:ea typeface="Arial"/>
                          <a:cs typeface="Arial"/>
                        </a:rPr>
                        <a:t>0.6425</a:t>
                      </a:r>
                    </a:p>
                  </a:txBody>
                  <a:tcPr marL="133350" marR="133350" marT="114300" marB="114300" anchor="ctr">
                    <a:solidFill>
                      <a:srgbClr val="FFFFFF"/>
                    </a:solidFill>
                  </a:tcPr>
                </a:tc>
                <a:tc>
                  <a:txBody>
                    <a:bodyPr>
                      <a:noAutofit/>
                    </a:bodyPr>
                    <a:lstStyle/>
                    <a:p>
                      <a:r>
                        <a:rPr sz="2025" b="0">
                          <a:solidFill>
                            <a:srgbClr val="16333B"/>
                          </a:solidFill>
                          <a:latin typeface="Arial"/>
                          <a:ea typeface="Arial"/>
                          <a:cs typeface="Arial"/>
                        </a:rPr>
                        <a:t>0.1859</a:t>
                      </a:r>
                    </a:p>
                  </a:txBody>
                  <a:tcPr marL="133350" marR="133350" marT="114300" marB="114300" anchor="ctr">
                    <a:solidFill>
                      <a:srgbClr val="FFFFFF"/>
                    </a:solidFill>
                  </a:tcPr>
                </a:tc>
              </a:tr>
              <a:tr h="546735">
                <a:tc>
                  <a:txBody>
                    <a:bodyPr>
                      <a:noAutofit/>
                    </a:bodyPr>
                    <a:lstStyle/>
                    <a:p>
                      <a:r>
                        <a:rPr sz="2025" b="0">
                          <a:solidFill>
                            <a:srgbClr val="16333B"/>
                          </a:solidFill>
                          <a:latin typeface="Arial"/>
                          <a:ea typeface="Arial"/>
                          <a:cs typeface="Arial"/>
                        </a:rPr>
                        <a:t>Unique validation rows</a:t>
                      </a:r>
                    </a:p>
                  </a:txBody>
                  <a:tcPr marL="133350" marR="133350" marT="114300" marB="114300" anchor="ctr">
                    <a:solidFill>
                      <a:srgbClr val="EAF0ED"/>
                    </a:solidFill>
                  </a:tcPr>
                </a:tc>
                <a:tc>
                  <a:txBody>
                    <a:bodyPr>
                      <a:noAutofit/>
                    </a:bodyPr>
                    <a:lstStyle/>
                    <a:p>
                      <a:r>
                        <a:rPr sz="2025" b="0">
                          <a:solidFill>
                            <a:srgbClr val="16333B"/>
                          </a:solidFill>
                          <a:latin typeface="Arial"/>
                          <a:ea typeface="Arial"/>
                          <a:cs typeface="Arial"/>
                        </a:rPr>
                        <a:t>0.6425</a:t>
                      </a:r>
                    </a:p>
                  </a:txBody>
                  <a:tcPr marL="133350" marR="133350" marT="114300" marB="114300" anchor="ctr">
                    <a:solidFill>
                      <a:srgbClr val="EAF0ED"/>
                    </a:solidFill>
                  </a:tcPr>
                </a:tc>
                <a:tc>
                  <a:txBody>
                    <a:bodyPr>
                      <a:noAutofit/>
                    </a:bodyPr>
                    <a:lstStyle/>
                    <a:p>
                      <a:r>
                        <a:rPr sz="2025" b="0">
                          <a:solidFill>
                            <a:srgbClr val="16333B"/>
                          </a:solidFill>
                          <a:latin typeface="Arial"/>
                          <a:ea typeface="Arial"/>
                          <a:cs typeface="Arial"/>
                        </a:rPr>
                        <a:t>0.1739</a:t>
                      </a:r>
                    </a:p>
                  </a:txBody>
                  <a:tcPr marL="133350" marR="133350" marT="114300" marB="114300" anchor="ctr">
                    <a:solidFill>
                      <a:srgbClr val="EAF0ED"/>
                    </a:solidFill>
                  </a:tcPr>
                </a:tc>
              </a:tr>
            </a:tbl>
          </a:graphicData>
        </a:graphic>
      </p:graphicFrame>
      <p:sp>
        <p:nvSpPr>
          <p:cNvPr id="5" name="Extra fields add limited observed ranking ">
            <a:extLst xmlns:a="http://schemas.openxmlformats.org/drawingml/2006/main">
              <a:ext uri="{FF2B5EF4-FFF2-40B4-BE49-F238E27FC236}">
                <a16:creationId xmlns:a16="http://schemas.microsoft.com/office/drawing/2014/main" id="{9EC13B14-5C70-4A53-84AB-0F521101DBFF}"/>
              </a:ext>
            </a:extLst>
          </p:cNvPr>
          <p:cNvSpPr>
            <a:spLocks xmlns:a="http://schemas.openxmlformats.org/drawingml/2006/main" noGrp="1"/>
          </p:cNvSpPr>
          <p:nvPr/>
        </p:nvSpPr>
        <p:spPr>
          <a:xfrm xmlns:a="http://schemas.openxmlformats.org/drawingml/2006/main">
            <a:off x="628650" y="5743575"/>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F75"/>
                </a:solidFill>
                <a:latin typeface="Arial"/>
                <a:ea typeface="Arial"/>
                <a:cs typeface="Arial"/>
              </a:defRPr>
            </a:defPPr>
          </a:lstStyle>
          <a:p xmlns:a="http://schemas.openxmlformats.org/drawingml/2006/main">
            <a:pPr>
              <a:defRPr sz="1500" b="0">
                <a:solidFill>
                  <a:srgbClr val="596F75"/>
                </a:solidFill>
                <a:latin typeface="Arial"/>
                <a:ea typeface="Arial"/>
                <a:cs typeface="Arial"/>
              </a:defRPr>
            </a:pPr>
            <a:r>
              <a:rPr sz="1500" b="0">
                <a:solidFill>
                  <a:srgbClr val="596F75"/>
                </a:solidFill>
                <a:latin typeface="Arial"/>
                <a:ea typeface="Arial"/>
                <a:cs typeface="Arial"/>
              </a:rPr>
              <a:t>Extra fields add limited observed ranking improvement; population changes matter</a:t>
            </a:r>
          </a:p>
        </p:txBody>
      </p:sp>
    </p:spTree>
    <p:extLst>
      <p:ext uri="{BB962C8B-B14F-4D97-AF65-F5344CB8AC3E}">
        <p14:creationId xmlns:p14="http://schemas.microsoft.com/office/powerpoint/2010/main" val="898121204"/>
      </p:ext>
    </p:extLst>
  </p:cSld>
</p:sld>
</file>

<file path=ppt/slides/slide13.xml><?xml version="1.0" encoding="utf-8"?>
<p:sld xmlns:p="http://schemas.openxmlformats.org/presentationml/2006/main" show="0">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Backup: the later period has already been ">
            <a:extLst xmlns:a="http://schemas.openxmlformats.org/drawingml/2006/main">
              <a:ext uri="{FF2B5EF4-FFF2-40B4-BE49-F238E27FC236}">
                <a16:creationId xmlns:a16="http://schemas.microsoft.com/office/drawing/2014/main" id="{D5650243-FDC5-46FF-B2B4-C8278C09C72B}"/>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33B"/>
                </a:solidFill>
                <a:latin typeface="Arial"/>
                <a:ea typeface="Arial"/>
                <a:cs typeface="Arial"/>
              </a:defRPr>
            </a:defPPr>
          </a:lstStyle>
          <a:p xmlns:a="http://schemas.openxmlformats.org/drawingml/2006/main">
            <a:pPr>
              <a:defRPr sz="3300" b="1">
                <a:solidFill>
                  <a:srgbClr val="16333B"/>
                </a:solidFill>
                <a:latin typeface="Arial"/>
                <a:ea typeface="Arial"/>
                <a:cs typeface="Arial"/>
              </a:defRPr>
            </a:pPr>
            <a:r>
              <a:rPr sz="3300" b="1">
                <a:solidFill>
                  <a:srgbClr val="16333B"/>
                </a:solidFill>
                <a:latin typeface="Arial"/>
                <a:ea typeface="Arial"/>
                <a:cs typeface="Arial"/>
              </a:rPr>
              <a:t>Backup: the later period has already been evaluated</a:t>
            </a:r>
          </a:p>
        </p:txBody>
      </p:sp>
      <p:sp>
        <p:nvSpPr>
          <p:cNvPr id="2" name="Backup for questions">
            <a:extLst xmlns:a="http://schemas.openxmlformats.org/drawingml/2006/main">
              <a:ext uri="{FF2B5EF4-FFF2-40B4-BE49-F238E27FC236}">
                <a16:creationId xmlns:a16="http://schemas.microsoft.com/office/drawing/2014/main" id="{A9B40773-67C9-4A9C-A64D-411F6B9156A4}"/>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96F75"/>
                </a:solidFill>
                <a:latin typeface="Arial"/>
                <a:ea typeface="Arial"/>
                <a:cs typeface="Arial"/>
              </a:defRPr>
            </a:defPPr>
          </a:lstStyle>
          <a:p xmlns:a="http://schemas.openxmlformats.org/drawingml/2006/main">
            <a:pPr>
              <a:defRPr sz="1275" b="0">
                <a:solidFill>
                  <a:srgbClr val="596F75"/>
                </a:solidFill>
                <a:latin typeface="Arial"/>
                <a:ea typeface="Arial"/>
                <a:cs typeface="Arial"/>
              </a:defRPr>
            </a:pPr>
            <a:r>
              <a:rPr sz="1275" b="0">
                <a:solidFill>
                  <a:srgbClr val="596F75"/>
                </a:solidFill>
                <a:latin typeface="Arial"/>
                <a:ea typeface="Arial"/>
                <a:cs typeface="Arial"/>
              </a:rPr>
              <a:t>Backup for questions</a:t>
            </a:r>
          </a:p>
        </p:txBody>
      </p:sp>
      <p:graphicFrame>
        <p:nvGraphicFramePr>
          <p:cNvPr id="3" name="">
            <a:extLst xmlns:a="http://schemas.openxmlformats.org/drawingml/2006/main">
              <a:ext uri="{FF2B5EF4-FFF2-40B4-BE49-F238E27FC236}">
                <a16:creationId xmlns:a16="http://schemas.microsoft.com/office/drawing/2014/main" id="{D4AD6CC5-E15E-4CB4-8917-884E3C63B9E3}"/>
              </a:ext>
            </a:extLst>
          </p:cNvPr>
          <p:cNvGraphicFramePr/>
          <p:nvPr/>
        </p:nvGraphicFramePr>
        <p:xfrm>
          <a:off xmlns:a="http://schemas.openxmlformats.org/drawingml/2006/main" x="628650" y="1771650"/>
          <a:ext xmlns:a="http://schemas.openxmlformats.org/drawingml/2006/main" cx="10934700" cy="2619375"/>
        </p:xfrm>
        <a:graphic xmlns:a="http://schemas.openxmlformats.org/drawingml/2006/main">
          <a:graphicData uri="http://schemas.openxmlformats.org/drawingml/2006/table">
            <a:tbl>
              <a:tblPr/>
              <a:tblGrid>
                <a:gridCol w="4667250"/>
                <a:gridCol w="3133725"/>
                <a:gridCol w="3133725"/>
              </a:tblGrid>
              <a:tr h="654844">
                <a:tc>
                  <a:txBody>
                    <a:bodyPr>
                      <a:noAutofit/>
                    </a:bodyPr>
                    <a:lstStyle/>
                    <a:p>
                      <a:r>
                        <a:rPr sz="2175" b="1">
                          <a:solidFill>
                            <a:srgbClr val="FFFFFF"/>
                          </a:solidFill>
                          <a:latin typeface="Arial"/>
                          <a:ea typeface="Arial"/>
                          <a:cs typeface="Arial"/>
                        </a:rPr>
                        <a:t>Later test metric</a:t>
                      </a:r>
                    </a:p>
                  </a:txBody>
                  <a:tcPr marL="133350" marR="133350" marT="114300" marB="114300" anchor="ctr">
                    <a:solidFill>
                      <a:srgbClr val="16333B"/>
                    </a:solidFill>
                  </a:tcPr>
                </a:tc>
                <a:tc>
                  <a:txBody>
                    <a:bodyPr>
                      <a:noAutofit/>
                    </a:bodyPr>
                    <a:lstStyle/>
                    <a:p>
                      <a:r>
                        <a:rPr sz="2175" b="1">
                          <a:solidFill>
                            <a:srgbClr val="FFFFFF"/>
                          </a:solidFill>
                          <a:latin typeface="Arial"/>
                          <a:ea typeface="Arial"/>
                          <a:cs typeface="Arial"/>
                        </a:rPr>
                        <a:t>Baseline</a:t>
                      </a:r>
                    </a:p>
                  </a:txBody>
                  <a:tcPr marL="133350" marR="133350" marT="114300" marB="114300" anchor="ctr">
                    <a:solidFill>
                      <a:srgbClr val="16333B"/>
                    </a:solidFill>
                  </a:tcPr>
                </a:tc>
                <a:tc>
                  <a:txBody>
                    <a:bodyPr>
                      <a:noAutofit/>
                    </a:bodyPr>
                    <a:lstStyle/>
                    <a:p>
                      <a:r>
                        <a:rPr sz="2175" b="1">
                          <a:solidFill>
                            <a:srgbClr val="FFFFFF"/>
                          </a:solidFill>
                          <a:latin typeface="Arial"/>
                          <a:ea typeface="Arial"/>
                          <a:cs typeface="Arial"/>
                        </a:rPr>
                        <a:t>Logistic regression</a:t>
                      </a:r>
                    </a:p>
                  </a:txBody>
                  <a:tcPr marL="133350" marR="133350" marT="114300" marB="114300" anchor="ctr">
                    <a:solidFill>
                      <a:srgbClr val="16333B"/>
                    </a:solidFill>
                  </a:tcPr>
                </a:tc>
              </a:tr>
              <a:tr h="654844">
                <a:tc>
                  <a:txBody>
                    <a:bodyPr>
                      <a:noAutofit/>
                    </a:bodyPr>
                    <a:lstStyle/>
                    <a:p>
                      <a:r>
                        <a:rPr sz="2175" b="0">
                          <a:solidFill>
                            <a:srgbClr val="16333B"/>
                          </a:solidFill>
                          <a:latin typeface="Arial"/>
                          <a:ea typeface="Arial"/>
                          <a:cs typeface="Arial"/>
                        </a:rPr>
                        <a:t>Log loss</a:t>
                      </a:r>
                    </a:p>
                  </a:txBody>
                  <a:tcPr marL="133350" marR="133350" marT="114300" marB="114300" anchor="ctr">
                    <a:solidFill>
                      <a:srgbClr val="FFFFFF"/>
                    </a:solidFill>
                  </a:tcPr>
                </a:tc>
                <a:tc>
                  <a:txBody>
                    <a:bodyPr>
                      <a:noAutofit/>
                    </a:bodyPr>
                    <a:lstStyle/>
                    <a:p>
                      <a:r>
                        <a:rPr sz="2175" b="0">
                          <a:solidFill>
                            <a:srgbClr val="16333B"/>
                          </a:solidFill>
                          <a:latin typeface="Arial"/>
                          <a:ea typeface="Arial"/>
                          <a:cs typeface="Arial"/>
                        </a:rPr>
                        <a:t>0.6328</a:t>
                      </a:r>
                    </a:p>
                  </a:txBody>
                  <a:tcPr marL="133350" marR="133350" marT="114300" marB="114300" anchor="ctr">
                    <a:solidFill>
                      <a:srgbClr val="FFFFFF"/>
                    </a:solidFill>
                  </a:tcPr>
                </a:tc>
                <a:tc>
                  <a:txBody>
                    <a:bodyPr>
                      <a:noAutofit/>
                    </a:bodyPr>
                    <a:lstStyle/>
                    <a:p>
                      <a:r>
                        <a:rPr sz="2175" b="0">
                          <a:solidFill>
                            <a:srgbClr val="16333B"/>
                          </a:solidFill>
                          <a:latin typeface="Arial"/>
                          <a:ea typeface="Arial"/>
                          <a:cs typeface="Arial"/>
                        </a:rPr>
                        <a:t>0.5968</a:t>
                      </a:r>
                    </a:p>
                  </a:txBody>
                  <a:tcPr marL="133350" marR="133350" marT="114300" marB="114300" anchor="ctr">
                    <a:solidFill>
                      <a:srgbClr val="FFFFFF"/>
                    </a:solidFill>
                  </a:tcPr>
                </a:tc>
              </a:tr>
              <a:tr h="654844">
                <a:tc>
                  <a:txBody>
                    <a:bodyPr>
                      <a:noAutofit/>
                    </a:bodyPr>
                    <a:lstStyle/>
                    <a:p>
                      <a:r>
                        <a:rPr sz="2175" b="0">
                          <a:solidFill>
                            <a:srgbClr val="16333B"/>
                          </a:solidFill>
                          <a:latin typeface="Arial"/>
                          <a:ea typeface="Arial"/>
                          <a:cs typeface="Arial"/>
                        </a:rPr>
                        <a:t>AUC</a:t>
                      </a:r>
                    </a:p>
                  </a:txBody>
                  <a:tcPr marL="133350" marR="133350" marT="114300" marB="114300" anchor="ctr">
                    <a:solidFill>
                      <a:srgbClr val="EAF0ED"/>
                    </a:solidFill>
                  </a:tcPr>
                </a:tc>
                <a:tc>
                  <a:txBody>
                    <a:bodyPr>
                      <a:noAutofit/>
                    </a:bodyPr>
                    <a:lstStyle/>
                    <a:p>
                      <a:r>
                        <a:rPr sz="2175" b="0">
                          <a:solidFill>
                            <a:srgbClr val="16333B"/>
                          </a:solidFill>
                          <a:latin typeface="Arial"/>
                          <a:ea typeface="Arial"/>
                          <a:cs typeface="Arial"/>
                        </a:rPr>
                        <a:t>0.5000</a:t>
                      </a:r>
                    </a:p>
                  </a:txBody>
                  <a:tcPr marL="133350" marR="133350" marT="114300" marB="114300" anchor="ctr">
                    <a:solidFill>
                      <a:srgbClr val="EAF0ED"/>
                    </a:solidFill>
                  </a:tcPr>
                </a:tc>
                <a:tc>
                  <a:txBody>
                    <a:bodyPr>
                      <a:noAutofit/>
                    </a:bodyPr>
                    <a:lstStyle/>
                    <a:p>
                      <a:r>
                        <a:rPr sz="2175" b="0">
                          <a:solidFill>
                            <a:srgbClr val="16333B"/>
                          </a:solidFill>
                          <a:latin typeface="Arial"/>
                          <a:ea typeface="Arial"/>
                          <a:cs typeface="Arial"/>
                        </a:rPr>
                        <a:t>0.6644</a:t>
                      </a:r>
                    </a:p>
                  </a:txBody>
                  <a:tcPr marL="133350" marR="133350" marT="114300" marB="114300" anchor="ctr">
                    <a:solidFill>
                      <a:srgbClr val="EAF0ED"/>
                    </a:solidFill>
                  </a:tcPr>
                </a:tc>
              </a:tr>
              <a:tr h="654844">
                <a:tc>
                  <a:txBody>
                    <a:bodyPr>
                      <a:noAutofit/>
                    </a:bodyPr>
                    <a:lstStyle/>
                    <a:p>
                      <a:r>
                        <a:rPr sz="2175" b="0">
                          <a:solidFill>
                            <a:srgbClr val="16333B"/>
                          </a:solidFill>
                          <a:latin typeface="Arial"/>
                          <a:ea typeface="Arial"/>
                          <a:cs typeface="Arial"/>
                        </a:rPr>
                        <a:t>Recall at 0.5</a:t>
                      </a:r>
                    </a:p>
                  </a:txBody>
                  <a:tcPr marL="133350" marR="133350" marT="114300" marB="114300" anchor="ctr">
                    <a:solidFill>
                      <a:srgbClr val="FFFFFF"/>
                    </a:solidFill>
                  </a:tcPr>
                </a:tc>
                <a:tc>
                  <a:txBody>
                    <a:bodyPr>
                      <a:noAutofit/>
                    </a:bodyPr>
                    <a:lstStyle/>
                    <a:p>
                      <a:r>
                        <a:rPr sz="2175" b="0">
                          <a:solidFill>
                            <a:srgbClr val="16333B"/>
                          </a:solidFill>
                          <a:latin typeface="Arial"/>
                          <a:ea typeface="Arial"/>
                          <a:cs typeface="Arial"/>
                        </a:rPr>
                        <a:t>0.00%</a:t>
                      </a:r>
                    </a:p>
                  </a:txBody>
                  <a:tcPr marL="133350" marR="133350" marT="114300" marB="114300" anchor="ctr">
                    <a:solidFill>
                      <a:srgbClr val="FFFFFF"/>
                    </a:solidFill>
                  </a:tcPr>
                </a:tc>
                <a:tc>
                  <a:txBody>
                    <a:bodyPr>
                      <a:noAutofit/>
                    </a:bodyPr>
                    <a:lstStyle/>
                    <a:p>
                      <a:r>
                        <a:rPr sz="2175" b="0">
                          <a:solidFill>
                            <a:srgbClr val="16333B"/>
                          </a:solidFill>
                          <a:latin typeface="Arial"/>
                          <a:ea typeface="Arial"/>
                          <a:cs typeface="Arial"/>
                        </a:rPr>
                        <a:t>6.62%</a:t>
                      </a:r>
                    </a:p>
                  </a:txBody>
                  <a:tcPr marL="133350" marR="133350" marT="114300" marB="114300" anchor="ctr">
                    <a:solidFill>
                      <a:srgbClr val="FFFFFF"/>
                    </a:solidFill>
                  </a:tcPr>
                </a:tc>
              </a:tr>
            </a:tbl>
          </a:graphicData>
        </a:graphic>
      </p:graphicFrame>
      <p:sp>
        <p:nvSpPr>
          <p:cNvPr id="4" name="22,541 rows using the unchanged training-o">
            <a:extLst xmlns:a="http://schemas.openxmlformats.org/drawingml/2006/main">
              <a:ext uri="{FF2B5EF4-FFF2-40B4-BE49-F238E27FC236}">
                <a16:creationId xmlns:a16="http://schemas.microsoft.com/office/drawing/2014/main" id="{F4410AA6-FF2F-427A-97B4-27269D4C7F90}"/>
              </a:ext>
            </a:extLst>
          </p:cNvPr>
          <p:cNvSpPr>
            <a:spLocks xmlns:a="http://schemas.openxmlformats.org/drawingml/2006/main" noGrp="1"/>
          </p:cNvSpPr>
          <p:nvPr/>
        </p:nvSpPr>
        <p:spPr>
          <a:xfrm xmlns:a="http://schemas.openxmlformats.org/drawingml/2006/main">
            <a:off x="628650" y="4772025"/>
            <a:ext cx="10934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6A73"/>
                </a:solidFill>
                <a:latin typeface="Arial"/>
                <a:ea typeface="Arial"/>
                <a:cs typeface="Arial"/>
              </a:defRPr>
            </a:defPPr>
          </a:lstStyle>
          <a:p xmlns:a="http://schemas.openxmlformats.org/drawingml/2006/main">
            <a:pPr>
              <a:defRPr sz="2325" b="1">
                <a:solidFill>
                  <a:srgbClr val="246A73"/>
                </a:solidFill>
                <a:latin typeface="Arial"/>
                <a:ea typeface="Arial"/>
                <a:cs typeface="Arial"/>
              </a:defRPr>
            </a:pPr>
            <a:r>
              <a:rPr sz="2325" b="1">
                <a:solidFill>
                  <a:srgbClr val="246A73"/>
                </a:solidFill>
                <a:latin typeface="Arial"/>
                <a:ea typeface="Arial"/>
                <a:cs typeface="Arial"/>
              </a:rPr>
              <a:t>22,541 rows using the unchanged training-only model</a:t>
            </a:r>
          </a:p>
        </p:txBody>
      </p:sp>
      <p:sp>
        <p:nvSpPr>
          <p:cNvPr id="5" name="These are observed results. Post-test tuni">
            <a:extLst xmlns:a="http://schemas.openxmlformats.org/drawingml/2006/main">
              <a:ext uri="{FF2B5EF4-FFF2-40B4-BE49-F238E27FC236}">
                <a16:creationId xmlns:a16="http://schemas.microsoft.com/office/drawing/2014/main" id="{50AE7FDC-364D-45A0-8966-1CBD0B5D392F}"/>
              </a:ext>
            </a:extLst>
          </p:cNvPr>
          <p:cNvSpPr>
            <a:spLocks xmlns:a="http://schemas.openxmlformats.org/drawingml/2006/main" noGrp="1"/>
          </p:cNvSpPr>
          <p:nvPr/>
        </p:nvSpPr>
        <p:spPr>
          <a:xfrm xmlns:a="http://schemas.openxmlformats.org/drawingml/2006/main">
            <a:off x="628650" y="565785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F75"/>
                </a:solidFill>
                <a:latin typeface="Arial"/>
                <a:ea typeface="Arial"/>
                <a:cs typeface="Arial"/>
              </a:defRPr>
            </a:defPPr>
          </a:lstStyle>
          <a:p xmlns:a="http://schemas.openxmlformats.org/drawingml/2006/main">
            <a:pPr>
              <a:defRPr sz="1500" b="0">
                <a:solidFill>
                  <a:srgbClr val="596F75"/>
                </a:solidFill>
                <a:latin typeface="Arial"/>
                <a:ea typeface="Arial"/>
                <a:cs typeface="Arial"/>
              </a:defRPr>
            </a:pPr>
            <a:r>
              <a:rPr sz="1500" b="0">
                <a:solidFill>
                  <a:srgbClr val="596F75"/>
                </a:solidFill>
                <a:latin typeface="Arial"/>
                <a:ea typeface="Arial"/>
                <a:cs typeface="Arial"/>
              </a:rPr>
              <a:t>These are observed results. Post-test tuning needs genuinely new evaluation data.</a:t>
            </a:r>
          </a:p>
        </p:txBody>
      </p:sp>
    </p:spTree>
    <p:extLst>
      <p:ext uri="{BB962C8B-B14F-4D97-AF65-F5344CB8AC3E}">
        <p14:creationId xmlns:p14="http://schemas.microsoft.com/office/powerpoint/2010/main" val="1205242406"/>
      </p:ext>
    </p:extLst>
  </p:cSld>
</p:sld>
</file>

<file path=ppt/slides/slide14.xml><?xml version="1.0" encoding="utf-8"?>
<p:sld xmlns:p="http://schemas.openxmlformats.org/presentationml/2006/main" show="0">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Backup: stability and dependence">
            <a:extLst xmlns:a="http://schemas.openxmlformats.org/drawingml/2006/main">
              <a:ext uri="{FF2B5EF4-FFF2-40B4-BE49-F238E27FC236}">
                <a16:creationId xmlns:a16="http://schemas.microsoft.com/office/drawing/2014/main" id="{8870475D-BC3D-4B1F-8DDB-5FE2A2BE38FE}"/>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33B"/>
                </a:solidFill>
                <a:latin typeface="Arial"/>
                <a:ea typeface="Arial"/>
                <a:cs typeface="Arial"/>
              </a:defRPr>
            </a:defPPr>
          </a:lstStyle>
          <a:p xmlns:a="http://schemas.openxmlformats.org/drawingml/2006/main">
            <a:pPr>
              <a:defRPr sz="3300" b="1">
                <a:solidFill>
                  <a:srgbClr val="16333B"/>
                </a:solidFill>
                <a:latin typeface="Arial"/>
                <a:ea typeface="Arial"/>
                <a:cs typeface="Arial"/>
              </a:defRPr>
            </a:pPr>
            <a:r>
              <a:rPr sz="3300" b="1">
                <a:solidFill>
                  <a:srgbClr val="16333B"/>
                </a:solidFill>
                <a:latin typeface="Arial"/>
                <a:ea typeface="Arial"/>
                <a:cs typeface="Arial"/>
              </a:rPr>
              <a:t>Backup: stability and dependence</a:t>
            </a:r>
          </a:p>
        </p:txBody>
      </p:sp>
      <p:sp>
        <p:nvSpPr>
          <p:cNvPr id="2" name="Backup for questions">
            <a:extLst xmlns:a="http://schemas.openxmlformats.org/drawingml/2006/main">
              <a:ext uri="{FF2B5EF4-FFF2-40B4-BE49-F238E27FC236}">
                <a16:creationId xmlns:a16="http://schemas.microsoft.com/office/drawing/2014/main" id="{C0EB8E25-A891-47B7-BCA1-1B3CBF60938A}"/>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96F75"/>
                </a:solidFill>
                <a:latin typeface="Arial"/>
                <a:ea typeface="Arial"/>
                <a:cs typeface="Arial"/>
              </a:defRPr>
            </a:defPPr>
          </a:lstStyle>
          <a:p xmlns:a="http://schemas.openxmlformats.org/drawingml/2006/main">
            <a:pPr>
              <a:defRPr sz="1275" b="0">
                <a:solidFill>
                  <a:srgbClr val="596F75"/>
                </a:solidFill>
                <a:latin typeface="Arial"/>
                <a:ea typeface="Arial"/>
                <a:cs typeface="Arial"/>
              </a:defRPr>
            </a:pPr>
            <a:r>
              <a:rPr sz="1275" b="0">
                <a:solidFill>
                  <a:srgbClr val="596F75"/>
                </a:solidFill>
                <a:latin typeface="Arial"/>
                <a:ea typeface="Arial"/>
                <a:cs typeface="Arial"/>
              </a:rPr>
              <a:t>Backup for questions</a:t>
            </a:r>
          </a:p>
        </p:txBody>
      </p:sp>
      <p:sp>
        <p:nvSpPr>
          <p:cNvPr id="3" name="27 booking weeks, 400 paired resamples">
            <a:extLst xmlns:a="http://schemas.openxmlformats.org/drawingml/2006/main">
              <a:ext uri="{FF2B5EF4-FFF2-40B4-BE49-F238E27FC236}">
                <a16:creationId xmlns:a16="http://schemas.microsoft.com/office/drawing/2014/main" id="{E1DE2C9A-6331-4E74-AC53-B25F0AF61F03}"/>
              </a:ext>
            </a:extLst>
          </p:cNvPr>
          <p:cNvSpPr>
            <a:spLocks xmlns:a="http://schemas.openxmlformats.org/drawingml/2006/main" noGrp="1"/>
          </p:cNvSpPr>
          <p:nvPr/>
        </p:nvSpPr>
        <p:spPr>
          <a:xfrm xmlns:a="http://schemas.openxmlformats.org/drawingml/2006/main">
            <a:off x="628650" y="1790700"/>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46A73"/>
                </a:solidFill>
                <a:latin typeface="Arial"/>
                <a:ea typeface="Arial"/>
                <a:cs typeface="Arial"/>
              </a:defRPr>
            </a:defPPr>
          </a:lstStyle>
          <a:p xmlns:a="http://schemas.openxmlformats.org/drawingml/2006/main">
            <a:pPr>
              <a:defRPr sz="2700" b="1">
                <a:solidFill>
                  <a:srgbClr val="246A73"/>
                </a:solidFill>
                <a:latin typeface="Arial"/>
                <a:ea typeface="Arial"/>
                <a:cs typeface="Arial"/>
              </a:defRPr>
            </a:pPr>
            <a:r>
              <a:rPr sz="2700" b="1">
                <a:solidFill>
                  <a:srgbClr val="246A73"/>
                </a:solidFill>
                <a:latin typeface="Arial"/>
                <a:ea typeface="Arial"/>
                <a:cs typeface="Arial"/>
              </a:rPr>
              <a:t>27 booking weeks, 400 paired resamples</a:t>
            </a:r>
          </a:p>
        </p:txBody>
      </p:sp>
      <p:sp>
        <p:nvSpPr>
          <p:cNvPr id="4" name="Validation AUC central 95% range: 0.6376 t">
            <a:extLst xmlns:a="http://schemas.openxmlformats.org/drawingml/2006/main">
              <a:ext uri="{FF2B5EF4-FFF2-40B4-BE49-F238E27FC236}">
                <a16:creationId xmlns:a16="http://schemas.microsoft.com/office/drawing/2014/main" id="{A49F8717-722F-4A25-91DE-0783E6F4E05B}"/>
              </a:ext>
            </a:extLst>
          </p:cNvPr>
          <p:cNvSpPr>
            <a:spLocks xmlns:a="http://schemas.openxmlformats.org/drawingml/2006/main" noGrp="1"/>
          </p:cNvSpPr>
          <p:nvPr/>
        </p:nvSpPr>
        <p:spPr>
          <a:xfrm xmlns:a="http://schemas.openxmlformats.org/drawingml/2006/main">
            <a:off x="628650" y="2705100"/>
            <a:ext cx="10934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6333B"/>
                </a:solidFill>
                <a:latin typeface="Arial"/>
                <a:ea typeface="Arial"/>
                <a:cs typeface="Arial"/>
              </a:defRPr>
            </a:defPPr>
          </a:lstStyle>
          <a:p xmlns:a="http://schemas.openxmlformats.org/drawingml/2006/main">
            <a:pPr>
              <a:defRPr sz="2325" b="0">
                <a:solidFill>
                  <a:srgbClr val="16333B"/>
                </a:solidFill>
                <a:latin typeface="Arial"/>
                <a:ea typeface="Arial"/>
                <a:cs typeface="Arial"/>
              </a:defRPr>
            </a:pPr>
            <a:r>
              <a:rPr sz="2325" b="0">
                <a:solidFill>
                  <a:srgbClr val="16333B"/>
                </a:solidFill>
                <a:latin typeface="Arial"/>
                <a:ea typeface="Arial"/>
                <a:cs typeface="Arial"/>
              </a:rPr>
              <a:t>Validation AUC central 95% range: 0.6376 to 0.6822</a:t>
            </a:r>
          </a:p>
        </p:txBody>
      </p:sp>
      <p:sp>
        <p:nvSpPr>
          <p:cNvPr id="5" name="The fitted model stays fixed during resamp">
            <a:extLst xmlns:a="http://schemas.openxmlformats.org/drawingml/2006/main">
              <a:ext uri="{FF2B5EF4-FFF2-40B4-BE49-F238E27FC236}">
                <a16:creationId xmlns:a16="http://schemas.microsoft.com/office/drawing/2014/main" id="{7067986C-788B-48D0-9883-EF77366B8259}"/>
              </a:ext>
            </a:extLst>
          </p:cNvPr>
          <p:cNvSpPr>
            <a:spLocks xmlns:a="http://schemas.openxmlformats.org/drawingml/2006/main" noGrp="1"/>
          </p:cNvSpPr>
          <p:nvPr/>
        </p:nvSpPr>
        <p:spPr>
          <a:xfrm xmlns:a="http://schemas.openxmlformats.org/drawingml/2006/main">
            <a:off x="628650" y="3810000"/>
            <a:ext cx="10934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6333B"/>
                </a:solidFill>
                <a:latin typeface="Arial"/>
                <a:ea typeface="Arial"/>
                <a:cs typeface="Arial"/>
              </a:defRPr>
            </a:defPPr>
          </a:lstStyle>
          <a:p xmlns:a="http://schemas.openxmlformats.org/drawingml/2006/main">
            <a:pPr>
              <a:defRPr sz="2325" b="1">
                <a:solidFill>
                  <a:srgbClr val="16333B"/>
                </a:solidFill>
                <a:latin typeface="Arial"/>
                <a:ea typeface="Arial"/>
                <a:cs typeface="Arial"/>
              </a:defRPr>
            </a:pPr>
            <a:r>
              <a:rPr sz="2325" b="1">
                <a:solidFill>
                  <a:srgbClr val="16333B"/>
                </a:solidFill>
                <a:latin typeface="Arial"/>
                <a:ea typeface="Arial"/>
                <a:cs typeface="Arial"/>
              </a:rPr>
              <a:t>The fitted model stays fixed during resampling</a:t>
            </a:r>
          </a:p>
        </p:txBody>
      </p:sp>
      <p:sp>
        <p:nvSpPr>
          <p:cNvPr id="6" name="Conditional stability only: training uncer">
            <a:extLst xmlns:a="http://schemas.openxmlformats.org/drawingml/2006/main">
              <a:ext uri="{FF2B5EF4-FFF2-40B4-BE49-F238E27FC236}">
                <a16:creationId xmlns:a16="http://schemas.microsoft.com/office/drawing/2014/main" id="{7EB3991D-1C6B-4AAC-B0BE-7A806DDB3C37}"/>
              </a:ext>
            </a:extLst>
          </p:cNvPr>
          <p:cNvSpPr>
            <a:spLocks xmlns:a="http://schemas.openxmlformats.org/drawingml/2006/main" noGrp="1"/>
          </p:cNvSpPr>
          <p:nvPr/>
        </p:nvSpPr>
        <p:spPr>
          <a:xfrm xmlns:a="http://schemas.openxmlformats.org/drawingml/2006/main">
            <a:off x="628650" y="4829175"/>
            <a:ext cx="109347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33B"/>
                </a:solidFill>
                <a:latin typeface="Arial"/>
                <a:ea typeface="Arial"/>
                <a:cs typeface="Arial"/>
              </a:defRPr>
            </a:defPPr>
          </a:lstStyle>
          <a:p xmlns:a="http://schemas.openxmlformats.org/drawingml/2006/main">
            <a:pPr>
              <a:defRPr sz="2175" b="0">
                <a:solidFill>
                  <a:srgbClr val="16333B"/>
                </a:solidFill>
                <a:latin typeface="Arial"/>
                <a:ea typeface="Arial"/>
                <a:cs typeface="Arial"/>
              </a:defRPr>
            </a:pPr>
            <a:r>
              <a:rPr sz="2175" b="0">
                <a:solidFill>
                  <a:srgbClr val="16333B"/>
                </a:solidFill>
                <a:latin typeface="Arial"/>
                <a:ea typeface="Arial"/>
                <a:cs typeface="Arial"/>
              </a:rPr>
              <a:t>Conditional stability only: training uncertainty, unknown guest</a:t>
            </a:r>
          </a:p>
          <a:p xmlns:a="http://schemas.openxmlformats.org/drawingml/2006/main">
            <a:pPr>
              <a:defRPr sz="2175" b="0">
                <a:solidFill>
                  <a:srgbClr val="16333B"/>
                </a:solidFill>
                <a:latin typeface="Arial"/>
                <a:ea typeface="Arial"/>
                <a:cs typeface="Arial"/>
              </a:defRPr>
            </a:pPr>
            <a:r>
              <a:rPr sz="2175" b="0">
                <a:solidFill>
                  <a:srgbClr val="16333B"/>
                </a:solidFill>
                <a:latin typeface="Arial"/>
                <a:ea typeface="Arial"/>
                <a:cs typeface="Arial"/>
              </a:rPr>
              <a:t>links, snapshot timing and selection bias remain.</a:t>
            </a:r>
          </a:p>
        </p:txBody>
      </p:sp>
    </p:spTree>
    <p:extLst>
      <p:ext uri="{BB962C8B-B14F-4D97-AF65-F5344CB8AC3E}">
        <p14:creationId xmlns:p14="http://schemas.microsoft.com/office/powerpoint/2010/main" val="885237900"/>
      </p:ext>
    </p:extLst>
  </p:cSld>
</p:sld>
</file>

<file path=ppt/slides/slide15.xml><?xml version="1.0" encoding="utf-8"?>
<p:sld xmlns:p="http://schemas.openxmlformats.org/presentationml/2006/main" show="0">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Backup: team participation and sources">
            <a:extLst xmlns:a="http://schemas.openxmlformats.org/drawingml/2006/main">
              <a:ext uri="{FF2B5EF4-FFF2-40B4-BE49-F238E27FC236}">
                <a16:creationId xmlns:a16="http://schemas.microsoft.com/office/drawing/2014/main" id="{12C465EE-499C-4585-A453-605AA940BC86}"/>
              </a:ext>
            </a:extLst>
          </p:cNvPr>
          <p:cNvSpPr>
            <a:spLocks xmlns:a="http://schemas.openxmlformats.org/drawingml/2006/main" noGrp="1"/>
          </p:cNvSpPr>
          <p:nvPr/>
        </p:nvSpPr>
        <p:spPr>
          <a:xfrm xmlns:a="http://schemas.openxmlformats.org/drawingml/2006/main">
            <a:off x="628650" y="5143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33B"/>
                </a:solidFill>
                <a:latin typeface="Arial"/>
                <a:ea typeface="Arial"/>
                <a:cs typeface="Arial"/>
              </a:defRPr>
            </a:defPPr>
          </a:lstStyle>
          <a:p xmlns:a="http://schemas.openxmlformats.org/drawingml/2006/main">
            <a:pPr>
              <a:defRPr sz="3300" b="1">
                <a:solidFill>
                  <a:srgbClr val="16333B"/>
                </a:solidFill>
                <a:latin typeface="Arial"/>
                <a:ea typeface="Arial"/>
                <a:cs typeface="Arial"/>
              </a:defRPr>
            </a:pPr>
            <a:r>
              <a:rPr sz="3300" b="1">
                <a:solidFill>
                  <a:srgbClr val="16333B"/>
                </a:solidFill>
                <a:latin typeface="Arial"/>
                <a:ea typeface="Arial"/>
                <a:cs typeface="Arial"/>
              </a:rPr>
              <a:t>Backup: team participation and sources</a:t>
            </a:r>
          </a:p>
        </p:txBody>
      </p:sp>
      <p:sp>
        <p:nvSpPr>
          <p:cNvPr id="2" name="Backup for questions">
            <a:extLst xmlns:a="http://schemas.openxmlformats.org/drawingml/2006/main">
              <a:ext uri="{FF2B5EF4-FFF2-40B4-BE49-F238E27FC236}">
                <a16:creationId xmlns:a16="http://schemas.microsoft.com/office/drawing/2014/main" id="{28BAD267-85D3-4356-BA25-AFDF7B58C5EF}"/>
              </a:ext>
            </a:extLst>
          </p:cNvPr>
          <p:cNvSpPr>
            <a:spLocks xmlns:a="http://schemas.openxmlformats.org/drawingml/2006/main" noGrp="1"/>
          </p:cNvSpPr>
          <p:nvPr/>
        </p:nvSpPr>
        <p:spPr>
          <a:xfrm xmlns:a="http://schemas.openxmlformats.org/drawingml/2006/main">
            <a:off x="628650" y="63531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96F75"/>
                </a:solidFill>
                <a:latin typeface="Arial"/>
                <a:ea typeface="Arial"/>
                <a:cs typeface="Arial"/>
              </a:defRPr>
            </a:defPPr>
          </a:lstStyle>
          <a:p xmlns:a="http://schemas.openxmlformats.org/drawingml/2006/main">
            <a:pPr>
              <a:defRPr sz="1275" b="0">
                <a:solidFill>
                  <a:srgbClr val="596F75"/>
                </a:solidFill>
                <a:latin typeface="Arial"/>
                <a:ea typeface="Arial"/>
                <a:cs typeface="Arial"/>
              </a:defRPr>
            </a:pPr>
            <a:r>
              <a:rPr sz="1275" b="0">
                <a:solidFill>
                  <a:srgbClr val="596F75"/>
                </a:solidFill>
                <a:latin typeface="Arial"/>
                <a:ea typeface="Arial"/>
                <a:cs typeface="Arial"/>
              </a:rPr>
              <a:t>Backup for questions</a:t>
            </a:r>
          </a:p>
        </p:txBody>
      </p:sp>
      <p:graphicFrame>
        <p:nvGraphicFramePr>
          <p:cNvPr id="3" name="">
            <a:extLst xmlns:a="http://schemas.openxmlformats.org/drawingml/2006/main">
              <a:ext uri="{FF2B5EF4-FFF2-40B4-BE49-F238E27FC236}">
                <a16:creationId xmlns:a16="http://schemas.microsoft.com/office/drawing/2014/main" id="{1F5A66E5-A30B-458C-9E66-53A9C426231A}"/>
              </a:ext>
            </a:extLst>
          </p:cNvPr>
          <p:cNvGraphicFramePr/>
          <p:nvPr/>
        </p:nvGraphicFramePr>
        <p:xfrm>
          <a:off xmlns:a="http://schemas.openxmlformats.org/drawingml/2006/main" x="628650" y="1762125"/>
          <a:ext xmlns:a="http://schemas.openxmlformats.org/drawingml/2006/main" cx="10934700" cy="2105025"/>
        </p:xfrm>
        <a:graphic xmlns:a="http://schemas.openxmlformats.org/drawingml/2006/main">
          <a:graphicData uri="http://schemas.openxmlformats.org/drawingml/2006/table">
            <a:tbl>
              <a:tblPr/>
              <a:tblGrid>
                <a:gridCol w="5286375"/>
                <a:gridCol w="5648325"/>
              </a:tblGrid>
              <a:tr h="701675">
                <a:tc>
                  <a:txBody>
                    <a:bodyPr>
                      <a:noAutofit/>
                    </a:bodyPr>
                    <a:lstStyle/>
                    <a:p>
                      <a:r>
                        <a:rPr sz="2025" b="1">
                          <a:solidFill>
                            <a:srgbClr val="FFFFFF"/>
                          </a:solidFill>
                          <a:latin typeface="Arial"/>
                          <a:ea typeface="Arial"/>
                          <a:cs typeface="Arial"/>
                        </a:rPr>
                        <a:t>Member and emphasis</a:t>
                      </a:r>
                    </a:p>
                  </a:txBody>
                  <a:tcPr marL="133350" marR="133350" marT="114300" marB="114300" anchor="ctr">
                    <a:solidFill>
                      <a:srgbClr val="16333B"/>
                    </a:solidFill>
                  </a:tcPr>
                </a:tc>
                <a:tc>
                  <a:txBody>
                    <a:bodyPr>
                      <a:noAutofit/>
                    </a:bodyPr>
                    <a:lstStyle/>
                    <a:p>
                      <a:r>
                        <a:rPr sz="2025" b="1">
                          <a:solidFill>
                            <a:srgbClr val="FFFFFF"/>
                          </a:solidFill>
                          <a:latin typeface="Arial"/>
                          <a:ea typeface="Arial"/>
                          <a:cs typeface="Arial"/>
                        </a:rPr>
                        <a:t>Participation throughout the project</a:t>
                      </a:r>
                    </a:p>
                  </a:txBody>
                  <a:tcPr marL="133350" marR="133350" marT="114300" marB="114300" anchor="ctr">
                    <a:solidFill>
                      <a:srgbClr val="16333B"/>
                    </a:solidFill>
                  </a:tcPr>
                </a:tc>
              </a:tr>
              <a:tr h="701675">
                <a:tc>
                  <a:txBody>
                    <a:bodyPr>
                      <a:noAutofit/>
                    </a:bodyPr>
                    <a:lstStyle/>
                    <a:p>
                      <a:r>
                        <a:rPr sz="2025" b="0">
                          <a:solidFill>
                            <a:srgbClr val="16333B"/>
                          </a:solidFill>
                          <a:latin typeface="Arial"/>
                          <a:ea typeface="Arial"/>
                          <a:cs typeface="Arial"/>
                        </a:rPr>
                        <a:t>Zhe Wang: more emphasis on code</a:t>
                      </a:r>
                    </a:p>
                  </a:txBody>
                  <a:tcPr marL="133350" marR="133350" marT="114300" marB="114300" anchor="ctr">
                    <a:solidFill>
                      <a:srgbClr val="FFFFFF"/>
                    </a:solidFill>
                  </a:tcPr>
                </a:tc>
                <a:tc>
                  <a:txBody>
                    <a:bodyPr>
                      <a:noAutofit/>
                    </a:bodyPr>
                    <a:lstStyle/>
                    <a:p>
                      <a:r>
                        <a:rPr sz="2025" b="0">
                          <a:solidFill>
                            <a:srgbClr val="16333B"/>
                          </a:solidFill>
                          <a:latin typeface="Arial"/>
                          <a:ea typeface="Arial"/>
                          <a:cs typeface="Arial"/>
                        </a:rPr>
                        <a:t>Both participate in every analysis stage</a:t>
                      </a:r>
                    </a:p>
                  </a:txBody>
                  <a:tcPr marL="133350" marR="133350" marT="114300" marB="114300" anchor="ctr">
                    <a:solidFill>
                      <a:srgbClr val="FFFFFF"/>
                    </a:solidFill>
                  </a:tcPr>
                </a:tc>
              </a:tr>
              <a:tr h="701675">
                <a:tc>
                  <a:txBody>
                    <a:bodyPr>
                      <a:noAutofit/>
                    </a:bodyPr>
                    <a:lstStyle/>
                    <a:p>
                      <a:r>
                        <a:rPr sz="2025" b="0">
                          <a:solidFill>
                            <a:srgbClr val="16333B"/>
                          </a:solidFill>
                          <a:latin typeface="Arial"/>
                          <a:ea typeface="Arial"/>
                          <a:cs typeface="Arial"/>
                        </a:rPr>
                        <a:t>Zhengxuan Du: more emphasis on slides</a:t>
                      </a:r>
                    </a:p>
                  </a:txBody>
                  <a:tcPr marL="133350" marR="133350" marT="114300" marB="114300" anchor="ctr">
                    <a:solidFill>
                      <a:srgbClr val="EAF0ED"/>
                    </a:solidFill>
                  </a:tcPr>
                </a:tc>
                <a:tc>
                  <a:txBody>
                    <a:bodyPr>
                      <a:noAutofit/>
                    </a:bodyPr>
                    <a:lstStyle/>
                    <a:p>
                      <a:r>
                        <a:rPr sz="2025" b="0">
                          <a:solidFill>
                            <a:srgbClr val="16333B"/>
                          </a:solidFill>
                          <a:latin typeface="Arial"/>
                          <a:ea typeface="Arial"/>
                          <a:cs typeface="Arial"/>
                        </a:rPr>
                        <a:t>Both prepare the report and presentation</a:t>
                      </a:r>
                    </a:p>
                  </a:txBody>
                  <a:tcPr marL="133350" marR="133350" marT="114300" marB="114300" anchor="ctr">
                    <a:solidFill>
                      <a:srgbClr val="EAF0ED"/>
                    </a:solidFill>
                  </a:tcPr>
                </a:tc>
              </a:tr>
            </a:tbl>
          </a:graphicData>
        </a:graphic>
      </p:graphicFrame>
      <p:sp>
        <p:nvSpPr>
          <p:cNvPr id="4" name="Sources: Antonio et al. (2019), Data in Br">
            <a:extLst xmlns:a="http://schemas.openxmlformats.org/drawingml/2006/main">
              <a:ext uri="{FF2B5EF4-FFF2-40B4-BE49-F238E27FC236}">
                <a16:creationId xmlns:a16="http://schemas.microsoft.com/office/drawing/2014/main" id="{42DD4613-69C1-4418-80ED-7FA4394A2F7D}"/>
              </a:ext>
            </a:extLst>
          </p:cNvPr>
          <p:cNvSpPr>
            <a:spLocks xmlns:a="http://schemas.openxmlformats.org/drawingml/2006/main" noGrp="1"/>
          </p:cNvSpPr>
          <p:nvPr/>
        </p:nvSpPr>
        <p:spPr>
          <a:xfrm xmlns:a="http://schemas.openxmlformats.org/drawingml/2006/main">
            <a:off x="628650" y="4343400"/>
            <a:ext cx="109347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6333B"/>
                </a:solidFill>
                <a:latin typeface="Arial"/>
                <a:ea typeface="Arial"/>
                <a:cs typeface="Arial"/>
              </a:defRPr>
            </a:defPPr>
          </a:lstStyle>
          <a:p xmlns:a="http://schemas.openxmlformats.org/drawingml/2006/main">
            <a:pPr>
              <a:defRPr sz="1950" b="0">
                <a:solidFill>
                  <a:srgbClr val="16333B"/>
                </a:solidFill>
                <a:latin typeface="Arial"/>
                <a:ea typeface="Arial"/>
                <a:cs typeface="Arial"/>
              </a:defRPr>
            </a:pPr>
            <a:r>
              <a:rPr sz="1950" b="0">
                <a:solidFill>
                  <a:srgbClr val="16333B"/>
                </a:solidFill>
                <a:latin typeface="Arial"/>
                <a:ea typeface="Arial"/>
                <a:cs typeface="Arial"/>
              </a:rPr>
              <a:t>Sources: Antonio et al. (2019), Data in Brief 22, 41-49</a:t>
            </a:r>
          </a:p>
          <a:p xmlns:a="http://schemas.openxmlformats.org/drawingml/2006/main">
            <a:pPr>
              <a:defRPr sz="1950" b="0">
                <a:solidFill>
                  <a:srgbClr val="16333B"/>
                </a:solidFill>
                <a:latin typeface="Arial"/>
                <a:ea typeface="Arial"/>
                <a:cs typeface="Arial"/>
              </a:defRPr>
            </a:pPr>
            <a:r>
              <a:rPr sz="1950" b="0">
                <a:solidFill>
                  <a:srgbClr val="16333B"/>
                </a:solidFill>
                <a:latin typeface="Arial"/>
                <a:ea typeface="Arial"/>
                <a:cs typeface="Arial"/>
              </a:rPr>
              <a:t>TidyTuesday Hotels, February 11, 2020</a:t>
            </a:r>
          </a:p>
        </p:txBody>
      </p:sp>
      <p:sp>
        <p:nvSpPr>
          <p:cNvPr id="5" name="Both members understand and explain the co">
            <a:extLst xmlns:a="http://schemas.openxmlformats.org/drawingml/2006/main">
              <a:ext uri="{FF2B5EF4-FFF2-40B4-BE49-F238E27FC236}">
                <a16:creationId xmlns:a16="http://schemas.microsoft.com/office/drawing/2014/main" id="{30C8DD28-DBED-4D80-8809-03C2751AA538}"/>
              </a:ext>
            </a:extLst>
          </p:cNvPr>
          <p:cNvSpPr>
            <a:spLocks xmlns:a="http://schemas.openxmlformats.org/drawingml/2006/main" noGrp="1"/>
          </p:cNvSpPr>
          <p:nvPr/>
        </p:nvSpPr>
        <p:spPr>
          <a:xfrm xmlns:a="http://schemas.openxmlformats.org/drawingml/2006/main">
            <a:off x="628650" y="5648325"/>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F75"/>
                </a:solidFill>
                <a:latin typeface="Arial"/>
                <a:ea typeface="Arial"/>
                <a:cs typeface="Arial"/>
              </a:defRPr>
            </a:defPPr>
          </a:lstStyle>
          <a:p xmlns:a="http://schemas.openxmlformats.org/drawingml/2006/main">
            <a:pPr>
              <a:defRPr sz="1500" b="0">
                <a:solidFill>
                  <a:srgbClr val="596F75"/>
                </a:solidFill>
                <a:latin typeface="Arial"/>
                <a:ea typeface="Arial"/>
                <a:cs typeface="Arial"/>
              </a:defRPr>
            </a:pPr>
            <a:r>
              <a:rPr sz="1500" b="0">
                <a:solidFill>
                  <a:srgbClr val="596F75"/>
                </a:solidFill>
                <a:latin typeface="Arial"/>
                <a:ea typeface="Arial"/>
                <a:cs typeface="Arial"/>
              </a:rPr>
              <a:t>Both members understand and explain the complete workflow.</a:t>
            </a:r>
          </a:p>
        </p:txBody>
      </p:sp>
    </p:spTree>
    <p:extLst>
      <p:ext uri="{BB962C8B-B14F-4D97-AF65-F5344CB8AC3E}">
        <p14:creationId xmlns:p14="http://schemas.microsoft.com/office/powerpoint/2010/main" val="10291163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2026-10-09T02:08:57.5830000Z</dcterms:created>
  <dcterms:modified xsi:type="dcterms:W3CDTF">2026-10-09T02:08:57.5830000Z</dcterms:modified>
</coreProperties>
</file>